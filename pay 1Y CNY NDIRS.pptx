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09" r:id="rId8"/>
    <p:sldMasterId id="2147483722" r:id="rId9"/>
    <p:sldMasterId id="2147483723" r:id="rId10"/>
    <p:sldMasterId id="2147483724" r:id="rId11"/>
    <p:sldMasterId id="2147483725" r:id="rId12"/>
  </p:sldMasterIdLst>
  <p:notesMasterIdLst>
    <p:notesMasterId r:id="rId14"/>
  </p:notesMasterIdLst>
  <p:handoutMasterIdLst>
    <p:handoutMasterId r:id="rId15"/>
  </p:handoutMasterIdLst>
  <p:sldIdLst>
    <p:sldId id="3949" r:id="rId13"/>
  </p:sldIdLst>
  <p:sldSz cx="9144000" cy="6858000" type="screen4x3"/>
  <p:notesSz cx="6797675" cy="992632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42AA3BAE-0B5A-4CF3-9EE5-B8ACC2ADE216}">
          <p14:sldIdLst>
            <p14:sldId id="3949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陳柏龍" initials="陳柏龍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11111"/>
    <a:srgbClr val="CC00CC"/>
    <a:srgbClr val="0000FF"/>
    <a:srgbClr val="FF3300"/>
    <a:srgbClr val="00FF00"/>
    <a:srgbClr val="3333FF"/>
    <a:srgbClr val="800000"/>
    <a:srgbClr val="4D4D4D"/>
    <a:srgbClr val="47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52" autoAdjust="0"/>
    <p:restoredTop sz="96000" autoAdjust="0"/>
  </p:normalViewPr>
  <p:slideViewPr>
    <p:cSldViewPr>
      <p:cViewPr varScale="1">
        <p:scale>
          <a:sx n="109" d="100"/>
          <a:sy n="109" d="100"/>
        </p:scale>
        <p:origin x="1080" y="96"/>
      </p:cViewPr>
      <p:guideLst>
        <p:guide orient="horz" pos="2146"/>
        <p:guide pos="28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67" y="-158"/>
      </p:cViewPr>
      <p:guideLst>
        <p:guide orient="horz" pos="3105"/>
        <p:guide pos="211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C:\Users\user\Downloads\twd%20irs%205x10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572267525756"/>
          <c:y val="0.0268304487969121"/>
          <c:w val="0.865614617940199"/>
          <c:h val="0.801550925925926"/>
        </c:manualLayout>
      </c:layout>
      <c:lineChart>
        <c:grouping val="standard"/>
        <c:varyColors val="0"/>
        <c:ser>
          <c:idx val="0"/>
          <c:order val="0"/>
          <c:tx>
            <c:strRef>
              <c:f>'[twd irs 5x10.xlsx]工作表1'!$G$42</c:f>
              <c:strCache>
                <c:ptCount val="1"/>
                <c:pt idx="0">
                  <c:v>Rate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TW" sz="1200" b="1" i="0" u="none" strike="noStrike" kern="1200" baseline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新細明體" panose="02020500000000000000" charset="-120"/>
                        <a:cs typeface="+mn-ea"/>
                      </a:defRPr>
                    </a:pPr>
                    <a:r>
                      <a:rPr sz="1200" b="1">
                        <a:solidFill>
                          <a:sysClr val="windowText" lastClr="000000"/>
                        </a:solidFill>
                      </a:rPr>
                      <a:t>1.54</a:t>
                    </a:r>
                    <a:r>
                      <a:rPr lang="en-US" altLang="zh-TW" sz="1200" b="1">
                        <a:solidFill>
                          <a:sysClr val="windowText" lastClr="000000"/>
                        </a:solidFill>
                      </a:rPr>
                      <a:t>%</a:t>
                    </a:r>
                    <a:endParaRPr lang="en-US" altLang="zh-TW" sz="1200" b="1">
                      <a:solidFill>
                        <a:sysClr val="windowText" lastClr="00000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.0116279069767442"/>
                  <c:y val="0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TW" sz="1200" b="1" i="0" u="none" strike="noStrike" kern="1200" baseline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新細明體" panose="02020500000000000000" charset="-120"/>
                        <a:cs typeface="+mn-ea"/>
                      </a:defRPr>
                    </a:pPr>
                    <a:r>
                      <a:rPr sz="1200" b="1">
                        <a:solidFill>
                          <a:sysClr val="windowText" lastClr="000000"/>
                        </a:solidFill>
                      </a:rPr>
                      <a:t>1.48</a:t>
                    </a:r>
                    <a:r>
                      <a:rPr lang="en-US" altLang="zh-TW" sz="1200" b="1">
                        <a:solidFill>
                          <a:sysClr val="windowText" lastClr="000000"/>
                        </a:solidFill>
                      </a:rPr>
                      <a:t>%</a:t>
                    </a:r>
                    <a:endParaRPr lang="en-US" altLang="zh-TW" sz="1200" b="1">
                      <a:solidFill>
                        <a:sysClr val="windowText" lastClr="00000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TW" sz="1200" b="1" i="0" u="none" strike="noStrike" kern="1200" baseline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新細明體" panose="02020500000000000000" charset="-120"/>
                        <a:cs typeface="+mn-ea"/>
                      </a:defRPr>
                    </a:pPr>
                    <a:r>
                      <a:rPr sz="1200" b="1">
                        <a:solidFill>
                          <a:sysClr val="windowText" lastClr="000000"/>
                        </a:solidFill>
                      </a:rPr>
                      <a:t>1.44</a:t>
                    </a:r>
                    <a:r>
                      <a:rPr lang="en-US" altLang="zh-TW" sz="1200" b="1">
                        <a:solidFill>
                          <a:sysClr val="windowText" lastClr="000000"/>
                        </a:solidFill>
                      </a:rPr>
                      <a:t>%</a:t>
                    </a:r>
                    <a:endParaRPr lang="en-US" altLang="zh-TW" sz="1200" b="1">
                      <a:solidFill>
                        <a:sysClr val="windowText" lastClr="00000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TW" sz="1200" b="1" i="0" u="none" strike="noStrike" kern="1200" baseline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新細明體" panose="02020500000000000000" charset="-120"/>
                        <a:cs typeface="+mn-ea"/>
                      </a:defRPr>
                    </a:pPr>
                    <a:r>
                      <a:rPr sz="1200" b="1">
                        <a:solidFill>
                          <a:sysClr val="windowText" lastClr="000000"/>
                        </a:solidFill>
                      </a:rPr>
                      <a:t>1.43</a:t>
                    </a:r>
                    <a:r>
                      <a:rPr lang="en-US" altLang="zh-TW" sz="1200" b="1">
                        <a:solidFill>
                          <a:sysClr val="windowText" lastClr="000000"/>
                        </a:solidFill>
                      </a:rPr>
                      <a:t>%</a:t>
                    </a:r>
                    <a:endParaRPr lang="en-US" altLang="zh-TW" sz="1200" b="1">
                      <a:solidFill>
                        <a:sysClr val="windowText" lastClr="00000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TW" sz="1200" b="1" i="0" u="none" strike="noStrike" kern="1200" baseline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新細明體" panose="02020500000000000000" charset="-120"/>
                        <a:cs typeface="+mn-ea"/>
                      </a:defRPr>
                    </a:pPr>
                    <a:r>
                      <a:rPr sz="1200" b="1">
                        <a:solidFill>
                          <a:sysClr val="windowText" lastClr="000000"/>
                        </a:solidFill>
                      </a:rPr>
                      <a:t>1.43</a:t>
                    </a:r>
                    <a:r>
                      <a:rPr lang="en-US" altLang="zh-TW" sz="1200" b="1">
                        <a:solidFill>
                          <a:sysClr val="windowText" lastClr="000000"/>
                        </a:solidFill>
                      </a:rPr>
                      <a:t>%</a:t>
                    </a:r>
                    <a:endParaRPr lang="en-US" altLang="zh-TW" sz="1200" b="1">
                      <a:solidFill>
                        <a:sysClr val="windowText" lastClr="00000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TW" sz="1200" b="1" i="0" u="none" strike="noStrike" kern="1200" baseline="0">
                    <a:solidFill>
                      <a:sysClr val="windowText" lastClr="000000"/>
                    </a:solidFill>
                    <a:latin typeface="Calibri" panose="020F0502020204030204" charset="0"/>
                    <a:ea typeface="新細明體" panose="02020500000000000000" charset="-120"/>
                    <a:cs typeface="+mn-ea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'[twd irs 5x10.xlsx]工作表1'!$F$43:$F$47</c:f>
              <c:strCache>
                <c:ptCount val="5"/>
                <c:pt idx="0" c:formatCode="yyyy/m/d">
                  <c:v>2026Q1</c:v>
                </c:pt>
                <c:pt idx="1" c:formatCode="yyyy/m/d">
                  <c:v>2026Q2</c:v>
                </c:pt>
                <c:pt idx="2" c:formatCode="yyyy/m/d">
                  <c:v>2026Q3</c:v>
                </c:pt>
                <c:pt idx="3" c:formatCode="yyyy/m/d">
                  <c:v>2026Q4</c:v>
                </c:pt>
                <c:pt idx="4" c:formatCode="yyyy/m/d">
                  <c:v>2027Q1</c:v>
                </c:pt>
              </c:strCache>
            </c:strRef>
          </c:cat>
          <c:val>
            <c:numRef>
              <c:f>'[twd irs 5x10.xlsx]工作表1'!$G$43:$G$47</c:f>
              <c:numCache>
                <c:formatCode>0.00_ </c:formatCode>
                <c:ptCount val="5"/>
                <c:pt idx="0">
                  <c:v>1.54</c:v>
                </c:pt>
                <c:pt idx="1">
                  <c:v>1.48</c:v>
                </c:pt>
                <c:pt idx="2">
                  <c:v>1.44</c:v>
                </c:pt>
                <c:pt idx="3">
                  <c:v>1.43</c:v>
                </c:pt>
                <c:pt idx="4">
                  <c:v>1.43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437688686"/>
        <c:axId val="647867110"/>
      </c:lineChart>
      <c:catAx>
        <c:axId val="43768868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TW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Calibri" panose="020F0502020204030204" charset="0"/>
              </a:defRPr>
            </a:pPr>
          </a:p>
        </c:txPr>
        <c:crossAx val="647867110"/>
        <c:crosses val="autoZero"/>
        <c:auto val="1"/>
        <c:lblAlgn val="ctr"/>
        <c:lblOffset val="100"/>
        <c:noMultiLvlLbl val="0"/>
      </c:catAx>
      <c:valAx>
        <c:axId val="647867110"/>
        <c:scaling>
          <c:orientation val="minMax"/>
          <c:max val="1.6"/>
          <c:min val="1.4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TW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Calibri" panose="020F0502020204030204" charset="0"/>
              </a:defRPr>
            </a:pPr>
          </a:p>
        </c:txPr>
        <c:crossAx val="437688686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TW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70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640"/>
            <a:ext cx="2945976" cy="494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700" y="9431640"/>
            <a:ext cx="2945976" cy="494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EA90D26C-E35A-450B-90C7-84C2B9602168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645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084" y="4714708"/>
            <a:ext cx="5437507" cy="4466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/>
          <a:p>
            <a:pPr lvl="0"/>
            <a:r>
              <a:rPr lang="zh-TW" altLang="en-US" noProof="0"/>
              <a:t>按一下以編輯母片</a:t>
            </a:r>
            <a:endParaRPr lang="zh-TW" altLang="en-US" noProof="0"/>
          </a:p>
          <a:p>
            <a:pPr lvl="1"/>
            <a:r>
              <a:rPr lang="zh-TW" altLang="en-US" noProof="0"/>
              <a:t>第二層</a:t>
            </a:r>
            <a:endParaRPr lang="zh-TW" altLang="en-US" noProof="0"/>
          </a:p>
          <a:p>
            <a:pPr lvl="2"/>
            <a:r>
              <a:rPr lang="zh-TW" altLang="en-US" noProof="0"/>
              <a:t>第三層</a:t>
            </a:r>
            <a:endParaRPr lang="zh-TW" altLang="en-US" noProof="0"/>
          </a:p>
          <a:p>
            <a:pPr lvl="3"/>
            <a:r>
              <a:rPr lang="zh-TW" altLang="en-US" noProof="0"/>
              <a:t>第四層</a:t>
            </a:r>
            <a:endParaRPr lang="zh-TW" altLang="en-US" noProof="0"/>
          </a:p>
          <a:p>
            <a:pPr lvl="4"/>
            <a:r>
              <a:rPr lang="zh-TW" altLang="en-US" noProof="0"/>
              <a:t>第五層</a:t>
            </a:r>
            <a:endParaRPr lang="zh-TW" altLang="en-US" noProof="0"/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7200"/>
            <a:ext cx="2945976" cy="497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645" y="9427200"/>
            <a:ext cx="2945976" cy="497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60372AD-F29F-4D0F-B513-7219CBDC5F6C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91DC3-1E7A-4B25-8F56-B5B9998B32DD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24797-BBCB-46D5-B74F-32D725404A6B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CE306-2D5A-4AB4-AC5D-5D21E194443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D7BD4-4153-4232-9FDF-0A95D9B5C8DE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E1F83-3BEF-49AC-ABC8-8C6E80176E9C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52E88-0254-4B19-81B3-E8664451FBCF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697D7-8013-4975-95E3-48F7F3F7499B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A8A6C-E419-4A2D-A59F-0183255F70EA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F0E97-51B7-4FFA-9BFC-ED098C10D8ED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0AC26-B1DC-4AE7-A939-642DE9D4B085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DB87F-1281-41B6-A636-95C78B523A08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95C5F3-99EF-4E92-8313-B7FF534E2851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9C1600-8D42-4597-8CA4-003D095EE285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8B98E4D-4090-4CC7-9045-046950355E56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5D5151-29A4-4CB4-A045-9F637401C9A8}" type="slidenum">
              <a:rPr lang="zh-TW" altLang="en-US">
                <a:solidFill>
                  <a:srgbClr val="000000"/>
                </a:solidFill>
              </a:rPr>
            </a:fld>
            <a:endParaRPr lang="en-US" altLang="zh-TW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6E22A7-EF76-4CC0-B8E4-4EB561235ED1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ADBB88C-6F0D-489F-9196-70DAAEBD32E3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33A2C2-189D-4B97-A621-9D17102788CA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DDDBE6-A36A-4B7F-BE7F-AF040721802B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C80421-F154-4EB7-BAB9-B8AC9CBEFC83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3B3FE45-7674-409D-812E-F0930564FA98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1F0156B-8B8C-4EE1-A506-9984D200E04F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91DC3-1E7A-4B25-8F56-B5B9998B32DD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24797-BBCB-46D5-B74F-32D725404A6B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CE306-2D5A-4AB4-AC5D-5D21E1944430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D7BD4-4153-4232-9FDF-0A95D9B5C8DE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E1F83-3BEF-49AC-ABC8-8C6E80176E9C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52E88-0254-4B19-81B3-E8664451FBCF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697D7-8013-4975-95E3-48F7F3F7499B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A8A6C-E419-4A2D-A59F-0183255F70EA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F0E97-51B7-4FFA-9BFC-ED098C10D8ED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0AC26-B1DC-4AE7-A939-642DE9D4B085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DB87F-1281-41B6-A636-95C78B523A08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43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EB788-0AD9-4E98-A516-64653248E3DB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92E49-B35D-4BA4-A4A1-D07A03DA561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1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7D15B-E003-4EB9-A608-239C444D5E9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C68BE-B4B0-4564-B8AC-726B6F10D4A3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274638"/>
            <a:ext cx="8075240" cy="6340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717D7-C8B0-44C5-A62F-3567BF53D398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FA067D-AD37-4A18-A34B-F0E66789EA7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0777A-41B7-4B1E-A08A-E8D847463375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1" y="27306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93CA9-BA81-47AA-823D-8B709A5D2C45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6ADD22-6B71-41C3-A3B2-EF9911ADB281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F7AEA-34EA-4C76-9A47-D6871C043AB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56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56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654D6-15C0-494A-B753-0640DB25B203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11188" y="274656"/>
            <a:ext cx="8075612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02D48-BB1D-4132-8A0E-4D78DE52EF59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4" Type="http://schemas.openxmlformats.org/officeDocument/2006/relationships/theme" Target="../theme/theme7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F21431A-0C06-4923-9B61-C55D1AEC9577}" type="slidenum">
              <a:rPr lang="zh-TW" altLang="en-US"/>
            </a:fld>
            <a:endParaRPr lang="en-US" altLang="zh-TW"/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1000">
                <a:solidFill>
                  <a:schemeClr val="bg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  <a:endParaRPr lang="zh-TW" altLang="en-US" sz="1000">
              <a:solidFill>
                <a:schemeClr val="bg2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ea typeface="新細明體" panose="02020500000000000000" charset="-120"/>
            </a:endParaRPr>
          </a:p>
        </p:txBody>
      </p:sp>
      <p:pic>
        <p:nvPicPr>
          <p:cNvPr id="1030" name="Picture 7" descr="3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/>
            </a:lvl1pPr>
          </a:lstStyle>
          <a:p>
            <a:fld id="{32523EE1-814A-4436-A9F0-90FC08ED8A92}" type="slidenum">
              <a:rPr lang="zh-TW" altLang="en-US">
                <a:solidFill>
                  <a:srgbClr val="000000"/>
                </a:solidFill>
                <a:ea typeface="新細明體" panose="02020500000000000000" charset="-120"/>
              </a:rPr>
            </a:fld>
            <a:endParaRPr lang="en-US" altLang="zh-TW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100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  <a:endParaRPr lang="zh-TW" altLang="en-US" sz="1000">
              <a:solidFill>
                <a:srgbClr val="80808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pic>
        <p:nvPicPr>
          <p:cNvPr id="1090567" name="Picture 7" descr="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F21431A-0C06-4923-9B61-C55D1AEC9577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100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  <a:endParaRPr lang="zh-TW" altLang="en-US" sz="1000">
              <a:solidFill>
                <a:srgbClr val="80808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pic>
        <p:nvPicPr>
          <p:cNvPr id="1030" name="Picture 7" descr="3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spcBef>
                <a:spcPct val="0"/>
              </a:spcBef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381750"/>
            <a:ext cx="468313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/>
          <a:lstStyle>
            <a:lvl1pPr algn="r">
              <a:spcBef>
                <a:spcPct val="0"/>
              </a:spcBef>
              <a:defRPr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A9CD9766-93A3-4E76-9B20-A4D620225CC1}" type="slidenum">
              <a:rPr lang="en-US" altLang="zh-TW"/>
            </a:fld>
            <a:endParaRPr lang="en-US" altLang="zh-TW" dirty="0"/>
          </a:p>
        </p:txBody>
      </p:sp>
      <p:sp>
        <p:nvSpPr>
          <p:cNvPr id="1027" name="Text Box 21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1" tIns="45710" rIns="91421" bIns="4571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l" eaLnBrk="1" hangingPunct="1">
              <a:defRPr/>
            </a:pPr>
            <a:r>
              <a:rPr lang="zh-TW" altLang="en-US" sz="1000">
                <a:solidFill>
                  <a:schemeClr val="bg2"/>
                </a:solidFill>
                <a:latin typeface="標楷體" panose="03000509000000000000" pitchFamily="65" charset="-120"/>
              </a:rPr>
              <a:t>誠信  承諾  創新  合作</a:t>
            </a:r>
            <a:endParaRPr lang="zh-TW" altLang="en-US" sz="1000">
              <a:solidFill>
                <a:schemeClr val="bg2"/>
              </a:solidFill>
              <a:latin typeface="標楷體" panose="03000509000000000000" pitchFamily="65" charset="-120"/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lang="zh-TW" altLang="en-US" sz="3000" b="1" smtClean="0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7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188" y="188640"/>
            <a:ext cx="8075612" cy="719410"/>
          </a:xfrm>
        </p:spPr>
        <p:txBody>
          <a:bodyPr/>
          <a:lstStyle/>
          <a:p>
            <a:pPr marL="984250" indent="-984250"/>
            <a:r>
              <a:rPr lang="zh-TW" altLang="en-US" sz="2500" dirty="0"/>
              <a:t>交易策略：</a:t>
            </a:r>
            <a:r>
              <a:rPr lang="en-US" altLang="zh-TW" sz="2500" dirty="0"/>
              <a:t>Pay 1Y CNY NDIRS (FR007)</a:t>
            </a:r>
            <a:endParaRPr lang="en-US" altLang="zh-TW" sz="25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4194" y="1412776"/>
            <a:ext cx="8075612" cy="3168352"/>
          </a:xfrm>
        </p:spPr>
        <p:txBody>
          <a:bodyPr/>
          <a:lstStyle/>
          <a:p>
            <a:endParaRPr lang="zh-TW" altLang="zh-TW" sz="2000" dirty="0">
              <a:effectLst/>
              <a:latin typeface="+mj-ea"/>
              <a:ea typeface="+mj-ea"/>
              <a:cs typeface="新細明體" panose="02020500000000000000" charset="-120"/>
            </a:endParaRPr>
          </a:p>
          <a:p>
            <a:pPr marL="0" indent="0">
              <a:buNone/>
            </a:pPr>
            <a:endParaRPr lang="en-US" altLang="zh-TW" sz="2000" dirty="0"/>
          </a:p>
          <a:p>
            <a:endParaRPr lang="zh-TW" altLang="en-US" sz="20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226060" y="967135"/>
            <a:ext cx="8460740" cy="332851"/>
          </a:xfrm>
          <a:prstGeom prst="roundRect">
            <a:avLst/>
          </a:prstGeom>
          <a:solidFill>
            <a:srgbClr val="2E75B6"/>
          </a:solidFill>
        </p:spPr>
        <p:txBody>
          <a:bodyPr wrap="square" t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根據</a:t>
            </a:r>
            <a:r>
              <a:rPr kumimoji="0" lang="en-US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2/10</a:t>
            </a:r>
            <a:r>
              <a:rPr kumimoji="0"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公布的中國央行</a:t>
            </a:r>
            <a:r>
              <a:rPr kumimoji="0" lang="en-US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2025Q4</a:t>
            </a:r>
            <a:r>
              <a:rPr kumimoji="0"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貨幣政策執行報告，認為今年</a:t>
            </a:r>
            <a:r>
              <a:rPr kumimoji="0"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降息時間將比目前市場定價</a:t>
            </a:r>
            <a:r>
              <a:rPr kumimoji="0"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晚</a:t>
            </a:r>
            <a:endParaRPr kumimoji="0" lang="zh-TW" altLang="en-US" sz="14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內容版面配置區 2"/>
          <p:cNvSpPr>
            <a:spLocks noGrp="1"/>
          </p:cNvSpPr>
          <p:nvPr/>
        </p:nvSpPr>
        <p:spPr>
          <a:xfrm>
            <a:off x="166370" y="1351280"/>
            <a:ext cx="8981440" cy="3168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21" tIns="45710" rIns="91421" bIns="4571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9pPr>
          </a:lstStyle>
          <a:p>
            <a:r>
              <a:rPr lang="zh-TW" altLang="en-US" sz="2000" dirty="0">
                <a:latin typeface="+mj-ea"/>
                <a:ea typeface="+mj-ea"/>
              </a:rPr>
              <a:t>主流觀點</a:t>
            </a:r>
            <a:r>
              <a:rPr lang="en-US" altLang="zh-TW" sz="2000" dirty="0">
                <a:latin typeface="+mj-ea"/>
                <a:ea typeface="+mj-ea"/>
              </a:rPr>
              <a:t>: Q1-Q2</a:t>
            </a:r>
            <a:r>
              <a:rPr lang="zh-TW" altLang="en-US" sz="2000" dirty="0">
                <a:latin typeface="+mj-ea"/>
                <a:ea typeface="+mj-ea"/>
              </a:rPr>
              <a:t>調降政策利率</a:t>
            </a:r>
            <a:r>
              <a:rPr lang="en-US" altLang="zh-TW" sz="2000" dirty="0">
                <a:latin typeface="+mj-ea"/>
                <a:ea typeface="+mj-ea"/>
              </a:rPr>
              <a:t>(7D OMO)10bps; </a:t>
            </a:r>
            <a:r>
              <a:rPr lang="zh-TW" altLang="en-US" sz="2000" dirty="0">
                <a:latin typeface="+mj-ea"/>
                <a:ea typeface="+mj-ea"/>
              </a:rPr>
              <a:t>全年</a:t>
            </a:r>
            <a:r>
              <a:rPr lang="en-US" altLang="zh-TW" sz="2000" dirty="0">
                <a:latin typeface="+mj-ea"/>
                <a:ea typeface="+mj-ea"/>
              </a:rPr>
              <a:t>10-20bps</a:t>
            </a:r>
            <a:endParaRPr lang="en-US" altLang="zh-TW" sz="2000" dirty="0">
              <a:latin typeface="+mj-ea"/>
              <a:ea typeface="+mj-ea"/>
            </a:endParaRPr>
          </a:p>
          <a:p>
            <a:endParaRPr lang="zh-TW" altLang="en-US" sz="2000" dirty="0">
              <a:latin typeface="+mj-ea"/>
              <a:ea typeface="+mj-ea"/>
            </a:endParaRPr>
          </a:p>
          <a:p>
            <a:r>
              <a:rPr lang="zh-TW" altLang="en-US" sz="2000" dirty="0">
                <a:latin typeface="+mj-ea"/>
                <a:ea typeface="+mj-ea"/>
              </a:rPr>
              <a:t>人行報告透漏財政</a:t>
            </a:r>
            <a:r>
              <a:rPr lang="en-US" altLang="zh-TW" sz="2000" dirty="0">
                <a:latin typeface="+mj-ea"/>
                <a:ea typeface="+mj-ea"/>
              </a:rPr>
              <a:t>&gt;</a:t>
            </a:r>
            <a:r>
              <a:rPr lang="zh-TW" altLang="en-US" sz="2000" dirty="0">
                <a:latin typeface="+mj-ea"/>
                <a:ea typeface="+mj-ea"/>
              </a:rPr>
              <a:t>貨幣政策</a:t>
            </a:r>
            <a:endParaRPr lang="zh-TW" altLang="en-US" sz="20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TW" sz="2000" dirty="0">
                <a:latin typeface="+mj-ea"/>
                <a:ea typeface="+mj-ea"/>
              </a:rPr>
              <a:t>1. 刪除了「支持就業、增長和預期」等表述</a:t>
            </a:r>
            <a:endParaRPr lang="en-US" altLang="zh-TW" sz="20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TW" sz="2000" dirty="0">
                <a:latin typeface="+mj-ea"/>
                <a:ea typeface="+mj-ea"/>
              </a:rPr>
              <a:t>2. </a:t>
            </a:r>
            <a:r>
              <a:rPr lang="zh-TW" altLang="en-US" sz="2000" dirty="0">
                <a:latin typeface="+mj-ea"/>
                <a:ea typeface="+mj-ea"/>
              </a:rPr>
              <a:t>著重點由「</a:t>
            </a:r>
            <a:r>
              <a:rPr lang="en-US" altLang="zh-TW" sz="2000" dirty="0">
                <a:latin typeface="+mj-ea"/>
                <a:ea typeface="+mj-ea"/>
              </a:rPr>
              <a:t>引導社會融資成本進一步下降</a:t>
            </a:r>
            <a:r>
              <a:rPr lang="zh-TW" altLang="en-US" sz="2000" dirty="0">
                <a:latin typeface="+mj-ea"/>
                <a:ea typeface="+mj-ea"/>
              </a:rPr>
              <a:t>」→ 「</a:t>
            </a:r>
            <a:r>
              <a:rPr lang="en-US" altLang="zh-TW" sz="2000" dirty="0">
                <a:latin typeface="+mj-ea"/>
                <a:ea typeface="+mj-ea"/>
              </a:rPr>
              <a:t>保持社會融資成本在低位</a:t>
            </a:r>
            <a:r>
              <a:rPr lang="zh-TW" altLang="en-US" sz="2000" dirty="0">
                <a:latin typeface="+mj-ea"/>
                <a:ea typeface="+mj-ea"/>
              </a:rPr>
              <a:t>」</a:t>
            </a:r>
            <a:endParaRPr lang="zh-TW" altLang="en-US" sz="20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TW" sz="2000" dirty="0">
                <a:latin typeface="+mj-ea"/>
                <a:ea typeface="+mj-ea"/>
              </a:rPr>
              <a:t>3. </a:t>
            </a:r>
            <a:r>
              <a:rPr lang="zh-TW" altLang="en-US" sz="2000" dirty="0">
                <a:latin typeface="+mj-ea"/>
                <a:ea typeface="+mj-ea"/>
              </a:rPr>
              <a:t>定向</a:t>
            </a:r>
            <a:r>
              <a:rPr lang="zh-TW" altLang="en-US" sz="2000" dirty="0">
                <a:latin typeface="+mj-ea"/>
                <a:ea typeface="+mj-ea"/>
              </a:rPr>
              <a:t>再貸款工具、</a:t>
            </a:r>
            <a:r>
              <a:rPr lang="zh-TW" altLang="en-US" sz="2000" dirty="0">
                <a:latin typeface="+mj-ea"/>
                <a:ea typeface="+mj-ea"/>
              </a:rPr>
              <a:t>央行購債</a:t>
            </a:r>
            <a:endParaRPr lang="zh-TW" altLang="en-US" sz="2000" dirty="0">
              <a:latin typeface="+mj-ea"/>
              <a:ea typeface="+mj-ea"/>
            </a:endParaRPr>
          </a:p>
          <a:p>
            <a:endParaRPr lang="zh-TW" altLang="en-US" sz="2000" dirty="0">
              <a:latin typeface="+mj-ea"/>
              <a:ea typeface="+mj-ea"/>
            </a:endParaRPr>
          </a:p>
          <a:p>
            <a:r>
              <a:rPr lang="zh-TW" altLang="en-US" sz="2000" dirty="0">
                <a:latin typeface="+mj-ea"/>
                <a:ea typeface="+mj-ea"/>
              </a:rPr>
              <a:t>現有</a:t>
            </a:r>
            <a:r>
              <a:rPr lang="en-US" altLang="zh-TW" sz="2000" dirty="0">
                <a:latin typeface="+mj-ea"/>
                <a:ea typeface="+mj-ea"/>
              </a:rPr>
              <a:t>CNY</a:t>
            </a:r>
            <a:r>
              <a:rPr lang="zh-TW" altLang="en-US" sz="2000" dirty="0">
                <a:latin typeface="+mj-ea"/>
                <a:ea typeface="+mj-ea"/>
              </a:rPr>
              <a:t>部位</a:t>
            </a:r>
            <a:r>
              <a:rPr lang="en-US" altLang="zh-TW" sz="2000" dirty="0">
                <a:latin typeface="+mj-ea"/>
                <a:ea typeface="+mj-ea"/>
              </a:rPr>
              <a:t>: Rec 5Y NDIRS, 7Y</a:t>
            </a:r>
            <a:r>
              <a:rPr lang="zh-TW" altLang="en-US" sz="2000" dirty="0">
                <a:latin typeface="+mj-ea"/>
                <a:ea typeface="+mj-ea"/>
              </a:rPr>
              <a:t>國債</a:t>
            </a:r>
            <a:r>
              <a:rPr lang="en-US" altLang="zh-TW" sz="2000" dirty="0">
                <a:latin typeface="+mj-ea"/>
                <a:ea typeface="+mj-ea"/>
              </a:rPr>
              <a:t>; DV01</a:t>
            </a:r>
            <a:r>
              <a:rPr lang="zh-TW" altLang="en-US" sz="2000" dirty="0">
                <a:latin typeface="+mj-ea"/>
                <a:ea typeface="+mj-ea"/>
              </a:rPr>
              <a:t>共約</a:t>
            </a:r>
            <a:r>
              <a:rPr lang="en-US" altLang="zh-TW" sz="2000" dirty="0">
                <a:latin typeface="+mj-ea"/>
                <a:ea typeface="+mj-ea"/>
              </a:rPr>
              <a:t>TWD 60</a:t>
            </a:r>
            <a:r>
              <a:rPr lang="zh-TW" altLang="en-US" sz="2000" dirty="0">
                <a:latin typeface="+mj-ea"/>
                <a:ea typeface="+mj-ea"/>
              </a:rPr>
              <a:t>萬</a:t>
            </a:r>
            <a:endParaRPr lang="zh-TW" altLang="en-US" sz="2000" dirty="0">
              <a:latin typeface="+mj-ea"/>
              <a:ea typeface="+mj-ea"/>
            </a:endParaRPr>
          </a:p>
          <a:p>
            <a:r>
              <a:rPr lang="zh-TW" altLang="en-US" sz="2000" dirty="0">
                <a:latin typeface="+mj-ea"/>
                <a:ea typeface="+mj-ea"/>
              </a:rPr>
              <a:t>預計承做部位</a:t>
            </a:r>
            <a:r>
              <a:rPr lang="en-US" altLang="zh-TW" sz="2000" dirty="0">
                <a:latin typeface="+mj-ea"/>
                <a:ea typeface="+mj-ea"/>
              </a:rPr>
              <a:t>: Pay 1Y NDIRS @1.48 ; DV01 TWD 60~120</a:t>
            </a:r>
            <a:r>
              <a:rPr lang="zh-TW" altLang="en-US" sz="2000" dirty="0">
                <a:latin typeface="+mj-ea"/>
                <a:ea typeface="+mj-ea"/>
              </a:rPr>
              <a:t>萬</a:t>
            </a:r>
            <a:endParaRPr lang="zh-TW" altLang="en-US" sz="2000" dirty="0">
              <a:latin typeface="+mj-ea"/>
              <a:ea typeface="+mj-ea"/>
            </a:endParaRPr>
          </a:p>
          <a:p>
            <a:pPr lvl="1"/>
            <a:r>
              <a:rPr lang="en-US" altLang="zh-TW" sz="1600" dirty="0">
                <a:latin typeface="+mj-ea"/>
                <a:ea typeface="+mj-ea"/>
              </a:rPr>
              <a:t>FR007</a:t>
            </a:r>
            <a:r>
              <a:rPr lang="zh-TW" altLang="en-US" sz="1600" dirty="0">
                <a:latin typeface="+mj-ea"/>
                <a:ea typeface="+mj-ea"/>
              </a:rPr>
              <a:t>：</a:t>
            </a:r>
            <a:r>
              <a:rPr lang="en-US" altLang="zh-TW" sz="1600" dirty="0">
                <a:latin typeface="+mj-ea"/>
                <a:ea typeface="+mj-ea"/>
              </a:rPr>
              <a:t>1.60</a:t>
            </a:r>
            <a:r>
              <a:rPr lang="en-US" altLang="zh-TW" sz="1600" dirty="0">
                <a:latin typeface="+mj-ea"/>
                <a:ea typeface="+mj-ea"/>
              </a:rPr>
              <a:t>%</a:t>
            </a:r>
            <a:endParaRPr lang="en-US" altLang="zh-TW" sz="1600" dirty="0">
              <a:latin typeface="+mj-ea"/>
              <a:ea typeface="+mj-ea"/>
            </a:endParaRPr>
          </a:p>
          <a:p>
            <a:pPr lvl="1"/>
            <a:r>
              <a:rPr lang="en-US" altLang="zh-TW" sz="1600" dirty="0">
                <a:latin typeface="+mj-ea"/>
                <a:ea typeface="+mj-ea"/>
              </a:rPr>
              <a:t>1Y NDIRS</a:t>
            </a:r>
            <a:r>
              <a:rPr lang="zh-TW" altLang="en-US" sz="1600" dirty="0">
                <a:latin typeface="+mj-ea"/>
                <a:ea typeface="+mj-ea"/>
              </a:rPr>
              <a:t>：</a:t>
            </a:r>
            <a:r>
              <a:rPr lang="en-US" altLang="zh-TW" sz="1600" dirty="0">
                <a:latin typeface="+mj-ea"/>
                <a:ea typeface="+mj-ea"/>
              </a:rPr>
              <a:t>1.48</a:t>
            </a:r>
            <a:r>
              <a:rPr lang="en-US" altLang="zh-TW" sz="1600" dirty="0">
                <a:latin typeface="+mj-ea"/>
                <a:ea typeface="+mj-ea"/>
              </a:rPr>
              <a:t>%</a:t>
            </a:r>
            <a:endParaRPr lang="en-US" altLang="zh-TW" sz="1600" dirty="0">
              <a:latin typeface="+mj-ea"/>
              <a:ea typeface="+mj-ea"/>
            </a:endParaRPr>
          </a:p>
          <a:p>
            <a:pPr lvl="1"/>
            <a:r>
              <a:rPr lang="zh-TW" altLang="en-US" sz="1600" dirty="0">
                <a:latin typeface="+mj-ea"/>
                <a:ea typeface="+mj-ea"/>
              </a:rPr>
              <a:t>若如預期延至</a:t>
            </a:r>
            <a:r>
              <a:rPr lang="en-US" altLang="zh-TW" sz="1600" dirty="0">
                <a:latin typeface="+mj-ea"/>
                <a:ea typeface="+mj-ea"/>
              </a:rPr>
              <a:t>H2</a:t>
            </a:r>
            <a:r>
              <a:rPr lang="zh-TW" altLang="en-US" sz="1600" dirty="0">
                <a:latin typeface="+mj-ea"/>
                <a:ea typeface="+mj-ea"/>
              </a:rPr>
              <a:t>中降息</a:t>
            </a:r>
            <a:r>
              <a:rPr lang="en-US" altLang="zh-TW" sz="1600" dirty="0">
                <a:latin typeface="+mj-ea"/>
                <a:ea typeface="+mj-ea"/>
              </a:rPr>
              <a:t>10bps</a:t>
            </a:r>
            <a:endParaRPr lang="en-US" altLang="zh-TW" sz="1600" dirty="0">
              <a:latin typeface="+mj-ea"/>
              <a:ea typeface="+mj-ea"/>
            </a:endParaRPr>
          </a:p>
          <a:p>
            <a:pPr marL="457200" lvl="1" indent="0">
              <a:buNone/>
            </a:pPr>
            <a:r>
              <a:rPr lang="zh-TW" altLang="en-US" sz="1600" dirty="0">
                <a:latin typeface="+mj-ea"/>
                <a:ea typeface="+mj-ea"/>
              </a:rPr>
              <a:t>      此策略預計獲利約</a:t>
            </a:r>
            <a:r>
              <a:rPr lang="en-US" altLang="zh-TW" sz="1600" dirty="0">
                <a:latin typeface="+mj-ea"/>
                <a:ea typeface="+mj-ea"/>
              </a:rPr>
              <a:t>8~</a:t>
            </a:r>
            <a:r>
              <a:rPr lang="en-US" altLang="zh-TW" sz="1600" dirty="0">
                <a:latin typeface="+mj-ea"/>
                <a:ea typeface="+mj-ea"/>
              </a:rPr>
              <a:t>10bps</a:t>
            </a:r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1600" dirty="0">
              <a:latin typeface="+mj-ea"/>
              <a:ea typeface="+mj-ea"/>
            </a:endParaRPr>
          </a:p>
          <a:p>
            <a:endParaRPr lang="en-US" altLang="zh-TW" sz="2000" dirty="0"/>
          </a:p>
          <a:p>
            <a:endParaRPr lang="zh-TW" altLang="en-US" sz="2000" dirty="0"/>
          </a:p>
        </p:txBody>
      </p:sp>
      <p:graphicFrame>
        <p:nvGraphicFramePr>
          <p:cNvPr id="9" name="圖表 8"/>
          <p:cNvGraphicFramePr/>
          <p:nvPr/>
        </p:nvGraphicFramePr>
        <p:xfrm>
          <a:off x="4519295" y="4650740"/>
          <a:ext cx="4400550" cy="20046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3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3000509000000000000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3000509000000000000" pitchFamily="65" charset="-120"/>
          </a:defRPr>
        </a:defPPr>
      </a:lstStyle>
    </a:lnDef>
    <a:txDef>
      <a:spPr bwMode="auto">
        <a:noFill/>
        <a:ln>
          <a:noFill/>
        </a:ln>
      </a:spPr>
      <a:bodyPr>
        <a:spAutoFit/>
      </a:bodyPr>
      <a:lstStyle>
        <a:defPPr algn="l" eaLnBrk="1" hangingPunct="1">
          <a:defRPr sz="1600" dirty="0"/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WPS Presentation</Application>
  <PresentationFormat>如螢幕大小 (4:3)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1</vt:i4>
      </vt:variant>
    </vt:vector>
  </HeadingPairs>
  <TitlesOfParts>
    <vt:vector size="23" baseType="lpstr">
      <vt:lpstr>Arial</vt:lpstr>
      <vt:lpstr>新細明體</vt:lpstr>
      <vt:lpstr>Wingdings</vt:lpstr>
      <vt:lpstr>新細明體</vt:lpstr>
      <vt:lpstr>標楷體</vt:lpstr>
      <vt:lpstr>微軟正黑體</vt:lpstr>
      <vt:lpstr>Microsoft YaHei</vt:lpstr>
      <vt:lpstr>SimSun</vt:lpstr>
      <vt:lpstr>Arial Unicode MS</vt:lpstr>
      <vt:lpstr>Calibri</vt:lpstr>
      <vt:lpstr>Perpetua</vt:lpstr>
      <vt:lpstr>3_自訂設計</vt:lpstr>
      <vt:lpstr>4_自訂設計</vt:lpstr>
      <vt:lpstr>自訂設計</vt:lpstr>
      <vt:lpstr>6_自訂設計</vt:lpstr>
      <vt:lpstr>1_自訂設計</vt:lpstr>
      <vt:lpstr>7_自訂設計</vt:lpstr>
      <vt:lpstr>5_自訂設計</vt:lpstr>
      <vt:lpstr>8_自訂設計</vt:lpstr>
      <vt:lpstr>9_自訂設計</vt:lpstr>
      <vt:lpstr>10_自訂設計</vt:lpstr>
      <vt:lpstr>11_自訂設計</vt:lpstr>
      <vt:lpstr>交易策略：Pay CNY 1Y NDIRS</vt:lpstr>
    </vt:vector>
  </TitlesOfParts>
  <Company>tsb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870705</dc:creator>
  <cp:lastModifiedBy>user</cp:lastModifiedBy>
  <cp:revision>6140</cp:revision>
  <cp:lastPrinted>2025-07-21T05:27:00Z</cp:lastPrinted>
  <dcterms:created xsi:type="dcterms:W3CDTF">2004-04-09T03:27:00Z</dcterms:created>
  <dcterms:modified xsi:type="dcterms:W3CDTF">2026-02-22T18:19:47Z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1028-10.8.0.6003</vt:lpwstr>
  </property>
</Properties>
</file>