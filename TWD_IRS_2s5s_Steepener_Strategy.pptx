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CBC policy rate</c:v>
                </c:pt>
              </c:strCache>
            </c:strRef>
          </c:tx>
          <c:spPr>
            <a:solidFill>
              <a:srgbClr val="1E5C85"/>
            </a:solidFill>
            <a:ln w="38100" cap="flat">
              <a:solidFill>
                <a:srgbClr val="1E5C85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Noto Sans CJK T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5C85"/>
              </a:solidFill>
              <a:ln w="9525" cap="flat">
                <a:solidFill>
                  <a:srgbClr val="1E5C8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Now</c:v>
                  </c:pt>
                  <c:pt idx="1">
                    <c:v>2026/12</c:v>
                  </c:pt>
                  <c:pt idx="2">
                    <c:v>2027/03</c:v>
                  </c:pt>
                  <c:pt idx="3">
                    <c:v>2027 YE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2.125</c:v>
                </c:pt>
                <c:pt idx="2">
                  <c:v>2.25</c:v>
                </c:pt>
                <c:pt idx="3">
                  <c:v>2.25</c:v>
                </c:pt>
              </c:numCache>
            </c:numRef>
          </c:val>
          <c:smooth val="0"/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Noto Sans CJK T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Noto Sans CJK T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3"/>
          <c:min val="1.9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Noto Sans CJK TC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原預測</c:v>
                </c:pt>
              </c:strCache>
            </c:strRef>
          </c:tx>
          <c:spPr>
            <a:solidFill>
              <a:srgbClr val="A7B7C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Noto Sans CJK T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2026</c:v>
                  </c:pt>
                  <c:pt idx="1">
                    <c:v>2027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新預測</c:v>
                </c:pt>
              </c:strCache>
            </c:strRef>
          </c:tx>
          <c:spPr>
            <a:solidFill>
              <a:srgbClr val="1E5C8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Noto Sans CJK T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2026</c:v>
                  </c:pt>
                  <c:pt idx="1">
                    <c:v>2027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9.1</c:v>
                </c:pt>
                <c:pt idx="1">
                  <c:v>3.6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Noto Sans CJK T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Noto Sans CJK T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Noto Sans CJK TC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Noto Sans CJK TC"/>
              <a:cs typeface="Noto Sans CJK T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Headline CPI</c:v>
                </c:pt>
              </c:strCache>
            </c:strRef>
          </c:tx>
          <c:spPr>
            <a:solidFill>
              <a:srgbClr val="A45E2C"/>
            </a:solidFill>
            <a:ln w="25400" cap="flat">
              <a:solidFill>
                <a:srgbClr val="A45E2C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Noto Sans CJK T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45E2C"/>
              </a:solidFill>
              <a:ln w="9525" cap="flat">
                <a:solidFill>
                  <a:srgbClr val="A45E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Mar</c:v>
                  </c:pt>
                  <c:pt idx="1">
                    <c:v>Apr</c:v>
                  </c:pt>
                  <c:pt idx="2">
                    <c:v>May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</c:v>
                </c:pt>
                <c:pt idx="1">
                  <c:v>1.73</c:v>
                </c:pt>
                <c:pt idx="2">
                  <c:v>2.2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Core CPI</c:v>
                </c:pt>
              </c:strCache>
            </c:strRef>
          </c:tx>
          <c:spPr>
            <a:solidFill>
              <a:srgbClr val="1E5C85"/>
            </a:solidFill>
            <a:ln w="25400" cap="flat">
              <a:solidFill>
                <a:srgbClr val="1E5C85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Noto Sans CJK T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5C85"/>
              </a:solidFill>
              <a:ln w="9525" cap="flat">
                <a:solidFill>
                  <a:srgbClr val="1E5C8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Mar</c:v>
                  </c:pt>
                  <c:pt idx="1">
                    <c:v>Apr</c:v>
                  </c:pt>
                  <c:pt idx="2">
                    <c:v>May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1.94</c:v>
                </c:pt>
                <c:pt idx="1">
                  <c:v>1.9</c:v>
                </c:pt>
                <c:pt idx="2">
                  <c:v>2.12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Noto Sans CJK T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Noto Sans CJK T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4"/>
          <c:min val="1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Noto Sans CJK TC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
              <a:latin typeface="Noto Sans CJK TC"/>
              <a:cs typeface="Noto Sans CJK T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GDP</c:v>
                </c:pt>
              </c:strCache>
            </c:strRef>
          </c:tx>
          <c:spPr>
            <a:solidFill>
              <a:srgbClr val="1E5C8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Noto Sans CJK T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2010</c:v>
                  </c:pt>
                  <c:pt idx="1">
                    <c:v>2011</c:v>
                  </c:pt>
                  <c:pt idx="2">
                    <c:v>2024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10.3</c:v>
                </c:pt>
                <c:pt idx="1">
                  <c:v>3.7</c:v>
                </c:pt>
                <c:pt idx="2">
                  <c:v>4.8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CPI</c:v>
                </c:pt>
              </c:strCache>
            </c:strRef>
          </c:tx>
          <c:spPr>
            <a:solidFill>
              <a:srgbClr val="A45E2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Noto Sans CJK T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2010</c:v>
                  </c:pt>
                  <c:pt idx="1">
                    <c:v>2011</c:v>
                  </c:pt>
                  <c:pt idx="2">
                    <c:v>2024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1.4</c:v>
                </c:pt>
                <c:pt idx="2">
                  <c:v>2.2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房價</c:v>
                </c:pt>
              </c:strCache>
            </c:strRef>
          </c:tx>
          <c:spPr>
            <a:solidFill>
              <a:srgbClr val="2F806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Noto Sans CJK T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2010</c:v>
                  </c:pt>
                  <c:pt idx="1">
                    <c:v>2011</c:v>
                  </c:pt>
                  <c:pt idx="2">
                    <c:v>2024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17.1</c:v>
                </c:pt>
                <c:pt idx="1">
                  <c:v>14</c:v>
                </c:pt>
                <c:pt idx="2">
                  <c:v>11.3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Noto Sans CJK T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00000"/>
                </a:solidFill>
                <a:latin typeface="Noto Sans CJK T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Noto Sans CJK TC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
              <a:latin typeface="Noto Sans CJK TC"/>
              <a:cs typeface="Noto Sans CJK T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bp move vs entry</c:v>
                </c:pt>
              </c:strCache>
            </c:strRef>
          </c:tx>
          <c:spPr>
            <a:solidFill>
              <a:srgbClr val="1E5C8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Noto Sans CJK T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Stop</c:v>
                  </c:pt>
                  <c:pt idx="1">
                    <c:v>Entry</c:v>
                  </c:pt>
                  <c:pt idx="2">
                    <c:v>Target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-8.5</c:v>
                </c:pt>
                <c:pt idx="1">
                  <c:v>0</c:v>
                </c:pt>
                <c:pt idx="2">
                  <c:v>10.5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Noto Sans CJK T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80" b="0" i="0" u="none" strike="noStrike">
                <a:solidFill>
                  <a:srgbClr val="000000"/>
                </a:solidFill>
                <a:latin typeface="Noto Sans CJK T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-1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Noto Sans CJK TC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BD7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利率交易策略報告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58368" y="141732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TWD IRS 2s5s</a:t>
            </a:r>
            <a:endParaRPr lang="en-US" sz="4500" dirty="0"/>
          </a:p>
          <a:p>
            <a:pPr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Steepener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685800" y="306324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D7E5E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 BNP 台灣央行展望與台灣歷史升息路徑，導出曲線陡化交易</a:t>
            </a:r>
            <a:endParaRPr lang="en-US" sz="1620" dirty="0"/>
          </a:p>
        </p:txBody>
      </p:sp>
      <p:sp>
        <p:nvSpPr>
          <p:cNvPr id="5" name="Shape 3"/>
          <p:cNvSpPr/>
          <p:nvPr/>
        </p:nvSpPr>
        <p:spPr>
          <a:xfrm>
            <a:off x="685800" y="3813048"/>
            <a:ext cx="6629400" cy="0"/>
          </a:xfrm>
          <a:prstGeom prst="line">
            <a:avLst/>
          </a:prstGeom>
          <a:noFill/>
          <a:ln w="15240">
            <a:solidFill>
              <a:srgbClr val="6DA9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4114800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核心結論：看好 TWD IRS 2s5s steepener</a:t>
            </a:r>
            <a:endParaRPr lang="en-US" sz="1530" dirty="0"/>
          </a:p>
          <a:p>
            <a:pPr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前端修正過快升息定價；長端反映 AI 結構性成長與潛在升息。</a:t>
            </a:r>
            <a:endParaRPr lang="en-US" sz="1530" dirty="0"/>
          </a:p>
        </p:txBody>
      </p:sp>
      <p:sp>
        <p:nvSpPr>
          <p:cNvPr id="7" name="Text 5"/>
          <p:cNvSpPr/>
          <p:nvPr/>
        </p:nvSpPr>
        <p:spPr>
          <a:xfrm>
            <a:off x="8549640" y="11430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E5E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進場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394192" y="1463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21.5bp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9006840" y="22860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7FB2C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8549640" y="2971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E5E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目標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94192" y="3291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DAF0E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32bp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685800" y="617220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BD7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Stop 13bp | Carry &amp; roll +3.0bp/季 | TWD 0.6mio/DV01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149840" y="61722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BD7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2026/6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6096B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Part 1 | BNP 報告重點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BNP 核心觀點：央行轉鷹，但升息節奏慢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173968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政策利率路徑（BNP base case）</a:t>
            </a:r>
            <a:endParaRPr lang="en-US" sz="98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94360" y="1737360"/>
          <a:ext cx="612648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07492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兩次各半碼：2026/12、2027/3；2027 年底政策利率 2.25%。</a:t>
            </a:r>
            <a:endParaRPr lang="en-US" sz="810" dirty="0"/>
          </a:p>
        </p:txBody>
      </p:sp>
      <p:sp>
        <p:nvSpPr>
          <p:cNvPr id="8" name="Text 5"/>
          <p:cNvSpPr/>
          <p:nvPr/>
        </p:nvSpPr>
        <p:spPr>
          <a:xfrm>
            <a:off x="7315200" y="1417320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Key messages</a:t>
            </a:r>
            <a:endParaRPr lang="en-US" sz="980" dirty="0"/>
          </a:p>
        </p:txBody>
      </p:sp>
      <p:sp>
        <p:nvSpPr>
          <p:cNvPr id="9" name="Text 6"/>
          <p:cNvSpPr/>
          <p:nvPr/>
        </p:nvSpPr>
        <p:spPr>
          <a:xfrm>
            <a:off x="7315200" y="1783080"/>
            <a:ext cx="4069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</a:t>
            </a:r>
            <a:pPr indent="0" marL="0">
              <a:buNone/>
            </a:pPr>
            <a:r>
              <a:rPr lang="en-US" sz="1330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 月會議維持 2.00% 機率高，但語氣轉向承認通膨風險
</a:t>
            </a:r>
            <a:pPr indent="0" marL="0">
              <a:buNone/>
            </a:pPr>
            <a:r>
              <a:rPr lang="en-US" sz="133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</a:t>
            </a:r>
            <a:pPr indent="0" marL="0">
              <a:buNone/>
            </a:pPr>
            <a:r>
              <a:rPr lang="en-US" sz="1330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GDP 預測大幅上調，AI 需求從出口外溢至消費與投資
</a:t>
            </a:r>
            <a:pPr indent="0" marL="0">
              <a:buNone/>
            </a:pPr>
            <a:r>
              <a:rPr lang="en-US" sz="133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</a:t>
            </a:r>
            <a:pPr indent="0" marL="0">
              <a:buNone/>
            </a:pPr>
            <a:r>
              <a:rPr lang="en-US" sz="1330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CPI 預測上修至 2.0%，但官員溝通仍偏 wait-and-see
</a:t>
            </a:r>
            <a:pPr indent="0" marL="0">
              <a:buNone/>
            </a:pPr>
            <a:r>
              <a:rPr lang="en-US" sz="133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</a:t>
            </a:r>
            <a:pPr indent="0" marL="0">
              <a:buNone/>
            </a:pPr>
            <a:r>
              <a:rPr lang="en-US" sz="1330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策略上偏好曲線陡化：前端過度定價，長端受結構成長支撐</a:t>
            </a:r>
            <a:endParaRPr lang="en-US" sz="1330" dirty="0"/>
          </a:p>
        </p:txBody>
      </p:sp>
      <p:sp>
        <p:nvSpPr>
          <p:cNvPr id="10" name="Text 7"/>
          <p:cNvSpPr/>
          <p:nvPr/>
        </p:nvSpPr>
        <p:spPr>
          <a:xfrm>
            <a:off x="7315200" y="4160520"/>
            <a:ext cx="4023360" cy="777240"/>
          </a:xfrm>
          <a:prstGeom prst="roundRect">
            <a:avLst/>
          </a:prstGeom>
          <a:solidFill>
            <a:srgbClr val="F1F7FA"/>
          </a:solidFill>
          <a:ln w="10160">
            <a:solidFill>
              <a:srgbClr val="D4E5EE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交易含意：不是單純追升息；是「慢升息 + 長端成長溢價」的曲線交易。</a:t>
            </a:r>
            <a:endParaRPr lang="en-US" sz="1310" dirty="0"/>
          </a:p>
        </p:txBody>
      </p:sp>
      <p:sp>
        <p:nvSpPr>
          <p:cNvPr id="11" name="Text 8"/>
          <p:cNvSpPr/>
          <p:nvPr/>
        </p:nvSpPr>
        <p:spPr>
          <a:xfrm>
            <a:off x="7315200" y="52303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BNP 對 1Y NDIRS fair value</a:t>
            </a:r>
            <a:endParaRPr lang="en-US" sz="870" dirty="0"/>
          </a:p>
        </p:txBody>
      </p:sp>
      <p:sp>
        <p:nvSpPr>
          <p:cNvPr id="12" name="Text 9"/>
          <p:cNvSpPr/>
          <p:nvPr/>
        </p:nvSpPr>
        <p:spPr>
          <a:xfrm>
            <a:off x="7315200" y="544982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1.77%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7315200" y="5888736"/>
            <a:ext cx="182880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反映 December / March 各半碼升息假設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555480" y="52303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前端市場已定價</a:t>
            </a:r>
            <a:endParaRPr lang="en-US" sz="870" dirty="0"/>
          </a:p>
        </p:txBody>
      </p:sp>
      <p:sp>
        <p:nvSpPr>
          <p:cNvPr id="15" name="Text 12"/>
          <p:cNvSpPr/>
          <p:nvPr/>
        </p:nvSpPr>
        <p:spPr>
          <a:xfrm>
            <a:off x="9555480" y="544982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A45E2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~40.5bp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9555480" y="5888736"/>
            <a:ext cx="182880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一年內緊縮幅度：BNP 認為偏高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02920" y="6510528"/>
            <a:ext cx="8823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7A869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Sources: BNP Paribas “Taiwan: CBC to hike rates, but unlikely to do so in June”, 12/06/2026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9921240" y="64739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7A869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TWD IRS 2s5s Steepener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6096B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Part 1 | BNP 報告重點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成長上修、通膨接近 2%；房市信用管控轉向不再加碼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173968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GDP forecast revision</a:t>
            </a:r>
            <a:endParaRPr lang="en-US" sz="98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94360" y="1737360"/>
          <a:ext cx="365760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526280" y="1417320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Recent CPI momentum</a:t>
            </a:r>
            <a:endParaRPr lang="en-US" sz="98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526280" y="1737360"/>
          <a:ext cx="333756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8183880" y="1417320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央行官員與房市訊號</a:t>
            </a:r>
            <a:endParaRPr lang="en-US" sz="980" dirty="0"/>
          </a:p>
        </p:txBody>
      </p:sp>
      <p:sp>
        <p:nvSpPr>
          <p:cNvPr id="10" name="Text 6"/>
          <p:cNvSpPr/>
          <p:nvPr/>
        </p:nvSpPr>
        <p:spPr>
          <a:xfrm>
            <a:off x="8183880" y="1764792"/>
            <a:ext cx="3401568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</a:t>
            </a:r>
            <a:pPr indent="0" marL="0">
              <a:buNone/>
            </a:pPr>
            <a:r>
              <a:rPr lang="en-US" sz="1120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楊金龍：物價相對穩定；供給面通膨不宜靠貨幣政策硬打
</a:t>
            </a:r>
            <a:pPr indent="0" marL="0">
              <a:buNone/>
            </a:pPr>
            <a:r>
              <a:rPr lang="en-US" sz="112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</a:t>
            </a:r>
            <a:pPr indent="0" marL="0">
              <a:buNone/>
            </a:pPr>
            <a:r>
              <a:rPr lang="en-US" sz="1120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張建一：2026 通膨預期低於 2%，升息不急迫
</a:t>
            </a:r>
            <a:pPr indent="0" marL="0">
              <a:buNone/>
            </a:pPr>
            <a:r>
              <a:rPr lang="en-US" sz="112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</a:t>
            </a:r>
            <a:pPr indent="0" marL="0">
              <a:buNone/>
            </a:pPr>
            <a:r>
              <a:rPr lang="en-US" sz="1120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房價多持平或負增長，交易量下滑，貸款集中度回到舒適區
</a:t>
            </a:r>
            <a:pPr indent="0" marL="0">
              <a:buNone/>
            </a:pPr>
            <a:r>
              <a:rPr lang="en-US" sz="112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</a:t>
            </a:r>
            <a:pPr indent="0" marL="0">
              <a:buNone/>
            </a:pPr>
            <a:r>
              <a:rPr lang="en-US" sz="1120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房市信用管控「不會再加強」：風險焦點可能轉向股市槓桿與資金市場</a:t>
            </a:r>
            <a:endParaRPr lang="en-US" sz="1120" dirty="0"/>
          </a:p>
        </p:txBody>
      </p:sp>
      <p:sp>
        <p:nvSpPr>
          <p:cNvPr id="11" name="Text 7"/>
          <p:cNvSpPr/>
          <p:nvPr/>
        </p:nvSpPr>
        <p:spPr>
          <a:xfrm>
            <a:off x="713232" y="4553712"/>
            <a:ext cx="10789920" cy="585216"/>
          </a:xfrm>
          <a:prstGeom prst="roundRect">
            <a:avLst/>
          </a:prstGeom>
          <a:solidFill>
            <a:srgbClr val="F1F7FA"/>
          </a:solidFill>
          <a:ln w="10160">
            <a:solidFill>
              <a:srgbClr val="D4E5EE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解讀：BNP 看的是「成長上修 + 通膨風險」；但央行現階段仍不急著立即升息。</a:t>
            </a:r>
            <a:endParaRPr lang="en-US" sz="1330" dirty="0"/>
          </a:p>
        </p:txBody>
      </p:sp>
      <p:sp>
        <p:nvSpPr>
          <p:cNvPr id="12" name="Text 8"/>
          <p:cNvSpPr/>
          <p:nvPr/>
        </p:nvSpPr>
        <p:spPr>
          <a:xfrm>
            <a:off x="1005840" y="530352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2026 GDP</a:t>
            </a:r>
            <a:endParaRPr lang="en-US" sz="870" dirty="0"/>
          </a:p>
        </p:txBody>
      </p:sp>
      <p:sp>
        <p:nvSpPr>
          <p:cNvPr id="13" name="Text 9"/>
          <p:cNvSpPr/>
          <p:nvPr/>
        </p:nvSpPr>
        <p:spPr>
          <a:xfrm>
            <a:off x="1005840" y="552297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9.1%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1005840" y="5961888"/>
            <a:ext cx="1600200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BNP revised forecast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971800" y="530352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2027 GDP</a:t>
            </a:r>
            <a:endParaRPr lang="en-US" sz="870" dirty="0"/>
          </a:p>
        </p:txBody>
      </p:sp>
      <p:sp>
        <p:nvSpPr>
          <p:cNvPr id="16" name="Text 12"/>
          <p:cNvSpPr/>
          <p:nvPr/>
        </p:nvSpPr>
        <p:spPr>
          <a:xfrm>
            <a:off x="2971800" y="552297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3.6%</a:t>
            </a:r>
            <a:endParaRPr lang="en-US" sz="2100" dirty="0"/>
          </a:p>
        </p:txBody>
      </p:sp>
      <p:sp>
        <p:nvSpPr>
          <p:cNvPr id="17" name="Text 13"/>
          <p:cNvSpPr/>
          <p:nvPr/>
        </p:nvSpPr>
        <p:spPr>
          <a:xfrm>
            <a:off x="2971800" y="5961888"/>
            <a:ext cx="1600200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BNP revised forecast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937760" y="53035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2026/2027 CPI</a:t>
            </a:r>
            <a:endParaRPr lang="en-US" sz="870" dirty="0"/>
          </a:p>
        </p:txBody>
      </p:sp>
      <p:sp>
        <p:nvSpPr>
          <p:cNvPr id="19" name="Text 15"/>
          <p:cNvSpPr/>
          <p:nvPr/>
        </p:nvSpPr>
        <p:spPr>
          <a:xfrm>
            <a:off x="4937760" y="552297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A45E2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2.0%</a:t>
            </a:r>
            <a:endParaRPr lang="en-US" sz="2100" dirty="0"/>
          </a:p>
        </p:txBody>
      </p:sp>
      <p:sp>
        <p:nvSpPr>
          <p:cNvPr id="20" name="Text 16"/>
          <p:cNvSpPr/>
          <p:nvPr/>
        </p:nvSpPr>
        <p:spPr>
          <a:xfrm>
            <a:off x="4937760" y="5961888"/>
            <a:ext cx="1691640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near CBC implicit line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7086600" y="530352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May core CPI</a:t>
            </a:r>
            <a:endParaRPr lang="en-US" sz="870" dirty="0"/>
          </a:p>
        </p:txBody>
      </p:sp>
      <p:sp>
        <p:nvSpPr>
          <p:cNvPr id="22" name="Text 18"/>
          <p:cNvSpPr/>
          <p:nvPr/>
        </p:nvSpPr>
        <p:spPr>
          <a:xfrm>
            <a:off x="7086600" y="55229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A45E2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2.12%</a:t>
            </a:r>
            <a:endParaRPr lang="en-US" sz="2100" dirty="0"/>
          </a:p>
        </p:txBody>
      </p:sp>
      <p:sp>
        <p:nvSpPr>
          <p:cNvPr id="23" name="Text 19"/>
          <p:cNvSpPr/>
          <p:nvPr/>
        </p:nvSpPr>
        <p:spPr>
          <a:xfrm>
            <a:off x="7086600" y="5961888"/>
            <a:ext cx="1737360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demand-side pressure watch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9372600" y="530352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房市信用管控</a:t>
            </a:r>
            <a:endParaRPr lang="en-US" sz="870" dirty="0"/>
          </a:p>
        </p:txBody>
      </p:sp>
      <p:sp>
        <p:nvSpPr>
          <p:cNvPr id="25" name="Text 21"/>
          <p:cNvSpPr/>
          <p:nvPr/>
        </p:nvSpPr>
        <p:spPr>
          <a:xfrm>
            <a:off x="9372600" y="55229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F806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不加碼</a:t>
            </a:r>
            <a:endParaRPr lang="en-US" sz="2100" dirty="0"/>
          </a:p>
        </p:txBody>
      </p:sp>
      <p:sp>
        <p:nvSpPr>
          <p:cNvPr id="26" name="Text 22"/>
          <p:cNvSpPr/>
          <p:nvPr/>
        </p:nvSpPr>
        <p:spPr>
          <a:xfrm>
            <a:off x="9372600" y="5961888"/>
            <a:ext cx="1737360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soft-landing approach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502920" y="6510528"/>
            <a:ext cx="8823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7A869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Sources: BNP Paribas, CBC public comments summarized in user-provided report</a:t>
            </a:r>
            <a:endParaRPr lang="en-US" sz="720" dirty="0"/>
          </a:p>
        </p:txBody>
      </p:sp>
      <p:sp>
        <p:nvSpPr>
          <p:cNvPr id="28" name="Text 24"/>
          <p:cNvSpPr/>
          <p:nvPr/>
        </p:nvSpPr>
        <p:spPr>
          <a:xfrm>
            <a:off x="9921240" y="64739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7A869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TWD IRS 2s5s Steepener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6096B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Part 1 | BNP 報告重點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BNP 策略小結：以 1s5s steepener 表達「前端過度、長端有撐」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173968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BNP steepener logic</a:t>
            </a:r>
            <a:endParaRPr lang="en-US" sz="980" dirty="0"/>
          </a:p>
        </p:txBody>
      </p:sp>
      <p:sp>
        <p:nvSpPr>
          <p:cNvPr id="6" name="Text 4"/>
          <p:cNvSpPr/>
          <p:nvPr/>
        </p:nvSpPr>
        <p:spPr>
          <a:xfrm>
            <a:off x="685800" y="1847088"/>
            <a:ext cx="914400" cy="292608"/>
          </a:xfrm>
          <a:prstGeom prst="roundRect">
            <a:avLst/>
          </a:prstGeom>
          <a:solidFill>
            <a:srgbClr val="A45E2C"/>
          </a:solidFill>
          <a:ln>
            <a:solidFill>
              <a:srgbClr val="A45E2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前端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32257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市場定價升息過快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近期 funding tightness / 3M TAIBOR 上行，使 1Y-2Y 反映太多近端緊縮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931920" y="26151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34840" y="1847088"/>
            <a:ext cx="914400" cy="292608"/>
          </a:xfrm>
          <a:prstGeom prst="roundRect">
            <a:avLst/>
          </a:prstGeom>
          <a:solidFill>
            <a:srgbClr val="1E5C85"/>
          </a:solidFill>
          <a:ln>
            <a:solidFill>
              <a:srgbClr val="1E5C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央行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34840" y="232257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慢速、資料依賴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34840" y="2743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BNP base case 是 2026Q4、2027Q1 各半碼，不是即刻連續追升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680960" y="26151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183880" y="1847088"/>
            <a:ext cx="914400" cy="292608"/>
          </a:xfrm>
          <a:prstGeom prst="roundRect">
            <a:avLst/>
          </a:prstGeom>
          <a:solidFill>
            <a:srgbClr val="2F8065"/>
          </a:solidFill>
          <a:ln>
            <a:solidFill>
              <a:srgbClr val="2F806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長端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83880" y="232257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結構性成長溢價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83880" y="2743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capex super cycle 提升潛在成長，5Y IRS 獲得中期支撐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14400" y="4041648"/>
            <a:ext cx="484632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FD8E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BNP trade idea：Spot 1s5s TWD NDIRS steepener</a:t>
            </a:r>
            <a:endParaRPr lang="en-US" sz="1410" dirty="0"/>
          </a:p>
          <a:p>
            <a:pPr algn="l" indent="0" marL="0">
              <a:buNone/>
            </a:pPr>
            <a:r>
              <a:rPr lang="en-US" sz="141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USD 10k/DV01 @ 42.5bp | Target 60bp | Stop 30bp | Carry &amp; roll +5.1bp/季</a:t>
            </a:r>
            <a:endParaRPr lang="en-US" sz="1410" dirty="0"/>
          </a:p>
        </p:txBody>
      </p:sp>
      <p:sp>
        <p:nvSpPr>
          <p:cNvPr id="18" name="Text 16"/>
          <p:cNvSpPr/>
          <p:nvPr/>
        </p:nvSpPr>
        <p:spPr>
          <a:xfrm>
            <a:off x="6537960" y="3749040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與本簡報的交易差異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6537960" y="406908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</a:t>
            </a:r>
            <a:pPr indent="0" marL="0">
              <a:buNone/>
            </a:pPr>
            <a:r>
              <a:rPr lang="en-US" sz="1210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BNP 用 1s5s：偏重「近端升息定價過快」
</a:t>
            </a:r>
            <a:pPr indent="0" marL="0">
              <a:buNone/>
            </a:pPr>
            <a:r>
              <a:rPr lang="en-US" sz="121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</a:t>
            </a:r>
            <a:pPr indent="0" marL="0">
              <a:buNone/>
            </a:pPr>
            <a:r>
              <a:rPr lang="en-US" sz="1210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本簡報用 2s5s：把前端錨在 2Y，更直接反映「2026 不升、兩年升息定價過高」
</a:t>
            </a:r>
            <a:pPr indent="0" marL="0">
              <a:buNone/>
            </a:pPr>
            <a:r>
              <a:rPr lang="en-US" sz="121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</a:t>
            </a:r>
            <a:pPr indent="0" marL="0">
              <a:buNone/>
            </a:pPr>
            <a:r>
              <a:rPr lang="en-US" sz="1210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共同核心：看 curve steepening，而非單邊 outright duration view</a:t>
            </a:r>
            <a:endParaRPr lang="en-US" sz="1210" dirty="0"/>
          </a:p>
        </p:txBody>
      </p:sp>
      <p:sp>
        <p:nvSpPr>
          <p:cNvPr id="20" name="Text 18"/>
          <p:cNvSpPr/>
          <p:nvPr/>
        </p:nvSpPr>
        <p:spPr>
          <a:xfrm>
            <a:off x="960120" y="565099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市場交易語言：前端 fair value 修正 + 長端 growth premium，組合成相對價值交易。</a:t>
            </a:r>
            <a:endParaRPr lang="en-US" sz="81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8823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7A869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Sources: BNP Paribas, user-provided strategy report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9921240" y="64739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7A869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TWD IRS 2s5s Steepener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6096B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Part 2 | 個人觀點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歷史路徑：台灣央行通常跟隨 Fed，但幅度更小、節奏更慢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173968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44168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1998-2026：CBC、Fed 與房價年增率</a:t>
            </a:r>
            <a:endParaRPr lang="en-US" sz="980" dirty="0"/>
          </a:p>
        </p:txBody>
      </p:sp>
      <p:pic>
        <p:nvPicPr>
          <p:cNvPr id="6" name="Image 0" descr="/mnt/data/輔助資料：台美基準利率與台灣房價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30113"/>
            <a:ext cx="6995160" cy="32892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0" y="1344168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央行風格摘要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8046720" y="1691640"/>
            <a:ext cx="3429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</a:t>
            </a:r>
            <a:pPr indent="0" marL="0">
              <a:buNone/>
            </a:pPr>
            <a:r>
              <a:rPr lang="en-US" sz="1230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半碼漸進主義：台灣央行常用 12.5bp 微調，避免一次性衝擊實體經濟
</a:t>
            </a:r>
            <a:pPr indent="0" marL="0">
              <a:buNone/>
            </a:pPr>
            <a:r>
              <a:rPr lang="en-US" sz="123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</a:t>
            </a:r>
            <a:pPr indent="0" marL="0">
              <a:buNone/>
            </a:pPr>
            <a:r>
              <a:rPr lang="en-US" sz="1230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緊盯 Fed 但不完全跟：方向多數一致，幅度顯著小於美國
</a:t>
            </a:r>
            <a:pPr indent="0" marL="0">
              <a:buNone/>
            </a:pPr>
            <a:r>
              <a:rPr lang="en-US" sz="123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</a:t>
            </a:r>
            <a:pPr indent="0" marL="0">
              <a:buNone/>
            </a:pPr>
            <a:r>
              <a:rPr lang="en-US" sz="1230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通膨 2% 是隱性心理線；但房價/金融穩定可成為額外壓力
</a:t>
            </a:r>
            <a:pPr indent="0" marL="0">
              <a:buNone/>
            </a:pPr>
            <a:r>
              <a:rPr lang="en-US" sz="123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</a:t>
            </a:r>
            <a:pPr indent="0" marL="0">
              <a:buNone/>
            </a:pPr>
            <a:r>
              <a:rPr lang="en-US" sz="1230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房市多用選擇性信用管制處理；利率仍以景氣與物價為主軸</a:t>
            </a:r>
            <a:endParaRPr lang="en-US" sz="1230" dirty="0"/>
          </a:p>
        </p:txBody>
      </p:sp>
      <p:sp>
        <p:nvSpPr>
          <p:cNvPr id="9" name="Text 6"/>
          <p:cNvSpPr/>
          <p:nvPr/>
        </p:nvSpPr>
        <p:spPr>
          <a:xfrm>
            <a:off x="914400" y="5559552"/>
            <a:ext cx="10378440" cy="658368"/>
          </a:xfrm>
          <a:prstGeom prst="roundRect">
            <a:avLst/>
          </a:prstGeom>
          <a:solidFill>
            <a:srgbClr val="F1F7FA"/>
          </a:solidFill>
          <a:ln w="10160">
            <a:solidFill>
              <a:srgbClr val="D4E5EE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31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歷史訊息：單看 Fed 不升息，不能直接推出 CBC 完全無升息風險；但若 CPI 溫和且房價降溫，升息門檻會明顯提高。</a:t>
            </a:r>
            <a:endParaRPr lang="en-US" sz="1310" dirty="0"/>
          </a:p>
        </p:txBody>
      </p:sp>
      <p:sp>
        <p:nvSpPr>
          <p:cNvPr id="10" name="Text 7"/>
          <p:cNvSpPr/>
          <p:nvPr/>
        </p:nvSpPr>
        <p:spPr>
          <a:xfrm>
            <a:off x="502920" y="6510528"/>
            <a:ext cx="8823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7A869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Sources: user-provided CBC/Fed/house-price data and historical path analysis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9921240" y="64739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7A869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TWD IRS 2s5s Steepener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6096B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Part 2 | 個人觀點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關鍵反例：Fed 不升時，房價與過熱仍可能驅動台灣升息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173968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726106" cy="521208"/>
          </a:xfrm>
          <a:prstGeom prst="rect">
            <a:avLst/>
          </a:prstGeom>
          <a:solidFill>
            <a:srgbClr val="0B1F33"/>
          </a:solidFill>
          <a:ln w="8890">
            <a:solidFill>
              <a:srgbClr val="FFFF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年份</a:t>
            </a:r>
            <a:endParaRPr lang="en-US" sz="940" dirty="0"/>
          </a:p>
        </p:txBody>
      </p:sp>
      <p:sp>
        <p:nvSpPr>
          <p:cNvPr id="6" name="Text 4"/>
          <p:cNvSpPr/>
          <p:nvPr/>
        </p:nvSpPr>
        <p:spPr>
          <a:xfrm>
            <a:off x="1320466" y="1417320"/>
            <a:ext cx="854242" cy="521208"/>
          </a:xfrm>
          <a:prstGeom prst="rect">
            <a:avLst/>
          </a:prstGeom>
          <a:solidFill>
            <a:srgbClr val="0B1F33"/>
          </a:solidFill>
          <a:ln w="8890">
            <a:solidFill>
              <a:srgbClr val="FFFF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GDP</a:t>
            </a:r>
            <a:endParaRPr lang="en-US" sz="940" dirty="0"/>
          </a:p>
        </p:txBody>
      </p:sp>
      <p:sp>
        <p:nvSpPr>
          <p:cNvPr id="7" name="Text 5"/>
          <p:cNvSpPr/>
          <p:nvPr/>
        </p:nvSpPr>
        <p:spPr>
          <a:xfrm>
            <a:off x="2174708" y="1417320"/>
            <a:ext cx="854242" cy="521208"/>
          </a:xfrm>
          <a:prstGeom prst="rect">
            <a:avLst/>
          </a:prstGeom>
          <a:solidFill>
            <a:srgbClr val="0B1F33"/>
          </a:solidFill>
          <a:ln w="8890">
            <a:solidFill>
              <a:srgbClr val="FFFF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CPI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3028950" y="1417320"/>
            <a:ext cx="1067803" cy="521208"/>
          </a:xfrm>
          <a:prstGeom prst="rect">
            <a:avLst/>
          </a:prstGeom>
          <a:solidFill>
            <a:srgbClr val="0B1F33"/>
          </a:solidFill>
          <a:ln w="8890">
            <a:solidFill>
              <a:srgbClr val="FFFF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房價年增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4096753" y="1417320"/>
            <a:ext cx="2989847" cy="521208"/>
          </a:xfrm>
          <a:prstGeom prst="rect">
            <a:avLst/>
          </a:prstGeom>
          <a:solidFill>
            <a:srgbClr val="0B1F33"/>
          </a:solidFill>
          <a:ln w="8890">
            <a:solidFill>
              <a:srgbClr val="FFFF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政策環境</a:t>
            </a:r>
            <a:endParaRPr lang="en-US" sz="940" dirty="0"/>
          </a:p>
        </p:txBody>
      </p:sp>
      <p:sp>
        <p:nvSpPr>
          <p:cNvPr id="10" name="Text 8"/>
          <p:cNvSpPr/>
          <p:nvPr/>
        </p:nvSpPr>
        <p:spPr>
          <a:xfrm>
            <a:off x="594360" y="1938528"/>
            <a:ext cx="726106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2010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1320466" y="1938528"/>
            <a:ext cx="854242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+10.3%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2174708" y="1938528"/>
            <a:ext cx="854242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+1.0%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3028950" y="1938528"/>
            <a:ext cx="1067803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+17.1%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4096753" y="1938528"/>
            <a:ext cx="2989847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 型反彈；通膨溫和但房價暴漲，重啟升息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594360" y="2459736"/>
            <a:ext cx="726106" cy="521208"/>
          </a:xfrm>
          <a:prstGeom prst="rect">
            <a:avLst/>
          </a:prstGeom>
          <a:solidFill>
            <a:srgbClr val="F1F5F9"/>
          </a:solidFill>
          <a:ln w="8890">
            <a:solidFill>
              <a:srgbClr val="FFFF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2011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1320466" y="2459736"/>
            <a:ext cx="854242" cy="521208"/>
          </a:xfrm>
          <a:prstGeom prst="rect">
            <a:avLst/>
          </a:prstGeom>
          <a:solidFill>
            <a:srgbClr val="F1F5F9"/>
          </a:solidFill>
          <a:ln w="8890">
            <a:solidFill>
              <a:srgbClr val="FFFF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+3.7%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2174708" y="2459736"/>
            <a:ext cx="854242" cy="521208"/>
          </a:xfrm>
          <a:prstGeom prst="rect">
            <a:avLst/>
          </a:prstGeom>
          <a:solidFill>
            <a:srgbClr val="F1F5F9"/>
          </a:solidFill>
          <a:ln w="8890">
            <a:solidFill>
              <a:srgbClr val="FFFF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+1.4%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3028950" y="2459736"/>
            <a:ext cx="1067803" cy="521208"/>
          </a:xfrm>
          <a:prstGeom prst="rect">
            <a:avLst/>
          </a:prstGeom>
          <a:solidFill>
            <a:srgbClr val="F1F5F9"/>
          </a:solidFill>
          <a:ln w="8890">
            <a:solidFill>
              <a:srgbClr val="FFFF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+14.0%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4096753" y="2459736"/>
            <a:ext cx="2989847" cy="521208"/>
          </a:xfrm>
          <a:prstGeom prst="rect">
            <a:avLst/>
          </a:prstGeom>
          <a:solidFill>
            <a:srgbClr val="F1F5F9"/>
          </a:solidFill>
          <a:ln w="8890">
            <a:solidFill>
              <a:srgbClr val="FFFF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Fed 維持 ZIRP；央行延續半碼正常化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594360" y="2980944"/>
            <a:ext cx="726106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2024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1320466" y="2980944"/>
            <a:ext cx="854242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+4.8%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2174708" y="2980944"/>
            <a:ext cx="854242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+2.2%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028950" y="2980944"/>
            <a:ext cx="1067803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+11.3%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4096753" y="2980944"/>
            <a:ext cx="2989847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CPI 超過 2% + 房市熱度再起，升半碼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635240" y="1417320"/>
            <a:ext cx="3383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三個年份的相對壓力：房價 &gt; CPI</a:t>
            </a:r>
            <a:endParaRPr lang="en-US" sz="98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7607808" y="1737360"/>
          <a:ext cx="374904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 24"/>
          <p:cNvSpPr/>
          <p:nvPr/>
        </p:nvSpPr>
        <p:spPr>
          <a:xfrm>
            <a:off x="594360" y="38862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核心洞察</a:t>
            </a:r>
            <a:endParaRPr lang="en-US" sz="980" dirty="0"/>
          </a:p>
        </p:txBody>
      </p:sp>
      <p:sp>
        <p:nvSpPr>
          <p:cNvPr id="28" name="Text 25"/>
          <p:cNvSpPr/>
          <p:nvPr/>
        </p:nvSpPr>
        <p:spPr>
          <a:xfrm>
            <a:off x="594360" y="4224528"/>
            <a:ext cx="10469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</a:t>
            </a:r>
            <a:pPr indent="0" marL="0">
              <a:buNone/>
            </a:pPr>
            <a:r>
              <a:rPr lang="en-US" sz="1280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2010-2011 的 CPI 不高，但房價與景氣過熱足以讓央行正常化；因此「Fed 不升」不是台灣不升的充分條件。
</a:t>
            </a:r>
            <a:pPr indent="0" marL="0">
              <a:buNone/>
            </a:pPr>
            <a:r>
              <a:rPr lang="en-US" sz="128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</a:t>
            </a:r>
            <a:pPr indent="0" marL="0">
              <a:buNone/>
            </a:pPr>
            <a:r>
              <a:rPr lang="en-US" sz="1280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但 2026 與 2010 最大差異在房市：當前房價多持平/負增長、交易量下滑，升息迫切性較低。
</a:t>
            </a:r>
            <a:pPr indent="0" marL="0">
              <a:buNone/>
            </a:pPr>
            <a:r>
              <a:rPr lang="en-US" sz="128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</a:t>
            </a:r>
            <a:pPr indent="0" marL="0">
              <a:buNone/>
            </a:pPr>
            <a:r>
              <a:rPr lang="en-US" sz="1280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真正的觸發點會是：CPI 重新穩定超過 2% + 房價/股市財富效應擴散到薪資與消費。</a:t>
            </a:r>
            <a:endParaRPr lang="en-US" sz="1280" dirty="0"/>
          </a:p>
        </p:txBody>
      </p:sp>
      <p:sp>
        <p:nvSpPr>
          <p:cNvPr id="29" name="Text 26"/>
          <p:cNvSpPr/>
          <p:nvPr/>
        </p:nvSpPr>
        <p:spPr>
          <a:xfrm>
            <a:off x="502920" y="6510528"/>
            <a:ext cx="8823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7A869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Sources: user-provided historical analysis, DGBAS, house-price index summary</a:t>
            </a:r>
            <a:endParaRPr lang="en-US" sz="720" dirty="0"/>
          </a:p>
        </p:txBody>
      </p:sp>
      <p:sp>
        <p:nvSpPr>
          <p:cNvPr id="30" name="Text 27"/>
          <p:cNvSpPr/>
          <p:nvPr/>
        </p:nvSpPr>
        <p:spPr>
          <a:xfrm>
            <a:off x="9921240" y="64739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7A869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TWD IRS 2s5s Steepener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6096B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Part 2 | 個人觀點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本簡報觀點：方向同 BNP，升息時間點更晚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173968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71600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BNP vs. 我的 base case</a:t>
            </a:r>
            <a:endParaRPr lang="en-US" sz="980" dirty="0"/>
          </a:p>
        </p:txBody>
      </p:sp>
      <p:sp>
        <p:nvSpPr>
          <p:cNvPr id="6" name="Text 4"/>
          <p:cNvSpPr/>
          <p:nvPr/>
        </p:nvSpPr>
        <p:spPr>
          <a:xfrm>
            <a:off x="594360" y="1719072"/>
            <a:ext cx="1097280" cy="594360"/>
          </a:xfrm>
          <a:prstGeom prst="rect">
            <a:avLst/>
          </a:prstGeom>
          <a:solidFill>
            <a:srgbClr val="0B1F33"/>
          </a:solidFill>
          <a:ln w="8890">
            <a:solidFill>
              <a:srgbClr val="FFFF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項目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1691640" y="1719072"/>
            <a:ext cx="4114800" cy="594360"/>
          </a:xfrm>
          <a:prstGeom prst="rect">
            <a:avLst/>
          </a:prstGeom>
          <a:solidFill>
            <a:srgbClr val="0B1F33"/>
          </a:solidFill>
          <a:ln w="8890">
            <a:solidFill>
              <a:srgbClr val="FFFF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BNP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5806440" y="1719072"/>
            <a:ext cx="5760720" cy="594360"/>
          </a:xfrm>
          <a:prstGeom prst="rect">
            <a:avLst/>
          </a:prstGeom>
          <a:solidFill>
            <a:srgbClr val="0B1F33"/>
          </a:solidFill>
          <a:ln w="8890">
            <a:solidFill>
              <a:srgbClr val="FFFF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我的觀點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594360" y="2313432"/>
            <a:ext cx="1097280" cy="5943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共識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1691640" y="2313432"/>
            <a:ext cx="4114800" cy="5943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結構性成長支撐長端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5806440" y="2313432"/>
            <a:ext cx="5760720" cy="5943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同意：5Y IRS 有中期上行支撐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594360" y="2907792"/>
            <a:ext cx="1097280" cy="594360"/>
          </a:xfrm>
          <a:prstGeom prst="rect">
            <a:avLst/>
          </a:prstGeom>
          <a:solidFill>
            <a:srgbClr val="F1F5F9"/>
          </a:solidFill>
          <a:ln w="8890">
            <a:solidFill>
              <a:srgbClr val="FFFF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升息時點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1691640" y="2907792"/>
            <a:ext cx="4114800" cy="594360"/>
          </a:xfrm>
          <a:prstGeom prst="rect">
            <a:avLst/>
          </a:prstGeom>
          <a:solidFill>
            <a:srgbClr val="F1F5F9"/>
          </a:solidFill>
          <a:ln w="8890">
            <a:solidFill>
              <a:srgbClr val="FFFF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2026/12、2027/3 各半碼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5806440" y="2907792"/>
            <a:ext cx="5760720" cy="594360"/>
          </a:xfrm>
          <a:prstGeom prst="rect">
            <a:avLst/>
          </a:prstGeom>
          <a:solidFill>
            <a:srgbClr val="F1F5F9"/>
          </a:solidFill>
          <a:ln w="8890">
            <a:solidFill>
              <a:srgbClr val="FFFF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2026 不升；2027 下半年才啟動機率較高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594360" y="3502152"/>
            <a:ext cx="1097280" cy="5943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核心差異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1691640" y="3502152"/>
            <a:ext cx="4114800" cy="5943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較快反映成長與通膨風險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5806440" y="3502152"/>
            <a:ext cx="5760720" cy="5943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CPI 1.9-2.0% + 房價降溫，近期升息理由不足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594360" y="434340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觸發因子：2027 下半年升息風險重新升溫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685800" y="4681728"/>
            <a:ext cx="6400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薪資普漲：基本工資、軍公教調薪帶動一般企業與科技業薪資預期
</a:t>
            </a:r>
            <a:pPr indent="0" marL="0">
              <a:buNone/>
            </a:pPr>
            <a:r>
              <a:rPr lang="en-US" sz="122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股市財富效應：AI 受惠股擴散至消費與投資需求
</a:t>
            </a:r>
            <a:pPr indent="0" marL="0">
              <a:buNone/>
            </a:pPr>
            <a:r>
              <a:rPr lang="en-US" sz="122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房市信用管制趨緩：若交易量回升、房價年增率低基期反彈，央行會更警戒
</a:t>
            </a:r>
            <a:pPr indent="0" marL="0">
              <a:buNone/>
            </a:pPr>
            <a:r>
              <a:rPr lang="en-US" sz="122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2026 低基期：推升 2027 下半年 CPI 與房價年增率的 headline risk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7543800" y="4645152"/>
            <a:ext cx="384048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FD8E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交易含意：用 2s5s steepener 比 outright receive 更好，因為它同時表達「近端升息太貴」與「長端成長仍有撐」。</a:t>
            </a:r>
            <a:endParaRPr lang="en-US" sz="133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8823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7A869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Sources: user-provided strategy report and historical policy framework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9921240" y="64739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7A869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TWD IRS 2s5s Steepener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6096B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Part 3 | 策略與風險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交易策略：TWD IRS 2s5s Steepener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173968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Trade ticket</a:t>
            </a:r>
            <a:endParaRPr lang="en-US" sz="980" dirty="0"/>
          </a:p>
        </p:txBody>
      </p:sp>
      <p:sp>
        <p:nvSpPr>
          <p:cNvPr id="6" name="Text 4"/>
          <p:cNvSpPr/>
          <p:nvPr/>
        </p:nvSpPr>
        <p:spPr>
          <a:xfrm>
            <a:off x="594360" y="1664208"/>
            <a:ext cx="14173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交易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2057400" y="1664208"/>
            <a:ext cx="288036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2s5s TWD IRS steepener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594360" y="2157984"/>
            <a:ext cx="1417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Size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2057400" y="2157984"/>
            <a:ext cx="2880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TWD 0.6mio / DV01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594360" y="2651760"/>
            <a:ext cx="14173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Entry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2057400" y="2651760"/>
            <a:ext cx="288036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21.5bp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594360" y="3145536"/>
            <a:ext cx="1417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Target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2057400" y="3145536"/>
            <a:ext cx="2880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32bp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594360" y="3639312"/>
            <a:ext cx="14173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Stop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2057400" y="3639312"/>
            <a:ext cx="288036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13bp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594360" y="4133088"/>
            <a:ext cx="1417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Carry &amp; roll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2057400" y="4133088"/>
            <a:ext cx="2880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+3.0bp / quarter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5440680" y="132588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E5C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P&amp;L asymmetry</a:t>
            </a:r>
            <a:endParaRPr lang="en-US" sz="98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5394960" y="1645920"/>
          <a:ext cx="27432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5440680" y="37490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 entry 21.5bp 計，target +10.5bp、stop -8.5bp；carry &amp; roll 為正，有利持倉。</a:t>
            </a:r>
            <a:endParaRPr lang="en-US" sz="810" dirty="0"/>
          </a:p>
        </p:txBody>
      </p:sp>
      <p:sp>
        <p:nvSpPr>
          <p:cNvPr id="21" name="Text 18"/>
          <p:cNvSpPr/>
          <p:nvPr/>
        </p:nvSpPr>
        <p:spPr>
          <a:xfrm>
            <a:off x="8595360" y="132588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A6403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主要風險</a:t>
            </a:r>
            <a:endParaRPr lang="en-US" sz="980" dirty="0"/>
          </a:p>
        </p:txBody>
      </p:sp>
      <p:sp>
        <p:nvSpPr>
          <p:cNvPr id="22" name="Text 19"/>
          <p:cNvSpPr/>
          <p:nvPr/>
        </p:nvSpPr>
        <p:spPr>
          <a:xfrm>
            <a:off x="8595360" y="1664208"/>
            <a:ext cx="2971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A6403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升息提前或一次升 25bp：前端反彈，2s5s flatten
</a:t>
            </a:r>
            <a:pPr indent="0" marL="0">
              <a:buNone/>
            </a:pPr>
            <a:r>
              <a:rPr lang="en-US" sz="1150" b="1" dirty="0">
                <a:solidFill>
                  <a:srgbClr val="A6403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二次通膨加速：薪資、房價或股市槓桿推升央行反應函數
</a:t>
            </a:r>
            <a:pPr indent="0" marL="0">
              <a:buNone/>
            </a:pPr>
            <a:r>
              <a:rPr lang="en-US" sz="1150" b="1" dirty="0">
                <a:solidFill>
                  <a:srgbClr val="A6403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景氣反轉：5Y 需求轉弱，長端下行
</a:t>
            </a:r>
            <a:pPr indent="0" marL="0">
              <a:buNone/>
            </a:pPr>
            <a:r>
              <a:rPr lang="en-US" sz="1150" b="1" dirty="0">
                <a:solidFill>
                  <a:srgbClr val="A6403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4C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Funding squeeze 延長：3M TAIBOR/NCD 持續推高前端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85800" y="4773168"/>
            <a:ext cx="5120640" cy="868680"/>
          </a:xfrm>
          <a:prstGeom prst="roundRect">
            <a:avLst/>
          </a:prstGeom>
          <a:solidFill>
            <a:srgbClr val="F1F7FA"/>
          </a:solidFill>
          <a:ln w="10160">
            <a:solidFill>
              <a:srgbClr val="D4E5EE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l" indent="0" marL="0">
              <a:buNone/>
            </a:pPr>
            <a:r>
              <a:rPr lang="en-US" sz="127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策略判斷：未來兩年市場已反映約 50-60bp 升息，偏高；若近期不升息與官員鴿派溝通延續，2Y 端最易修正。</a:t>
            </a:r>
            <a:endParaRPr lang="en-US" sz="1270" dirty="0"/>
          </a:p>
        </p:txBody>
      </p:sp>
      <p:sp>
        <p:nvSpPr>
          <p:cNvPr id="24" name="Text 21"/>
          <p:cNvSpPr/>
          <p:nvPr/>
        </p:nvSpPr>
        <p:spPr>
          <a:xfrm>
            <a:off x="6355080" y="4773168"/>
            <a:ext cx="4983480" cy="868680"/>
          </a:xfrm>
          <a:prstGeom prst="roundRect">
            <a:avLst/>
          </a:prstGeom>
          <a:solidFill>
            <a:srgbClr val="F1F7FA"/>
          </a:solidFill>
          <a:ln w="10160">
            <a:solidFill>
              <a:srgbClr val="D4E5EE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l" indent="0" marL="0">
              <a:buNone/>
            </a:pPr>
            <a:r>
              <a:rPr lang="en-US" sz="127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5Y 端支撐來自 AI 結構性成長與 2027 後潛在升息風險；因此相對價值上偏好陡化而非單純 receive front-end。</a:t>
            </a:r>
            <a:endParaRPr lang="en-US" sz="1270" dirty="0"/>
          </a:p>
        </p:txBody>
      </p:sp>
      <p:sp>
        <p:nvSpPr>
          <p:cNvPr id="25" name="Text 22"/>
          <p:cNvSpPr/>
          <p:nvPr/>
        </p:nvSpPr>
        <p:spPr>
          <a:xfrm>
            <a:off x="658368" y="601675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結論：承做 2s5s TWD IRS steepener，嚴格以 13bp 停損管理「央行提前升息」風險。</a:t>
            </a:r>
            <a:endParaRPr lang="en-US" sz="1430" dirty="0"/>
          </a:p>
        </p:txBody>
      </p:sp>
      <p:sp>
        <p:nvSpPr>
          <p:cNvPr id="26" name="Text 23"/>
          <p:cNvSpPr/>
          <p:nvPr/>
        </p:nvSpPr>
        <p:spPr>
          <a:xfrm>
            <a:off x="502920" y="6510528"/>
            <a:ext cx="8823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7A869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Sources: user-provided strategy report; levels and carry/roll from user outline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9921240" y="64739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7A869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TWD IRS 2s5s Steepener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利率交易策略報告：TWD IRS 2s5s Steepener</dc:title>
  <dc:subject>TWD IRS 2s5s steepener strategy</dc:subject>
  <dc:creator>OpenAI</dc:creator>
  <cp:lastModifiedBy>OpenAI</cp:lastModifiedBy>
  <cp:revision>1</cp:revision>
  <dcterms:created xsi:type="dcterms:W3CDTF">2026-06-15T21:05:55Z</dcterms:created>
  <dcterms:modified xsi:type="dcterms:W3CDTF">2026-06-15T21:05:55Z</dcterms:modified>
</cp:coreProperties>
</file>