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3"/>
    <p:sldMasterId id="2147483672" r:id="rId4"/>
    <p:sldMasterId id="2147483684" r:id="rId5"/>
    <p:sldMasterId id="2147483696" r:id="rId6"/>
    <p:sldMasterId id="2147483708" r:id="rId7"/>
    <p:sldMasterId id="2147483709" r:id="rId8"/>
    <p:sldMasterId id="2147483722" r:id="rId9"/>
    <p:sldMasterId id="2147483723" r:id="rId10"/>
    <p:sldMasterId id="2147483724" r:id="rId11"/>
    <p:sldMasterId id="2147483725" r:id="rId12"/>
  </p:sldMasterIdLst>
  <p:notesMasterIdLst>
    <p:notesMasterId r:id="rId14"/>
  </p:notesMasterIdLst>
  <p:handoutMasterIdLst>
    <p:handoutMasterId r:id="rId15"/>
  </p:handoutMasterIdLst>
  <p:sldIdLst>
    <p:sldId id="3951" r:id="rId13"/>
  </p:sldIdLst>
  <p:sldSz cx="9144000" cy="6858000" type="screen4x3"/>
  <p:notesSz cx="6797675" cy="9926320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42AA3BAE-0B5A-4CF3-9EE5-B8ACC2ADE216}">
          <p14:sldIdLst>
            <p14:sldId id="3951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陳柏龍" initials="陳柏龍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showAnimation="0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11111"/>
    <a:srgbClr val="CC00CC"/>
    <a:srgbClr val="0000FF"/>
    <a:srgbClr val="FF3300"/>
    <a:srgbClr val="00FF00"/>
    <a:srgbClr val="3333FF"/>
    <a:srgbClr val="800000"/>
    <a:srgbClr val="4D4D4D"/>
    <a:srgbClr val="4747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52" autoAdjust="0"/>
    <p:restoredTop sz="96000" autoAdjust="0"/>
  </p:normalViewPr>
  <p:slideViewPr>
    <p:cSldViewPr>
      <p:cViewPr varScale="1">
        <p:scale>
          <a:sx n="109" d="100"/>
          <a:sy n="109" d="100"/>
        </p:scale>
        <p:origin x="1080" y="96"/>
      </p:cViewPr>
      <p:guideLst>
        <p:guide orient="horz" pos="2169"/>
        <p:guide pos="280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4" d="100"/>
          <a:sy n="74" d="100"/>
        </p:scale>
        <p:origin x="-67" y="-158"/>
      </p:cViewPr>
      <p:guideLst>
        <p:guide orient="horz" pos="3140"/>
        <p:guide pos="208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9" Type="http://schemas.openxmlformats.org/officeDocument/2006/relationships/commentAuthors" Target="commentAuthors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.xml"/><Relationship Id="rId12" Type="http://schemas.openxmlformats.org/officeDocument/2006/relationships/slideMaster" Target="slideMasters/slideMaster11.xml"/><Relationship Id="rId11" Type="http://schemas.openxmlformats.org/officeDocument/2006/relationships/slideMaster" Target="slideMasters/slideMaster10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C:\Users\user\Downloads\twd%202y%20irs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zh-TW" sz="14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微軟正黑體" panose="020B0604030504040204" pitchFamily="34" charset="-120"/>
              </a:defRPr>
            </a:pPr>
            <a:r>
              <a:rPr sz="1400" b="1"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微軟正黑體" panose="020B0604030504040204" pitchFamily="34" charset="-120"/>
              </a:rPr>
              <a:t>市場隱含今年升息約</a:t>
            </a:r>
            <a:r>
              <a:rPr sz="1400" b="1"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微軟正黑體" panose="020B0604030504040204" pitchFamily="34" charset="-120"/>
              </a:rPr>
              <a:t>兩次、明年升息三次半碼</a:t>
            </a:r>
            <a:endParaRPr sz="1400" b="1">
              <a:latin typeface="微軟正黑體" panose="020B0604030504040204" pitchFamily="34" charset="-120"/>
              <a:ea typeface="微軟正黑體" panose="020B0604030504040204" pitchFamily="34" charset="-120"/>
              <a:cs typeface="微軟正黑體" panose="020B0604030504040204" pitchFamily="34" charset="-120"/>
              <a:sym typeface="微軟正黑體" panose="020B0604030504040204" pitchFamily="34" charset="-120"/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square"/>
            <c:size val="6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TW" sz="1200" b="1" i="0" u="none" strike="noStrike" kern="1200" baseline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  <a:sym typeface="Calibri" panose="020F0502020204030204" pitchFamily="34" charset="0"/>
                      </a:defRPr>
                    </a:pPr>
                    <a:r>
                      <a:rPr sz="120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  <a:sym typeface="Calibri" panose="020F0502020204030204" pitchFamily="34" charset="0"/>
                      </a:rPr>
                      <a:t>1.74%</a:t>
                    </a:r>
                    <a:endParaRPr sz="1200"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  <a:sym typeface="Calibri" panose="020F0502020204030204" pitchFamily="34" charset="0"/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TW" sz="12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  <a:sym typeface="Calibri" panose="020F0502020204030204" pitchFamily="34" charset="0"/>
                    </a:defRPr>
                  </a:pPr>
                </a:p>
              </c:txPr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TW" sz="12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  <a:sym typeface="Calibri" panose="020F0502020204030204" pitchFamily="34" charset="0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multiLvlStrRef>
              <c:f>'[twd 2y irs.xlsx]Table Data'!$D$3:$E$10</c:f>
              <c:multiLvlStrCache>
                <c:ptCount val="8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Q1</c:v>
                  </c:pt>
                  <c:pt idx="5">
                    <c:v>Q2</c:v>
                  </c:pt>
                  <c:pt idx="6">
                    <c:v>Q3</c:v>
                  </c:pt>
                  <c:pt idx="7">
                    <c:v>Q4</c:v>
                  </c:pt>
                </c:lvl>
                <c:lvl>
                  <c:pt idx="0">
                    <c:v>2026</c:v>
                  </c:pt>
                  <c:pt idx="4">
                    <c:v>2027</c:v>
                  </c:pt>
                </c:lvl>
              </c:multiLvlStrCache>
            </c:multiLvlStrRef>
          </c:cat>
          <c:val>
            <c:numRef>
              <c:f>'[twd 2y irs.xlsx]Table Data'!$F$3:$F$10</c:f>
              <c:numCache>
                <c:formatCode>0.000%</c:formatCode>
                <c:ptCount val="8"/>
                <c:pt idx="0">
                  <c:v>0.01678</c:v>
                </c:pt>
                <c:pt idx="1">
                  <c:v>0.01745</c:v>
                </c:pt>
                <c:pt idx="2" c:formatCode="0.00%">
                  <c:v>0.0185</c:v>
                </c:pt>
                <c:pt idx="3" c:formatCode="0.00%">
                  <c:v>0.0195</c:v>
                </c:pt>
                <c:pt idx="4" c:formatCode="0.00%">
                  <c:v>0.0205</c:v>
                </c:pt>
                <c:pt idx="5" c:formatCode="0.00%">
                  <c:v>0.0215</c:v>
                </c:pt>
                <c:pt idx="6" c:formatCode="0.00%">
                  <c:v>0.0225</c:v>
                </c:pt>
                <c:pt idx="7" c:formatCode="0.00%">
                  <c:v>0.0235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903886952"/>
        <c:axId val="796456255"/>
      </c:lineChart>
      <c:catAx>
        <c:axId val="903886952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TW" sz="11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pPr>
          </a:p>
        </c:txPr>
        <c:crossAx val="796456255"/>
        <c:crosses val="autoZero"/>
        <c:auto val="1"/>
        <c:lblAlgn val="ctr"/>
        <c:lblOffset val="100"/>
        <c:noMultiLvlLbl val="0"/>
      </c:catAx>
      <c:valAx>
        <c:axId val="796456255"/>
        <c:scaling>
          <c:orientation val="minMax"/>
          <c:min val="0.016"/>
        </c:scaling>
        <c:delete val="0"/>
        <c:axPos val="l"/>
        <c:numFmt formatCode="0.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TW" sz="1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defRPr>
            </a:pPr>
          </a:p>
        </c:txPr>
        <c:crossAx val="903886952"/>
        <c:crosses val="autoZero"/>
        <c:crossBetween val="between"/>
        <c:majorUnit val="0.002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/>
      </a:solidFill>
      <a:round/>
    </a:ln>
    <a:effectLst/>
  </c:spPr>
  <c:txPr>
    <a:bodyPr/>
    <a:lstStyle/>
    <a:p>
      <a:pPr>
        <a:defRPr lang="zh-TW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70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1640"/>
            <a:ext cx="2945976" cy="49499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700" y="9431640"/>
            <a:ext cx="2945976" cy="49499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EA90D26C-E35A-450B-90C7-84C2B9602168}" type="slidenum">
              <a:rPr lang="en-US" altLang="zh-TW"/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0645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9163" y="746125"/>
            <a:ext cx="4959350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0084" y="4714708"/>
            <a:ext cx="5437507" cy="44661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/>
          <a:p>
            <a:pPr lvl="0"/>
            <a:r>
              <a:rPr lang="zh-TW" altLang="en-US" noProof="0"/>
              <a:t>按一下以編輯母片</a:t>
            </a:r>
            <a:endParaRPr lang="zh-TW" altLang="en-US" noProof="0"/>
          </a:p>
          <a:p>
            <a:pPr lvl="1"/>
            <a:r>
              <a:rPr lang="zh-TW" altLang="en-US" noProof="0"/>
              <a:t>第二層</a:t>
            </a:r>
            <a:endParaRPr lang="zh-TW" altLang="en-US" noProof="0"/>
          </a:p>
          <a:p>
            <a:pPr lvl="2"/>
            <a:r>
              <a:rPr lang="zh-TW" altLang="en-US" noProof="0"/>
              <a:t>第三層</a:t>
            </a:r>
            <a:endParaRPr lang="zh-TW" altLang="en-US" noProof="0"/>
          </a:p>
          <a:p>
            <a:pPr lvl="3"/>
            <a:r>
              <a:rPr lang="zh-TW" altLang="en-US" noProof="0"/>
              <a:t>第四層</a:t>
            </a:r>
            <a:endParaRPr lang="zh-TW" altLang="en-US" noProof="0"/>
          </a:p>
          <a:p>
            <a:pPr lvl="4"/>
            <a:r>
              <a:rPr lang="zh-TW" altLang="en-US" noProof="0"/>
              <a:t>第五層</a:t>
            </a:r>
            <a:endParaRPr lang="zh-TW" altLang="en-US" noProof="0"/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7200"/>
            <a:ext cx="2945976" cy="49722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0645" y="9427200"/>
            <a:ext cx="2945976" cy="49722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60372AD-F29F-4D0F-B513-7219CBDC5F6C}" type="slidenum">
              <a:rPr lang="en-US" altLang="zh-TW"/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A91DC3-1E7A-4B25-8F56-B5B9998B32DD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824797-BBCB-46D5-B74F-32D725404A6B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3CE306-2D5A-4AB4-AC5D-5D21E1944430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9D7BD4-4153-4232-9FDF-0A95D9B5C8DE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BE1F83-3BEF-49AC-ABC8-8C6E80176E9C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52E88-0254-4B19-81B3-E8664451FBCF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1697D7-8013-4975-95E3-48F7F3F7499B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A8A6C-E419-4A2D-A59F-0183255F70EA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8F0E97-51B7-4FFA-9BFC-ED098C10D8ED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C0AC26-B1DC-4AE7-A939-642DE9D4B085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DB87F-1281-41B6-A636-95C78B523A08}" type="slidenum">
              <a:rPr lang="zh-TW" altLang="en-US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795C5F3-99EF-4E92-8313-B7FF534E2851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79C1600-8D42-4597-8CA4-003D095EE285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8B98E4D-4090-4CC7-9045-046950355E56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dirty="0"/>
              <a:t>按一下以編輯母片文字樣式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  <a:p>
            <a:pPr lvl="3"/>
            <a:r>
              <a:rPr lang="zh-TW" altLang="en-US" dirty="0"/>
              <a:t>第四層</a:t>
            </a:r>
            <a:endParaRPr lang="zh-TW" altLang="en-US" dirty="0"/>
          </a:p>
          <a:p>
            <a:pPr lvl="4"/>
            <a:r>
              <a:rPr lang="zh-TW" altLang="en-US" dirty="0"/>
              <a:t>第五層</a:t>
            </a:r>
            <a:endParaRPr lang="zh-TW" altLang="en-US" dirty="0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85D5151-29A4-4CB4-A045-9F637401C9A8}" type="slidenum">
              <a:rPr lang="zh-TW" altLang="en-US">
                <a:solidFill>
                  <a:srgbClr val="000000"/>
                </a:solidFill>
              </a:rPr>
            </a:fld>
            <a:endParaRPr lang="en-US" altLang="zh-TW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E6E22A7-EF76-4CC0-B8E4-4EB561235ED1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BADBB88C-6F0D-489F-9196-70DAAEBD32E3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A33A2C2-189D-4B97-A621-9D17102788CA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dirty="0"/>
              <a:t>按一下以編輯母片文字樣式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  <a:p>
            <a:pPr lvl="3"/>
            <a:r>
              <a:rPr lang="zh-TW" altLang="en-US" dirty="0"/>
              <a:t>第四層</a:t>
            </a:r>
            <a:endParaRPr lang="zh-TW" altLang="en-US" dirty="0"/>
          </a:p>
          <a:p>
            <a:pPr lvl="4"/>
            <a:r>
              <a:rPr lang="zh-TW" altLang="en-US" dirty="0"/>
              <a:t>第五層</a:t>
            </a:r>
            <a:endParaRPr lang="zh-TW" alt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8DDDBE6-A36A-4B7F-BE7F-AF040721802B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EC80421-F154-4EB7-BAB9-B8AC9CBEFC83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3B3FE45-7674-409D-812E-F0930564FA98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1F0156B-8B8C-4EE1-A506-9984D200E04F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A91DC3-1E7A-4B25-8F56-B5B9998B32DD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824797-BBCB-46D5-B74F-32D725404A6B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3CE306-2D5A-4AB4-AC5D-5D21E1944430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9D7BD4-4153-4232-9FDF-0A95D9B5C8DE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BE1F83-3BEF-49AC-ABC8-8C6E80176E9C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52E88-0254-4B19-81B3-E8664451FBCF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1697D7-8013-4975-95E3-48F7F3F7499B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A8A6C-E419-4A2D-A59F-0183255F70EA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8F0E97-51B7-4FFA-9BFC-ED098C10D8ED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C0AC26-B1DC-4AE7-A939-642DE9D4B085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DB87F-1281-41B6-A636-95C78B523A08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43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  <a:endParaRPr lang="zh-TW" altLang="en-US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9EB788-0AD9-4E98-A516-64653248E3DB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</a:lstStyle>
          <a:p>
            <a:r>
              <a:rPr lang="zh-TW" altLang="en-US" dirty="0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  <a:p>
            <a:pPr lvl="3"/>
            <a:r>
              <a:rPr lang="zh-TW" altLang="en-US" dirty="0"/>
              <a:t>第四層</a:t>
            </a:r>
            <a:endParaRPr lang="zh-TW" altLang="en-US" dirty="0"/>
          </a:p>
          <a:p>
            <a:pPr lvl="4"/>
            <a:r>
              <a:rPr lang="zh-TW" altLang="en-US" dirty="0"/>
              <a:t>第五層</a:t>
            </a:r>
            <a:endParaRPr lang="zh-TW" altLang="en-US" dirty="0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992E49-B35D-4BA4-A4A1-D07A03DA5610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18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F7D15B-E003-4EB9-A608-239C444D5E90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6BC68BE-B4B0-4564-B8AC-726B6F10D4A3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560" y="274638"/>
            <a:ext cx="8075240" cy="63408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zh-TW" altLang="en-US" dirty="0"/>
              <a:t>按一下以編輯母片標題樣式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7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8717D7-C8B0-44C5-A62F-3567BF53D398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FA067D-AD37-4A18-A34B-F0E66789EA77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A0777A-41B7-4B1E-A08A-E8D847463375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1" y="273068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993CA9-BA81-47AA-823D-8B709A5D2C45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6ADD22-6B71-41C3-A3B2-EF9911ADB281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9F7AEA-34EA-4C76-9A47-D6871C043AB0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56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56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0654D6-15C0-494A-B753-0640DB25B203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11188" y="274656"/>
            <a:ext cx="8075612" cy="58515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3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502D48-BB1D-4132-8A0E-4D78DE52EF59}" type="slidenum">
              <a:rPr lang="en-US" altLang="zh-TW"/>
            </a:fld>
            <a:endParaRPr lang="en-US" alt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3" Type="http://schemas.openxmlformats.org/officeDocument/2006/relationships/theme" Target="../theme/theme2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2" Type="http://schemas.openxmlformats.org/officeDocument/2006/relationships/theme" Target="../theme/theme3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0.xml"/><Relationship Id="rId6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6.xml"/><Relationship Id="rId2" Type="http://schemas.openxmlformats.org/officeDocument/2006/relationships/slideLayout" Target="../slideLayouts/slideLayout35.xml"/><Relationship Id="rId13" Type="http://schemas.openxmlformats.org/officeDocument/2006/relationships/theme" Target="../theme/theme4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3.xml"/><Relationship Id="rId1" Type="http://schemas.openxmlformats.org/officeDocument/2006/relationships/slideLayout" Target="../slideLayouts/slideLayout34.xml"/></Relationships>
</file>

<file path=ppt/slideMasters/_rels/slideMaster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53.xml"/><Relationship Id="rId8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8.xml"/><Relationship Id="rId3" Type="http://schemas.openxmlformats.org/officeDocument/2006/relationships/slideLayout" Target="../slideLayouts/slideLayout47.xml"/><Relationship Id="rId2" Type="http://schemas.openxmlformats.org/officeDocument/2006/relationships/slideLayout" Target="../slideLayouts/slideLayout46.xml"/><Relationship Id="rId12" Type="http://schemas.openxmlformats.org/officeDocument/2006/relationships/theme" Target="../theme/theme5.xml"/><Relationship Id="rId11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4.xml"/><Relationship Id="rId1" Type="http://schemas.openxmlformats.org/officeDocument/2006/relationships/slideLayout" Target="../slideLayouts/slideLayout4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image" Target="../media/image1.png"/></Relationships>
</file>

<file path=ppt/slideMasters/_rels/slideMaster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4.xml"/><Relationship Id="rId8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1.xml"/><Relationship Id="rId5" Type="http://schemas.openxmlformats.org/officeDocument/2006/relationships/slideLayout" Target="../slideLayouts/slideLayout60.xml"/><Relationship Id="rId4" Type="http://schemas.openxmlformats.org/officeDocument/2006/relationships/slideLayout" Target="../slideLayouts/slideLayout59.xml"/><Relationship Id="rId3" Type="http://schemas.openxmlformats.org/officeDocument/2006/relationships/slideLayout" Target="../slideLayouts/slideLayout58.xml"/><Relationship Id="rId2" Type="http://schemas.openxmlformats.org/officeDocument/2006/relationships/slideLayout" Target="../slideLayouts/slideLayout57.xml"/><Relationship Id="rId14" Type="http://schemas.openxmlformats.org/officeDocument/2006/relationships/theme" Target="../theme/theme7.xml"/><Relationship Id="rId13" Type="http://schemas.openxmlformats.org/officeDocument/2006/relationships/image" Target="../media/image1.png"/><Relationship Id="rId12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65.xml"/><Relationship Id="rId1" Type="http://schemas.openxmlformats.org/officeDocument/2006/relationships/slideLayout" Target="../slideLayouts/slideLayout56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image" Target="../media/image1.png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image" Target="../media/image1.png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image" Target="../media/image1.png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F21431A-0C06-4923-9B61-C55D1AEC9577}" type="slidenum">
              <a:rPr lang="zh-TW" altLang="en-US"/>
            </a:fld>
            <a:endParaRPr lang="en-US" altLang="zh-TW"/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TW" altLang="en-US" sz="1000">
                <a:solidFill>
                  <a:schemeClr val="bg2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  <a:endParaRPr lang="zh-TW" altLang="en-US" sz="1000">
              <a:solidFill>
                <a:schemeClr val="bg2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ea typeface="新細明體" panose="02020500000000000000" charset="-120"/>
            </a:endParaRPr>
          </a:p>
        </p:txBody>
      </p:sp>
      <p:pic>
        <p:nvPicPr>
          <p:cNvPr id="1030" name="Picture 7" descr="3"/>
          <p:cNvPicPr>
            <a:picLocks noChangeAspect="1" noChangeArrowheads="1"/>
          </p:cNvPicPr>
          <p:nvPr/>
        </p:nvPicPr>
        <p:blipFill>
          <a:blip r:embed="rId12"/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/>
            </a:lvl1pPr>
          </a:lstStyle>
          <a:p>
            <a:fld id="{32523EE1-814A-4436-A9F0-90FC08ED8A92}" type="slidenum">
              <a:rPr lang="zh-TW" altLang="en-US">
                <a:solidFill>
                  <a:srgbClr val="000000"/>
                </a:solidFill>
                <a:ea typeface="新細明體" panose="02020500000000000000" charset="-120"/>
              </a:rPr>
            </a:fld>
            <a:endParaRPr lang="en-US" altLang="zh-TW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</a:pPr>
            <a:r>
              <a:rPr lang="zh-TW" altLang="en-US" sz="100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  <a:endParaRPr lang="zh-TW" altLang="en-US" sz="1000">
              <a:solidFill>
                <a:srgbClr val="80808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pic>
        <p:nvPicPr>
          <p:cNvPr id="1090567" name="Picture 7" descr="3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997FB-EFBE-4ED6-A43F-DDA1512FD57C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E97A-62D1-41C7-936F-199E295F9AB2}" type="slidenum">
              <a:rPr lang="zh-TW" altLang="en-US" smtClean="0"/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F21431A-0C06-4923-9B61-C55D1AEC9577}" type="slidenum">
              <a:rPr lang="zh-TW" altLang="en-US">
                <a:solidFill>
                  <a:srgbClr val="000000"/>
                </a:solidFill>
              </a:rPr>
            </a:fld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TW" altLang="en-US" sz="100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  <a:endParaRPr lang="zh-TW" altLang="en-US" sz="1000">
              <a:solidFill>
                <a:srgbClr val="80808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pic>
        <p:nvPicPr>
          <p:cNvPr id="1030" name="Picture 7" descr="3"/>
          <p:cNvPicPr>
            <a:picLocks noChangeAspect="1" noChangeArrowheads="1"/>
          </p:cNvPicPr>
          <p:nvPr/>
        </p:nvPicPr>
        <p:blipFill>
          <a:blip r:embed="rId12"/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  <a:endParaRPr lang="zh-TW" altLang="en-US"/>
          </a:p>
          <a:p>
            <a:pPr lvl="1"/>
            <a:r>
              <a:rPr lang="zh-TW" altLang="en-US"/>
              <a:t>第二層</a:t>
            </a:r>
            <a:endParaRPr lang="zh-TW" altLang="en-US"/>
          </a:p>
          <a:p>
            <a:pPr lvl="2"/>
            <a:r>
              <a:rPr lang="zh-TW" altLang="en-US"/>
              <a:t>第三層</a:t>
            </a:r>
            <a:endParaRPr lang="zh-TW" altLang="en-US"/>
          </a:p>
          <a:p>
            <a:pPr lvl="3"/>
            <a:r>
              <a:rPr lang="zh-TW" altLang="en-US"/>
              <a:t>第四層</a:t>
            </a:r>
            <a:endParaRPr lang="zh-TW" altLang="en-US"/>
          </a:p>
          <a:p>
            <a:pPr lvl="4"/>
            <a:r>
              <a:rPr lang="zh-TW" altLang="en-US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EFF09E-4EA0-4518-A9E8-449DE34F8B74}" type="datetimeFigureOut">
              <a:rPr lang="zh-TW" altLang="en-US" smtClean="0"/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4C9021-A16D-4E5C-A421-A5275F523D45}" type="slidenum">
              <a:rPr lang="zh-TW" altLang="en-US" smtClean="0"/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spcBef>
                <a:spcPct val="0"/>
              </a:spcBef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  <a:endParaRPr lang="zh-TW" altLang="en-US" sz="975" b="1" dirty="0">
              <a:solidFill>
                <a:srgbClr val="80808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381750"/>
            <a:ext cx="468313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t" anchorCtr="0" compatLnSpc="1"/>
          <a:lstStyle>
            <a:lvl1pPr algn="r">
              <a:spcBef>
                <a:spcPct val="0"/>
              </a:spcBef>
              <a:defRPr sz="1200">
                <a:latin typeface="Arial" panose="020B0604020202020204" pitchFamily="3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A9CD9766-93A3-4E76-9B20-A4D620225CC1}" type="slidenum">
              <a:rPr lang="en-US" altLang="zh-TW"/>
            </a:fld>
            <a:endParaRPr lang="en-US" altLang="zh-TW" dirty="0"/>
          </a:p>
        </p:txBody>
      </p:sp>
      <p:sp>
        <p:nvSpPr>
          <p:cNvPr id="1027" name="Text Box 21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1" tIns="45710" rIns="91421" bIns="45710">
            <a:spAutoFit/>
          </a:bodyPr>
          <a:lstStyle>
            <a:lvl1pPr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1pPr>
            <a:lvl2pPr marL="742950" indent="-28575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2pPr>
            <a:lvl3pPr marL="11430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3pPr>
            <a:lvl4pPr marL="16002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4pPr>
            <a:lvl5pPr marL="20574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5pPr>
            <a:lvl6pPr marL="25146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6pPr>
            <a:lvl7pPr marL="29718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7pPr>
            <a:lvl8pPr marL="34290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8pPr>
            <a:lvl9pPr marL="38862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9pPr>
          </a:lstStyle>
          <a:p>
            <a:pPr algn="l" eaLnBrk="1" hangingPunct="1">
              <a:defRPr/>
            </a:pPr>
            <a:r>
              <a:rPr lang="zh-TW" altLang="en-US" sz="1000">
                <a:solidFill>
                  <a:schemeClr val="bg2"/>
                </a:solidFill>
                <a:latin typeface="標楷體" panose="03000509000000000000" pitchFamily="65" charset="-120"/>
              </a:rPr>
              <a:t>誠信  承諾  創新  合作</a:t>
            </a:r>
            <a:endParaRPr lang="zh-TW" altLang="en-US" sz="1000">
              <a:solidFill>
                <a:schemeClr val="bg2"/>
              </a:solidFill>
              <a:latin typeface="標楷體" panose="03000509000000000000" pitchFamily="65" charset="-120"/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/>
          </a:p>
        </p:txBody>
      </p:sp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ctr" anchorCtr="0" compatLnSpc="1"/>
          <a:lstStyle/>
          <a:p>
            <a:pPr lvl="0"/>
            <a:r>
              <a:rPr lang="zh-TW" altLang="en-US" dirty="0"/>
              <a:t>按一下以編輯母片標題樣式</a:t>
            </a:r>
            <a:endParaRPr lang="zh-TW" altLang="en-US" dirty="0"/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lang="zh-TW" altLang="en-US" sz="3000" b="1" smtClean="0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  <a:endParaRPr lang="zh-TW" altLang="en-US" sz="975" b="1" dirty="0">
              <a:solidFill>
                <a:srgbClr val="80808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  <a:endParaRPr lang="zh-TW" altLang="en-US" sz="975" b="1" dirty="0">
              <a:solidFill>
                <a:srgbClr val="80808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  <a:endParaRPr lang="zh-TW" altLang="en-US" sz="975" b="1" dirty="0">
              <a:solidFill>
                <a:srgbClr val="80808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  <a:endParaRPr lang="zh-TW" altLang="en-US"/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  <a:endParaRPr lang="zh-TW" altLang="en-US" dirty="0"/>
          </a:p>
          <a:p>
            <a:pPr lvl="1"/>
            <a:r>
              <a:rPr lang="zh-TW" altLang="en-US" dirty="0"/>
              <a:t>第二層</a:t>
            </a:r>
            <a:endParaRPr lang="zh-TW" altLang="en-US" dirty="0"/>
          </a:p>
          <a:p>
            <a:pPr lvl="2"/>
            <a:r>
              <a:rPr lang="zh-TW" altLang="en-US" dirty="0"/>
              <a:t>第三層</a:t>
            </a:r>
            <a:endParaRPr lang="zh-TW" altLang="en-US" dirty="0"/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  <a:endParaRPr lang="zh-TW" altLang="en-US" sz="975" b="1" dirty="0">
              <a:solidFill>
                <a:srgbClr val="80808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7.xml"/><Relationship Id="rId1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188" y="188640"/>
            <a:ext cx="8075612" cy="719410"/>
          </a:xfrm>
        </p:spPr>
        <p:txBody>
          <a:bodyPr/>
          <a:lstStyle/>
          <a:p>
            <a:pPr marL="984250" indent="-984250"/>
            <a:r>
              <a:rPr lang="zh-TW" altLang="en-US" sz="2500" dirty="0"/>
              <a:t>交易策略：</a:t>
            </a:r>
            <a:r>
              <a:rPr lang="en-US" altLang="zh-TW" sz="2500" dirty="0"/>
              <a:t>TWD IRS pay 6s, rec 2y</a:t>
            </a:r>
            <a:endParaRPr lang="en-US" altLang="zh-TW" sz="25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34829" y="1412776"/>
            <a:ext cx="8075612" cy="3168352"/>
          </a:xfrm>
        </p:spPr>
        <p:txBody>
          <a:bodyPr/>
          <a:lstStyle/>
          <a:p>
            <a:endParaRPr lang="zh-TW" altLang="zh-TW" sz="2000" dirty="0">
              <a:effectLst/>
              <a:latin typeface="+mj-ea"/>
              <a:ea typeface="+mj-ea"/>
              <a:cs typeface="新細明體" panose="02020500000000000000" charset="-120"/>
            </a:endParaRPr>
          </a:p>
          <a:p>
            <a:pPr marL="0" indent="0">
              <a:buNone/>
            </a:pPr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49" name="文字方塊 48"/>
          <p:cNvSpPr txBox="1"/>
          <p:nvPr/>
        </p:nvSpPr>
        <p:spPr>
          <a:xfrm>
            <a:off x="226060" y="967135"/>
            <a:ext cx="8460740" cy="369267"/>
          </a:xfrm>
          <a:prstGeom prst="roundRect">
            <a:avLst/>
          </a:prstGeom>
          <a:solidFill>
            <a:srgbClr val="2E75B6"/>
          </a:solidFill>
        </p:spPr>
        <p:txBody>
          <a:bodyPr wrap="square" tIns="36000" bIns="3600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TW" alt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認為央行貨幣政策最終不如市場預期激進</a:t>
            </a:r>
            <a:endParaRPr kumimoji="0" lang="zh-TW" altLang="en-US" sz="160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內容版面配置區 2"/>
          <p:cNvSpPr>
            <a:spLocks noGrp="1"/>
          </p:cNvSpPr>
          <p:nvPr/>
        </p:nvSpPr>
        <p:spPr>
          <a:xfrm>
            <a:off x="166370" y="1351280"/>
            <a:ext cx="8981440" cy="3168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21" tIns="45710" rIns="91421" bIns="45710" numCol="1" anchor="t" anchorCtr="0" compatLnSpc="1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4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0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9pPr>
          </a:lstStyle>
          <a:p>
            <a:r>
              <a:rPr lang="zh-TW" altLang="en-US" sz="2000" dirty="0">
                <a:latin typeface="+mj-ea"/>
                <a:ea typeface="+mj-ea"/>
              </a:rPr>
              <a:t>楊金龍：關鍵在第二季</a:t>
            </a:r>
            <a:endParaRPr lang="zh-TW" altLang="en-US" sz="2000" dirty="0">
              <a:latin typeface="+mj-ea"/>
              <a:ea typeface="+mj-ea"/>
            </a:endParaRPr>
          </a:p>
          <a:p>
            <a:pPr marL="0" indent="0">
              <a:buNone/>
            </a:pPr>
            <a:r>
              <a:rPr lang="zh-TW" altLang="en-US" sz="2000" dirty="0">
                <a:latin typeface="+mj-ea"/>
                <a:ea typeface="+mj-ea"/>
              </a:rPr>
              <a:t>      →</a:t>
            </a:r>
            <a:r>
              <a:rPr lang="en-US" altLang="zh-TW" sz="2000" dirty="0">
                <a:latin typeface="+mj-ea"/>
                <a:ea typeface="+mj-ea"/>
              </a:rPr>
              <a:t>Pay 6s IRS</a:t>
            </a:r>
            <a:r>
              <a:rPr lang="zh-TW" altLang="en-US" sz="2000" dirty="0">
                <a:latin typeface="+mj-ea"/>
                <a:ea typeface="+mj-ea"/>
              </a:rPr>
              <a:t>預防央行預防性升息</a:t>
            </a:r>
            <a:endParaRPr lang="zh-TW" altLang="en-US" sz="2000" dirty="0">
              <a:latin typeface="+mj-ea"/>
              <a:ea typeface="+mj-ea"/>
            </a:endParaRPr>
          </a:p>
          <a:p>
            <a:endParaRPr lang="zh-TW" altLang="en-US" sz="1000" dirty="0">
              <a:latin typeface="+mj-ea"/>
              <a:ea typeface="+mj-ea"/>
            </a:endParaRPr>
          </a:p>
          <a:p>
            <a:r>
              <a:rPr lang="zh-TW" altLang="en-US" sz="2000" dirty="0">
                <a:latin typeface="+mj-ea"/>
                <a:ea typeface="+mj-ea"/>
              </a:rPr>
              <a:t>但</a:t>
            </a:r>
            <a:r>
              <a:rPr lang="en-US" altLang="zh-TW" sz="2000" dirty="0">
                <a:latin typeface="+mj-ea"/>
                <a:ea typeface="+mj-ea"/>
              </a:rPr>
              <a:t>2Y IRS</a:t>
            </a:r>
            <a:r>
              <a:rPr lang="zh-TW" altLang="en-US" sz="2000" dirty="0">
                <a:latin typeface="+mj-ea"/>
                <a:ea typeface="+mj-ea"/>
              </a:rPr>
              <a:t>隱含未來升息路徑過於激進</a:t>
            </a:r>
            <a:endParaRPr lang="zh-TW" altLang="en-US" sz="2000" dirty="0">
              <a:latin typeface="+mj-ea"/>
              <a:ea typeface="+mj-ea"/>
            </a:endParaRPr>
          </a:p>
          <a:p>
            <a:pPr marL="0" indent="0">
              <a:buNone/>
            </a:pPr>
            <a:r>
              <a:rPr lang="zh-TW" altLang="en-US" sz="2000" dirty="0">
                <a:latin typeface="+mj-ea"/>
                <a:ea typeface="+mj-ea"/>
              </a:rPr>
              <a:t>      →央行管控輸入性通膨：匯率</a:t>
            </a:r>
            <a:r>
              <a:rPr lang="en-US" altLang="zh-TW" sz="2000" dirty="0">
                <a:latin typeface="+mj-ea"/>
                <a:ea typeface="+mj-ea"/>
              </a:rPr>
              <a:t> &gt; </a:t>
            </a:r>
            <a:r>
              <a:rPr lang="zh-TW" altLang="en-US" sz="2000" dirty="0">
                <a:latin typeface="+mj-ea"/>
                <a:ea typeface="+mj-ea"/>
              </a:rPr>
              <a:t>利率</a:t>
            </a:r>
            <a:endParaRPr lang="zh-TW" altLang="en-US" sz="2000" dirty="0">
              <a:latin typeface="+mj-ea"/>
              <a:ea typeface="+mj-ea"/>
            </a:endParaRPr>
          </a:p>
          <a:p>
            <a:pPr marL="0" indent="0">
              <a:buNone/>
            </a:pPr>
            <a:r>
              <a:rPr lang="en-US" altLang="zh-TW" sz="2000" dirty="0">
                <a:latin typeface="+mj-ea"/>
                <a:ea typeface="+mj-ea"/>
              </a:rPr>
              <a:t>      </a:t>
            </a:r>
            <a:r>
              <a:rPr lang="zh-TW" altLang="en-US" sz="2000" dirty="0">
                <a:latin typeface="+mj-ea"/>
                <a:ea typeface="+mj-ea"/>
              </a:rPr>
              <a:t>→</a:t>
            </a:r>
            <a:r>
              <a:rPr lang="en-US" altLang="zh-TW" sz="2000" dirty="0">
                <a:latin typeface="+mj-ea"/>
                <a:ea typeface="+mj-ea"/>
              </a:rPr>
              <a:t>3/19</a:t>
            </a:r>
            <a:r>
              <a:rPr lang="zh-TW" altLang="en-US" sz="2000" dirty="0">
                <a:latin typeface="+mj-ea"/>
                <a:ea typeface="+mj-ea"/>
              </a:rPr>
              <a:t>時楊金龍提到市場</a:t>
            </a:r>
            <a:r>
              <a:rPr lang="en-US" altLang="zh-TW" sz="2000" dirty="0">
                <a:latin typeface="+mj-ea"/>
                <a:ea typeface="+mj-ea"/>
              </a:rPr>
              <a:t>overreaction</a:t>
            </a:r>
            <a:endParaRPr lang="en-US" altLang="zh-TW" sz="2000" dirty="0">
              <a:latin typeface="+mj-ea"/>
              <a:ea typeface="+mj-ea"/>
            </a:endParaRPr>
          </a:p>
          <a:p>
            <a:endParaRPr lang="zh-TW" altLang="en-US" sz="2000" dirty="0">
              <a:latin typeface="+mj-ea"/>
              <a:ea typeface="+mj-ea"/>
            </a:endParaRPr>
          </a:p>
          <a:p>
            <a:r>
              <a:rPr lang="en-US" altLang="zh-TW" sz="2000" dirty="0">
                <a:latin typeface="+mj-ea"/>
                <a:ea typeface="+mj-ea"/>
              </a:rPr>
              <a:t>TWD IRS</a:t>
            </a:r>
            <a:r>
              <a:rPr lang="zh-TW" altLang="en-US" sz="2000" dirty="0">
                <a:latin typeface="+mj-ea"/>
                <a:ea typeface="+mj-ea"/>
              </a:rPr>
              <a:t>目前各年期利率</a:t>
            </a:r>
            <a:endParaRPr lang="zh-TW" altLang="en-US" sz="20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3M TAIBOR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1.678%</a:t>
            </a:r>
            <a:endParaRPr lang="en-US" altLang="zh-TW" sz="16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6S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1.715%</a:t>
            </a:r>
            <a:endParaRPr lang="en-US" altLang="zh-TW" sz="16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1Y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1.805%</a:t>
            </a:r>
            <a:endParaRPr lang="en-US" altLang="zh-TW" sz="16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2Y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2.00%</a:t>
            </a:r>
            <a:endParaRPr lang="en-US" altLang="zh-TW" sz="1600" dirty="0">
              <a:latin typeface="+mj-ea"/>
              <a:ea typeface="+mj-ea"/>
            </a:endParaRPr>
          </a:p>
          <a:p>
            <a:pPr marL="457200" lvl="1" indent="0">
              <a:buNone/>
            </a:pPr>
            <a:r>
              <a:rPr lang="en-US" altLang="zh-TW" sz="1600" dirty="0">
                <a:latin typeface="+mj-ea"/>
                <a:ea typeface="+mj-ea"/>
              </a:rPr>
              <a:t>      </a:t>
            </a:r>
            <a:endParaRPr lang="en-US" altLang="zh-TW" sz="16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zh-TW" sz="1600" dirty="0">
              <a:latin typeface="+mj-ea"/>
              <a:ea typeface="+mj-ea"/>
            </a:endParaRPr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graphicFrame>
        <p:nvGraphicFramePr>
          <p:cNvPr id="4" name="圖表 3"/>
          <p:cNvGraphicFramePr/>
          <p:nvPr/>
        </p:nvGraphicFramePr>
        <p:xfrm>
          <a:off x="3519170" y="3406775"/>
          <a:ext cx="5472430" cy="34042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3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4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6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7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公正">
      <a:majorFont>
        <a:latin typeface="Franklin Gothic Book"/>
        <a:ea typeface=""/>
        <a:cs typeface=""/>
        <a:font script="Grek" typeface="Calibri"/>
        <a:font script="Cyrl" typeface="Calibri"/>
        <a:font script="Jpan" typeface="HGｺﾞｼｯｸM"/>
        <a:font script="Hang" typeface="바탕"/>
        <a:font script="Hans" typeface="幼圆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erpetua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defRPr kumimoji="1" lang="zh-TW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標楷體" panose="03000509000000000000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defRPr kumimoji="1" lang="zh-TW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標楷體" panose="03000509000000000000" pitchFamily="65" charset="-120"/>
          </a:defRPr>
        </a:defPPr>
      </a:lstStyle>
    </a:lnDef>
    <a:txDef>
      <a:spPr bwMode="auto">
        <a:noFill/>
        <a:ln>
          <a:noFill/>
        </a:ln>
      </a:spPr>
      <a:bodyPr>
        <a:spAutoFit/>
      </a:bodyPr>
      <a:lstStyle>
        <a:defPPr algn="l" eaLnBrk="1" hangingPunct="1">
          <a:defRPr sz="1600" dirty="0"/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8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9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10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11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218</Words>
  <Application>WPS Presentation</Application>
  <PresentationFormat>如螢幕大小 (4:3)</PresentationFormat>
  <Paragraphs>26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11</vt:i4>
      </vt:variant>
      <vt:variant>
        <vt:lpstr>幻灯片标题</vt:lpstr>
      </vt:variant>
      <vt:variant>
        <vt:i4>1</vt:i4>
      </vt:variant>
    </vt:vector>
  </HeadingPairs>
  <TitlesOfParts>
    <vt:vector size="24" baseType="lpstr">
      <vt:lpstr>Arial</vt:lpstr>
      <vt:lpstr>新細明體</vt:lpstr>
      <vt:lpstr>Wingdings</vt:lpstr>
      <vt:lpstr>新細明體</vt:lpstr>
      <vt:lpstr>標楷體</vt:lpstr>
      <vt:lpstr>微軟正黑體</vt:lpstr>
      <vt:lpstr>Calibri</vt:lpstr>
      <vt:lpstr>Microsoft YaHei</vt:lpstr>
      <vt:lpstr>SimSun</vt:lpstr>
      <vt:lpstr>Arial Unicode MS</vt:lpstr>
      <vt:lpstr>Perpetua</vt:lpstr>
      <vt:lpstr>Franklin Gothic Book</vt:lpstr>
      <vt:lpstr>3_自訂設計</vt:lpstr>
      <vt:lpstr>4_自訂設計</vt:lpstr>
      <vt:lpstr>自訂設計</vt:lpstr>
      <vt:lpstr>6_自訂設計</vt:lpstr>
      <vt:lpstr>1_自訂設計</vt:lpstr>
      <vt:lpstr>7_自訂設計</vt:lpstr>
      <vt:lpstr>5_自訂設計</vt:lpstr>
      <vt:lpstr>8_自訂設計</vt:lpstr>
      <vt:lpstr>9_自訂設計</vt:lpstr>
      <vt:lpstr>10_自訂設計</vt:lpstr>
      <vt:lpstr>11_自訂設計</vt:lpstr>
      <vt:lpstr>交易策略：TWD IRS pay 6s, rec 2y</vt:lpstr>
    </vt:vector>
  </TitlesOfParts>
  <Company>tsb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870705</dc:creator>
  <cp:lastModifiedBy>user</cp:lastModifiedBy>
  <cp:revision>6179</cp:revision>
  <cp:lastPrinted>2025-07-21T05:27:00Z</cp:lastPrinted>
  <dcterms:created xsi:type="dcterms:W3CDTF">2004-04-09T03:27:00Z</dcterms:created>
  <dcterms:modified xsi:type="dcterms:W3CDTF">2026-05-03T16:29:47Z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1028-10.8.0.6003</vt:lpwstr>
  </property>
</Properties>
</file>