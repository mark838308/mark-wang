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ffdbd145-6fbe-107a-57f6-0f09f19c77a9}">
          <p14:sldIdLst>
            <p14:sldId id="256"/>
          </p14:sldIdLst>
        </p14:section>
        <p14:section name="總覽" id="{c57add6c-f612-73e9-298f-c149b8bd0e58}">
          <p14:sldIdLst>
            <p14:sldId id="257"/>
            <p14:sldId id="258"/>
          </p14:sldIdLst>
        </p14:section>
        <p14:section name="A 政治與財政" id="{c580540a-7693-7835-7542-66e620f1e93e}">
          <p14:sldIdLst>
            <p14:sldId id="259"/>
            <p14:sldId id="260"/>
            <p14:sldId id="261"/>
            <p14:sldId id="262"/>
            <p14:sldId id="263"/>
          </p14:sldIdLst>
        </p14:section>
        <p14:section name="B 法國公債" id="{7a284c7f-f225-8744-c047-9c1b773cc908}">
          <p14:sldIdLst>
            <p14:sldId id="264"/>
            <p14:sldId id="265"/>
            <p14:sldId id="266"/>
          </p14:sldIdLst>
        </p14:section>
        <p14:section name="C 外匯" id="{48f5cf21-e2fa-35e9-a4d6-86102a3aaf4f}">
          <p14:sldIdLst>
            <p14:sldId id="267"/>
            <p14:sldId id="268"/>
          </p14:sldIdLst>
        </p14:section>
        <p14:section name="D 股票與銀行" id="{04149830-2197-ff53-4d13-32d42773c64a}">
          <p14:sldIdLst>
            <p14:sldId id="269"/>
          </p14:sldIdLst>
        </p14:section>
        <p14:section name="E 信用債" id="{ea8f0d07-21d2-8963-3c74-ef4db19416b1}">
          <p14:sldIdLst>
            <p14:sldId id="270"/>
          </p14:sldIdLst>
        </p14:section>
        <p14:section name="結語" id="{9358b9e9-665d-b0a6-7f6f-a72fc15a851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405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4050"/>
                </a:solidFill>
                <a:latin typeface="+mn-lt"/>
              </a:rPr>
              <a:t>赤字路徑（% GDP）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赤字</c:v>
                </c:pt>
              </c:strCache>
            </c:strRef>
          </c:tx>
          <c:spPr>
            <a:solidFill>
              <a:srgbClr val="B65A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65A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50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A9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3A9C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2026
預估</c:v>
                  </c:pt>
                  <c:pt idx="1">
                    <c:v>2027
政府目標</c:v>
                  </c:pt>
                  <c:pt idx="2">
                    <c:v>2030
RN 上限</c:v>
                  </c:pt>
                  <c:pt idx="3">
                    <c:v>2032
RN 上限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</c:v>
                </c:pt>
                <c:pt idx="1">
                  <c:v>5</c:v>
                </c:pt>
                <c:pt idx="2">
                  <c:v>3</c:v>
                </c:pt>
                <c:pt idx="3">
                  <c:v>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200" u="none">
                  <a:solidFill>
                    <a:srgbClr val="3A40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050"/>
                </a:solidFill>
                <a:latin typeface="+mn-lt"/>
              </a:defRPr>
            </a:pPr>
            <a:endParaRPr lang="zh-TW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.5"/>
          <c:min val="0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484"/>
                </a:solidFill>
                <a:latin typeface="+mn-lt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405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4050"/>
                </a:solidFill>
                <a:latin typeface="+mn-lt"/>
              </a:rPr>
              <a:t>初級財政餘額（% GDP）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初級餘額</c:v>
                </c:pt>
              </c:strCache>
            </c:strRef>
          </c:tx>
          <c:spPr>
            <a:solidFill>
              <a:srgbClr val="34507E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65A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50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507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目前</c:v>
                  </c:pt>
                  <c:pt idx="1">
                    <c:v>穩債所需（下限）</c:v>
                  </c:pt>
                  <c:pt idx="2">
                    <c:v>穩債所需（上限）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-3</c:v>
                </c:pt>
                <c:pt idx="1">
                  <c:v>0.5</c:v>
                </c:pt>
                <c:pt idx="2">
                  <c:v>1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1" i="0" strike="noStrike" sz="1200" u="none">
                  <a:solidFill>
                    <a:srgbClr val="3A40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050"/>
                </a:solidFill>
                <a:latin typeface="+mn-lt"/>
              </a:defRPr>
            </a:pPr>
            <a:endParaRPr lang="zh-TW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-4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484"/>
                </a:solidFill>
                <a:latin typeface="+mn-lt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歸因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65A5E"/>
              </a:solidFill>
              <a:effectLst/>
            </c:spPr>
          </c:dPt>
          <c:dPt>
            <c:idx val="1"/>
            <c:bubble3D val="0"/>
            <c:spPr>
              <a:solidFill>
                <a:srgbClr val="34507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法國特有因素</c:v>
                </c:pt>
                <c:pt idx="1">
                  <c:v>全球因素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33.3</c:v>
                </c:pt>
                <c:pt idx="1">
                  <c:v>66.7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405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4050"/>
                </a:solidFill>
                <a:latin typeface="+mn-lt"/>
              </a:rPr>
              <a:t>10 年期 OAT–Bund 利差（bp）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AFB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最佳情境（&lt;100）</c:v>
                  </c:pt>
                  <c:pt idx="1">
                    <c:v>2011–12 常態（120–130）</c:v>
                  </c:pt>
                  <c:pt idx="2">
                    <c:v>近期高點（150–160）</c:v>
                  </c:pt>
                  <c:pt idx="3">
                    <c:v>UBS 買進區（160–170）</c:v>
                  </c:pt>
                  <c:pt idx="4">
                    <c:v>2011–12 峰值（170–180）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120</c:v>
                </c:pt>
                <c:pt idx="2">
                  <c:v>150</c:v>
                </c:pt>
                <c:pt idx="3">
                  <c:v>160</c:v>
                </c:pt>
                <c:pt idx="4">
                  <c:v>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最佳情境（&lt;100）</c:v>
                </c:pt>
              </c:strCache>
            </c:strRef>
          </c:tx>
          <c:spPr>
            <a:solidFill>
              <a:srgbClr val="93A9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最佳情境（&lt;100）</c:v>
                  </c:pt>
                  <c:pt idx="1">
                    <c:v>2011–12 常態（120–130）</c:v>
                  </c:pt>
                  <c:pt idx="2">
                    <c:v>近期高點（150–160）</c:v>
                  </c:pt>
                  <c:pt idx="3">
                    <c:v>UBS 買進區（160–170）</c:v>
                  </c:pt>
                  <c:pt idx="4">
                    <c:v>2011–12 峰值（170–180）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2011–12 常態（120–130）</c:v>
                </c:pt>
              </c:strCache>
            </c:strRef>
          </c:tx>
          <c:spPr>
            <a:solidFill>
              <a:srgbClr val="A9AE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最佳情境（&lt;100）</c:v>
                  </c:pt>
                  <c:pt idx="1">
                    <c:v>2011–12 常態（120–130）</c:v>
                  </c:pt>
                  <c:pt idx="2">
                    <c:v>近期高點（150–160）</c:v>
                  </c:pt>
                  <c:pt idx="3">
                    <c:v>UBS 買進區（160–170）</c:v>
                  </c:pt>
                  <c:pt idx="4">
                    <c:v>2011–12 峰值（170–180）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近期高點（150–160）</c:v>
                </c:pt>
              </c:strCache>
            </c:strRef>
          </c:tx>
          <c:spPr>
            <a:solidFill>
              <a:srgbClr val="D49A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最佳情境（&lt;100）</c:v>
                  </c:pt>
                  <c:pt idx="1">
                    <c:v>2011–12 常態（120–130）</c:v>
                  </c:pt>
                  <c:pt idx="2">
                    <c:v>近期高點（150–160）</c:v>
                  </c:pt>
                  <c:pt idx="3">
                    <c:v>UBS 買進區（160–170）</c:v>
                  </c:pt>
                  <c:pt idx="4">
                    <c:v>2011–12 峰值（170–180）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UBS 買進區（160–170）</c:v>
                </c:pt>
              </c:strCache>
            </c:strRef>
          </c:tx>
          <c:spPr>
            <a:solidFill>
              <a:srgbClr val="3450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最佳情境（&lt;100）</c:v>
                  </c:pt>
                  <c:pt idx="1">
                    <c:v>2011–12 常態（120–130）</c:v>
                  </c:pt>
                  <c:pt idx="2">
                    <c:v>近期高點（150–160）</c:v>
                  </c:pt>
                  <c:pt idx="3">
                    <c:v>UBS 買進區（160–170）</c:v>
                  </c:pt>
                  <c:pt idx="4">
                    <c:v>2011–12 峰值（170–180）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10</c:v>
                </c:pt>
                <c:pt idx="4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2011–12 峰值（170–180）</c:v>
                </c:pt>
              </c:strCache>
            </c:strRef>
          </c:tx>
          <c:spPr>
            <a:solidFill>
              <a:srgbClr val="7E85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最佳情境（&lt;100）</c:v>
                  </c:pt>
                  <c:pt idx="1">
                    <c:v>2011–12 常態（120–130）</c:v>
                  </c:pt>
                  <c:pt idx="2">
                    <c:v>近期高點（150–160）</c:v>
                  </c:pt>
                  <c:pt idx="3">
                    <c:v>UBS 買進區（160–170）</c:v>
                  </c:pt>
                  <c:pt idx="4">
                    <c:v>2011–12 峰值（170–180）</c:v>
                  </c:pt>
                </c:lvl>
              </c:multiLvlStrCache>
            </c:multiLvlStrRef>
          </c:cat>
          <c:val>
            <c:numRef>
              <c:f>Sheet1!$G$2:$G$6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3A405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050"/>
                </a:solidFill>
                <a:latin typeface="+mn-lt"/>
              </a:defRPr>
            </a:pPr>
            <a:endParaRPr lang="zh-TW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60"/>
        </c:scaling>
        <c:delete val="0"/>
        <c:axPos val="b"/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484"/>
                </a:solidFill>
                <a:latin typeface="+mn-lt"/>
              </a:defRPr>
            </a:pPr>
            <a:endParaRPr lang="zh-TW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405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4050"/>
                </a:solidFill>
                <a:latin typeface="+mn-lt"/>
              </a:rPr>
              <a:t>EUR/USD 參考價位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EUR/USD</c:v>
                </c:pt>
              </c:strCache>
            </c:strRef>
          </c:tx>
          <c:spPr>
            <a:solidFill>
              <a:srgbClr val="B65A5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65A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50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3A9C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2017 低點</c:v>
                  </c:pt>
                  <c:pt idx="1">
                    <c:v>UBS 年底目標</c:v>
                  </c:pt>
                  <c:pt idx="2">
                    <c:v>2015 年後均值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1.05</c:v>
                </c:pt>
                <c:pt idx="1">
                  <c:v>1.12</c:v>
                </c:pt>
                <c:pt idx="2">
                  <c:v>1.122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3A40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050"/>
                </a:solidFill>
                <a:latin typeface="+mn-lt"/>
              </a:defRPr>
            </a:pPr>
            <a:endParaRPr lang="zh-TW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1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484"/>
                </a:solidFill>
                <a:latin typeface="+mn-lt"/>
              </a:defRPr>
            </a:pPr>
            <a:endParaRPr lang="zh-TW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A405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A4050"/>
                </a:solidFill>
                <a:latin typeface="+mn-lt"/>
              </a:rPr>
              <a:t>銀行槓桿（倍）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槓桿</c:v>
                </c:pt>
              </c:strCache>
            </c:strRef>
          </c:tx>
          <c:spPr>
            <a:solidFill>
              <a:srgbClr val="A9AEB8"/>
            </a:solidFill>
            <a:effectLst/>
          </c:spPr>
          <c:invertIfNegative val="0"/>
          <c:dLbls>
            <c:numFmt formatCode="0&quot;倍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3A405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AE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507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金融海嘯時期</c:v>
                  </c:pt>
                  <c:pt idx="1">
                    <c:v>目前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</c:v>
                </c:pt>
              </c:numCache>
            </c:numRef>
          </c:val>
        </c:ser>
        <c:dLbls>
          <c:numFmt formatCode="0&quot;倍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3A405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4050"/>
                </a:solidFill>
                <a:latin typeface="+mn-lt"/>
              </a:defRPr>
            </a:pPr>
            <a:endParaRPr lang="zh-TW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9525" cap="flat">
              <a:solidFill>
                <a:srgbClr val="E7E9EE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484"/>
                </a:solidFill>
                <a:latin typeface="+mn-lt"/>
              </a:defRPr>
            </a:pPr>
            <a:endParaRPr lang="zh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本簡報整理自使用者提供的 UBS2 版逐字稿（中英對照）。數字以英文原文為準；中文譯稿另加、英文未出現的數字於最後一頁標示。內容為瑞銀觀點整理，非投資建議。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出自逐字稿〈出場角色簡介〉。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2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依各段發言整理。法國公債：De Bock 9 月初做空，利差升至 150–160bp 後轉中性。周邊國：建議減碼利差。外匯：Jalinoos 認為政治膠著不利歐元、瑞郎為有效避險。股票：Fowler 認為銀行與法國資產回檔 10% 已過度反映風險。信用：Morrison-Jones 對歐洲 HY 戰術性看多；法國 IG 看好全球化、非週期性發行人。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3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Huefner：中間派仍有機會（2016 年同期馬克宏尚未參選、民調第三約 14%；坎城市長 Lisnard 民調上升；社會黨初選已收窄人選）。主持人：2027 年 4/18、5/2 總統大選，另有國會選舉。Huefner：國會 577 選區兩輪投票，三種結果；碎片化下實質財政整頓困難得多。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4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Huefner：退休年齡依年資降至 60 或 62 歲，每年成本最高 GDP 1–1.5%；另提資本型養老金支柱。承諾 2030 年前赤字低於 3%、2032 年前低於 2.5%，以公投導入黃金財政法則，憲法委員會可否決不合格預算。2032 年前累計削減約 4.5% GDP（每年約 0.8%），財源為收緊移民、調降歐盟預算繳款、打擊加值稅詐欺。細節待 10/24–25 RN 黨大會；每年 0.8% 的整頓 1979 年以來僅 8 次、從未連續兩年。2026、2027 數字為 Huefner 所述今年約 5.4%、明年目標 5%。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5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Huefner：今年赤字約 5.4%，明年目標 5%。基準模型下債務率每年上升 1–2 個百分點。穩定債務需初級盈餘 0.5–1% GDP；目前初級赤字接近 3%，故需約 3.5% GDP 的整頓，相當於達到義大利目前的水準。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6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Huefner：目前主要是法國特有的財政問題；義大利維持初級盈餘，希臘、葡萄牙、西班牙債務率下降。但與 2012 年不同，承壓的是歐元區第二大經濟體。制度防護網更完備：ESM、TPI、單一銀行監管、單一清算基金。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7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Huefner：ECB 不會迅速或先發制人介入。TPI 用於二級市場購債、無事前額度上限，但須該國具可持續財政與總體政策；EDP 國家須遵守調整承諾；非為國內財政失誤紓困。道德風險使提早啟動困難，市場壓力需遠高於現水準；若外溢威脅其他成員國，ECB 才有更大理由介入。OMT 需 ESM 計畫，政治上不可行。TPI 設計上可隔離利差、同時升息；QT 無法單獨為法國調整（capital key），僅在全歐衝擊時才會重新評估。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8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De Bock：以 2024 年國會選舉為基準，約三分之一的利差擴大反映法國特有因素（選前未整頓、維持擴張支出；預算難共識、須動用 49.3 條），其餘三分之二來自全球貨幣緊縮、高利率與美債殖利率外溢。10 月 1 日法國 10 年期殖利率快速突破 4.5%，觸發槓桿套利停損（如做多 OAT 或 BTP、對作利率交換）。中文譯稿另稱 10 年期利差走擴約 150bp，英文原文未見此數字。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9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De Bock：2011–12 歐債危機期間利差多在 120–130bp，峰值 170–180bp；近期飆升至 150–160bp；若達 160–170bp 將考慮買進；最佳情境（RN 支持財政穩健預算、退休改革變動延後至 2028 年 1 月後）利差可迅速回落至 100bp 以下。短期內利差較可能盤整，難收窄回 100bp；需待明年年中月度財政數據。5.4% 赤字與 5% 目標已大致反映，風險溢價較先前區間上限增加 20–30bp（中文譯稿稱先前上限約 90bp，英文未見）。最佳情境以 80–100bp 示意。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10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De Bock：融資市場表現穩定；壓力外溢至股市與銀行股；義大利因預算赤字回歸 2% 的討論而利差擴大。日本機構累計買盤逐步放緩、未恐慌拋售，部分資金轉向德債；EUR/USD 穩定顯示未見全面外資出逃。周邊國：建議減碼利差；若法債利差穩定在 120bp，周邊將重新定價。義大利明年赤字預估 3.4%、能源價格敏感、下半年選舉；西班牙略便宜但選舉將至。選舉日程：法國春季、德國、義大利下半年。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11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Jalinoos：2017 年市場擔憂 RN 勝選，EUR/USD 跌近 1.05，馬克宏勝選後大幅反彈。RN 現在雖不明確反歐盟，但削減歐盟預算繳款恐加劇與德國的摩擦；市場寄望出現梅洛尼式的務實轉向，但依字面提案對歐元結構性不利。EUR/USD 接近年底目標 1.12（該預測在危機前已訂），僅略低於 2015 年後均值 1.1220；3 個月隱含波動率約 6.5%，屬歷史低檔；風險逆轉偏向歐元賣權，但選擇權與投機部位未擁擠，空頭仍有擴張空間。政治膠著不利歐元：利差居高需持續風險溢價，美國穩健下市場將質疑 ECB 能否落實已定價的升息。中文譯稿另稱匯價在 1.1050–1.12 區間，英文未見。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12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Jalinoos：近年日資流入法國規模有限，法債外資主力是非法國的歐盟投資人與美國投資人。若日資撤出法國，較可能轉向其他歐洲主權債或殖利率更高的美債，而非 JGB（對日本財政紀律與再通膨政策有疑慮）。日圓 10 月為 G10 表現第二差貨幣（僅優於歐元）。瑞郎：瑞士利率低於日本，市場累積大量瑞郎空單；法國財政疑慮浮現以來，瑞郎為 G10 表現最佳；若主權債危機擴散，空單回補可推動進一步升值。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13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Fowler：製造業 PMI 重回 50 以上，企業獲利預測上修；但折現率上升使歐股估值兩個月下修約 10%。8–9 月債市劇震主要是長天期部位技術性停損，非財政崩潰。銀行股兩個月跌約 10%，跟隨歐洲波動率（已罕見高於美股）；較高利率擴大存款利差；估值較歷史折價 20%，每年回饋約 6% 市值；法國銀行持有 OAT 面臨評價損失。資產負債表：GFC 不良資產已出清；槓桿從 30 倍以上降至約 7 倍；資本要求更高；利率正常化恢復存款利差。德國與歐盟在國防、能源轉型、資料中心、電氣化的支出惠及法國工業供應鏈。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14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Morrison-Jones：傳導集中於法國金融業信用債，但貝他值低於 2024 年（部位已清理）。HY 利差擴大主要受實質利率與全球基準利率驅動；自歐洲 HY 指數剔除法國發行人，約 70bp 的擴大僅變動數個 bp。IG 對 OAT 利差較敏感（金融權重高；公用事業、工業、基建面臨國內法規或加稅風險）。對歐洲 HY 戰術性看多：利差接近 3 月高點，市場對未來 6 個月 ECB 升息少定價一次，PMI 改善，BB 級基本面與美國同業相當，但過去六週歐洲利差擴大幅度為美國兩倍。逾 20% 法國 IG 企業債收益率低於 OAT；Air Liquide 近期多檔發債 6 倍超額認購；相對價值在全球化、非週期性的法國發行人。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15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催化劑整理自各專家發言。UBS1 差異出自文件中【UBS1 差異】註記。中文譯稿另加數字：10 年期利差走擴約 150bp（第二部分）、先前區間上限約 90bp（第二部分）、EUR/USD 1.1050–1.12 區間（第三部分），英文原文均未出現，本簡報未採用。</a:t>
            </a:r>
            <a:endParaRPr 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zh-TW"/>
              <a:t>16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sz="3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zh-TW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sz="1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zh-TW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zh-TW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00" dirty="0">
                <a:solidFill>
                  <a:schemeClr val="accent4"/>
                </a:solidFill>
              </a:rPr>
              <a:t>瑞銀跨資產電話會議重點｜整理自 UBS2 逐字稿｜非投資建議</a:t>
            </a:r>
            <a:endParaRPr lang="zh-TW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1003</a:t>
            </a:fld>
            <a:endParaRPr 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TW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zh-TW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00" dirty="0">
                <a:solidFill>
                  <a:schemeClr val="accent4"/>
                </a:solidFill>
              </a:rPr>
              <a:t>瑞銀跨資產電話會議重點｜整理自 UBS2 逐字稿｜非投資建議</a:t>
            </a:r>
            <a:endParaRPr lang="zh-TW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1004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null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ag-blue"/>
          <p:cNvSpPr/>
          <p:nvPr/>
        </p:nvSpPr>
        <p:spPr>
          <a:xfrm>
            <a:off x="576072" y="713232"/>
            <a:ext cx="27432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flag-white"/>
          <p:cNvSpPr/>
          <p:nvPr/>
        </p:nvSpPr>
        <p:spPr>
          <a:xfrm>
            <a:off x="850392" y="713232"/>
            <a:ext cx="274320" cy="457200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4" name="flag-red"/>
          <p:cNvSpPr/>
          <p:nvPr/>
        </p:nvSpPr>
        <p:spPr>
          <a:xfrm>
            <a:off x="1124712" y="713232"/>
            <a:ext cx="27432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sz="3200" b="1" dirty="0">
                <a:solidFill>
                  <a:schemeClr val="accent1"/>
                </a:solidFill>
              </a:rPr>
              <a:t>瑞銀跨資產電話會議重點：</a:t>
            </a:r>
            <a:endParaRPr lang="zh-TW" sz="3200" dirty="0"/>
          </a:p>
          <a:p>
            <a:pPr algn="l" indent="0" marL="0">
              <a:buNone/>
            </a:pPr>
            <a:r>
              <a:rPr lang="zh-TW" sz="3200" b="1" dirty="0">
                <a:solidFill>
                  <a:schemeClr val="accent1"/>
                </a:solidFill>
              </a:rPr>
              <a:t>法國財政局勢與歐洲市場衝擊</a:t>
            </a:r>
            <a:endParaRPr lang="zh-TW" sz="32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sz="1600" dirty="0">
                <a:solidFill>
                  <a:schemeClr val="tx1"/>
                </a:solidFill>
              </a:rPr>
              <a:t>UBS Cross-Asset Strategy Call: French Fiscal Situation &amp; European Market Implications</a:t>
            </a:r>
            <a:endParaRPr lang="zh-TW" sz="1600" dirty="0"/>
          </a:p>
          <a:p>
            <a:pPr algn="l" indent="0" marL="0">
              <a:buNone/>
            </a:pPr>
            <a:r>
              <a:rPr lang="zh-TW" sz="1600" dirty="0">
                <a:solidFill>
                  <a:schemeClr val="tx1"/>
                </a:solidFill>
              </a:rPr>
              <a:t>政治・財政・法債・外匯・股票・信用債</a:t>
            </a:r>
            <a:endParaRPr lang="zh-TW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會議時間：2026 年 10 月（文件未載明確切日期）｜整理日期：2026/10/13</a:t>
            </a:r>
            <a:endParaRPr lang="zh-TW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與會專家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總覽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88720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ircle"/>
          <p:cNvSpPr/>
          <p:nvPr/>
        </p:nvSpPr>
        <p:spPr>
          <a:xfrm>
            <a:off x="640080" y="1389888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BB</a:t>
            </a:r>
            <a:endParaRPr lang="zh-TW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1353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Bhanu Baweja</a:t>
            </a:r>
            <a:endParaRPr lang="zh-TW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61872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200" b="1" dirty="0">
                <a:solidFill>
                  <a:schemeClr val="accent1"/>
                </a:solidFill>
              </a:rPr>
              <a:t>全球宏觀策略主管</a:t>
            </a:r>
            <a:endParaRPr lang="zh-TW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主持人：主導提問與各資產轉場</a:t>
            </a:r>
            <a:endParaRPr lang="zh-TW" sz="1300" dirty="0"/>
          </a:p>
        </p:txBody>
      </p:sp>
      <p:sp>
        <p:nvSpPr>
          <p:cNvPr id="14" name="card"/>
          <p:cNvSpPr/>
          <p:nvPr/>
        </p:nvSpPr>
        <p:spPr>
          <a:xfrm>
            <a:off x="3268980" y="1188720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"/>
          <p:cNvSpPr/>
          <p:nvPr/>
        </p:nvSpPr>
        <p:spPr>
          <a:xfrm>
            <a:off x="3451860" y="13898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5186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FH</a:t>
            </a:r>
            <a:endParaRPr lang="zh-TW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073652" y="1353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Felix Huefner</a:t>
            </a:r>
            <a:endParaRPr lang="zh-TW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073652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200" b="1" dirty="0">
                <a:solidFill>
                  <a:schemeClr val="accent1"/>
                </a:solidFill>
              </a:rPr>
              <a:t>歐洲首席經濟學家</a:t>
            </a:r>
            <a:endParaRPr lang="zh-TW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45186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財政預算、退休改革、政治、ECB 工具</a:t>
            </a:r>
            <a:endParaRPr lang="zh-TW" sz="1300" dirty="0"/>
          </a:p>
        </p:txBody>
      </p:sp>
      <p:sp>
        <p:nvSpPr>
          <p:cNvPr id="20" name="card"/>
          <p:cNvSpPr/>
          <p:nvPr/>
        </p:nvSpPr>
        <p:spPr>
          <a:xfrm>
            <a:off x="6080760" y="1188720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ircle"/>
          <p:cNvSpPr/>
          <p:nvPr/>
        </p:nvSpPr>
        <p:spPr>
          <a:xfrm>
            <a:off x="6263640" y="138988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6364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RD</a:t>
            </a:r>
            <a:endParaRPr lang="zh-TW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885432" y="135331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Reinout De Bock</a:t>
            </a:r>
            <a:endParaRPr lang="zh-TW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85432" y="1645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200" b="1" dirty="0">
                <a:solidFill>
                  <a:schemeClr val="accent1"/>
                </a:solidFill>
              </a:rPr>
              <a:t>歐洲利率策略主管</a:t>
            </a:r>
            <a:endParaRPr lang="zh-TW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0574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OAT–Bund 利差、技術面、周邊國</a:t>
            </a:r>
            <a:endParaRPr lang="zh-TW" sz="1300" dirty="0"/>
          </a:p>
        </p:txBody>
      </p:sp>
      <p:sp>
        <p:nvSpPr>
          <p:cNvPr id="26" name="card"/>
          <p:cNvSpPr/>
          <p:nvPr/>
        </p:nvSpPr>
        <p:spPr>
          <a:xfrm>
            <a:off x="457200" y="2898648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circle"/>
          <p:cNvSpPr/>
          <p:nvPr/>
        </p:nvSpPr>
        <p:spPr>
          <a:xfrm>
            <a:off x="640080" y="30998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SJ</a:t>
            </a:r>
            <a:endParaRPr lang="zh-TW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261872" y="3063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Shahab Jalinoos</a:t>
            </a:r>
            <a:endParaRPr lang="zh-TW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261872" y="3355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200" b="1" dirty="0">
                <a:solidFill>
                  <a:schemeClr val="accent1"/>
                </a:solidFill>
              </a:rPr>
              <a:t>全球外匯策略主管</a:t>
            </a:r>
            <a:endParaRPr lang="zh-TW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3767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歐元、日圓資金回流、瑞郎避險</a:t>
            </a:r>
            <a:endParaRPr lang="zh-TW" sz="1300" dirty="0"/>
          </a:p>
        </p:txBody>
      </p:sp>
      <p:sp>
        <p:nvSpPr>
          <p:cNvPr id="32" name="card"/>
          <p:cNvSpPr/>
          <p:nvPr/>
        </p:nvSpPr>
        <p:spPr>
          <a:xfrm>
            <a:off x="3268980" y="2898648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circle"/>
          <p:cNvSpPr/>
          <p:nvPr/>
        </p:nvSpPr>
        <p:spPr>
          <a:xfrm>
            <a:off x="3451860" y="30998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45186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GF</a:t>
            </a:r>
            <a:endParaRPr lang="zh-TW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4073652" y="3063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Gerry Fowler</a:t>
            </a:r>
            <a:endParaRPr lang="zh-TW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4073652" y="3355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200" b="1" dirty="0">
                <a:solidFill>
                  <a:schemeClr val="accent1"/>
                </a:solidFill>
              </a:rPr>
              <a:t>歐洲股票策略主管</a:t>
            </a:r>
            <a:endParaRPr lang="zh-TW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3451860" y="3767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股市韌性、銀行、工業支出外溢</a:t>
            </a:r>
            <a:endParaRPr lang="zh-TW" sz="1300" dirty="0"/>
          </a:p>
        </p:txBody>
      </p:sp>
      <p:sp>
        <p:nvSpPr>
          <p:cNvPr id="38" name="card"/>
          <p:cNvSpPr/>
          <p:nvPr/>
        </p:nvSpPr>
        <p:spPr>
          <a:xfrm>
            <a:off x="6080760" y="2898648"/>
            <a:ext cx="2606040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ircle"/>
          <p:cNvSpPr/>
          <p:nvPr/>
        </p:nvSpPr>
        <p:spPr>
          <a:xfrm>
            <a:off x="6263640" y="309981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636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500" b="1" dirty="0">
                <a:solidFill>
                  <a:schemeClr val="bg1"/>
                </a:solidFill>
              </a:rPr>
              <a:t>HM</a:t>
            </a:r>
            <a:endParaRPr lang="zh-TW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6885432" y="30632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H. Morrison-Jones</a:t>
            </a:r>
            <a:endParaRPr lang="zh-TW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6885432" y="33558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200" b="1" dirty="0">
                <a:solidFill>
                  <a:schemeClr val="accent1"/>
                </a:solidFill>
              </a:rPr>
              <a:t>歐洲信用策略主管</a:t>
            </a:r>
            <a:endParaRPr lang="zh-TW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6263640" y="37673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IG、HY 利差與法國企業債</a:t>
            </a:r>
            <a:endParaRPr lang="zh-TW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2</a:t>
            </a:fld>
            <a:endParaRPr lang="zh-TW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跨資產觀點總覽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總覽</a:t>
            </a:r>
            <a:endParaRPr lang="zh-TW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00200"/>
                <a:gridCol w="224028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FFFFFF"/>
                          </a:solidFill>
                        </a:rPr>
                        <a:t>資產類別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FFFFFF"/>
                          </a:solidFill>
                        </a:rPr>
                        <a:t>專家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FFFFFF"/>
                          </a:solidFill>
                        </a:rPr>
                        <a:t>觀點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5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FFFFFF"/>
                          </a:solidFill>
                        </a:rPr>
                        <a:t>關鍵數字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507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法國公債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De Bock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34507E"/>
                          </a:solidFill>
                        </a:rPr>
                        <a:t>中性（不再續空）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利差 160–170bp 考慮買進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周邊國公債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De Bock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B65A5E"/>
                          </a:solidFill>
                        </a:rPr>
                        <a:t>減碼義、西利差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義大利明年赤字預估 3.4%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歐元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Jalinoos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B65A5E"/>
                          </a:solidFill>
                        </a:rPr>
                        <a:t>政治膠著偏空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EUR/USD 年底目標 1.12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瑞郎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Jalinoos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34507E"/>
                          </a:solidFill>
                        </a:rPr>
                        <a:t>有效避險工具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法國疑慮後 G10 表現最佳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歐股／銀行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Fowler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34507E"/>
                          </a:solidFill>
                        </a:rPr>
                        <a:t>逢低布局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銀行股兩個月跌約 10%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歐洲高收益債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Morrison-Jones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34507E"/>
                          </a:solidFill>
                        </a:rPr>
                        <a:t>戰術性看多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利差接近 3 月高點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法國投資級債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Morrison-Jones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b="1" dirty="0">
                          <a:solidFill>
                            <a:srgbClr val="34507E"/>
                          </a:solidFill>
                        </a:rPr>
                        <a:t>挑全球化發行人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sz="1300" dirty="0">
                          <a:solidFill>
                            <a:srgbClr val="3A4050"/>
                          </a:solidFill>
                        </a:rPr>
                        <a:t>逾 20% 收益率低於 OAT</a:t>
                      </a:r>
                      <a:endParaRPr lang="zh-TW" sz="1300" dirty="0"/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藍色＝偏多或中性，紅色＝偏空或減碼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3</a:t>
            </a:fld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大選前景：國會結果比總統更關鍵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A　政治與財政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430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52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2"/>
                </a:solidFill>
              </a:rPr>
              <a:t>4/18・5/2</a:t>
            </a:r>
            <a:pPr indent="0" marL="0">
              <a:buNone/>
            </a:pPr>
            <a:endParaRPr lang="zh-TW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562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2027 年總統大選兩輪；RN 民調領先</a:t>
            </a:r>
            <a:endParaRPr lang="zh-TW" sz="1300" dirty="0"/>
          </a:p>
        </p:txBody>
      </p:sp>
      <p:sp>
        <p:nvSpPr>
          <p:cNvPr id="11" name="card"/>
          <p:cNvSpPr/>
          <p:nvPr/>
        </p:nvSpPr>
        <p:spPr>
          <a:xfrm>
            <a:off x="4663440" y="114300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252728"/>
            <a:ext cx="3657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中間派仍有機會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2016 年同期馬克宏尚未參選、民調僅第三（約 14%）；坎城市長 Lisnard 民調上升</a:t>
            </a:r>
            <a:endParaRPr lang="zh-TW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500" b="1" dirty="0">
                <a:solidFill>
                  <a:schemeClr val="accent1"/>
                </a:solidFill>
              </a:rPr>
              <a:t>國會選舉的三種結果（577 選區、兩輪投票）</a:t>
            </a:r>
            <a:endParaRPr lang="zh-TW" sz="1500" dirty="0"/>
          </a:p>
        </p:txBody>
      </p:sp>
      <p:sp>
        <p:nvSpPr>
          <p:cNvPr id="14" name="card"/>
          <p:cNvSpPr/>
          <p:nvPr/>
        </p:nvSpPr>
        <p:spPr>
          <a:xfrm>
            <a:off x="457200" y="2852928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le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bg1"/>
                </a:solidFill>
              </a:rPr>
              <a:t>1</a:t>
            </a:r>
            <a:endParaRPr lang="zh-TW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9992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500" b="1" dirty="0">
                <a:solidFill>
                  <a:schemeClr val="accent1"/>
                </a:solidFill>
              </a:rPr>
              <a:t>總統取得穩定多數</a:t>
            </a:r>
            <a:endParaRPr lang="zh-TW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5295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較能推動重大財政決策</a:t>
            </a:r>
            <a:endParaRPr lang="zh-TW" sz="1300" dirty="0"/>
          </a:p>
        </p:txBody>
      </p:sp>
      <p:sp>
        <p:nvSpPr>
          <p:cNvPr id="19" name="card"/>
          <p:cNvSpPr/>
          <p:nvPr/>
        </p:nvSpPr>
        <p:spPr>
          <a:xfrm>
            <a:off x="3268980" y="2852928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le"/>
          <p:cNvSpPr/>
          <p:nvPr/>
        </p:nvSpPr>
        <p:spPr>
          <a:xfrm>
            <a:off x="3451860" y="30175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518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bg1"/>
                </a:solidFill>
              </a:rPr>
              <a:t>2</a:t>
            </a:r>
            <a:endParaRPr lang="zh-TW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954780" y="29992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500" b="1" dirty="0">
                <a:solidFill>
                  <a:schemeClr val="accent2"/>
                </a:solidFill>
              </a:rPr>
              <a:t>府會共治</a:t>
            </a:r>
            <a:endParaRPr lang="zh-TW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451860" y="35295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反對黨過半，政策陷入停擺</a:t>
            </a:r>
            <a:endParaRPr lang="zh-TW" sz="1300" dirty="0"/>
          </a:p>
        </p:txBody>
      </p:sp>
      <p:sp>
        <p:nvSpPr>
          <p:cNvPr id="24" name="card"/>
          <p:cNvSpPr/>
          <p:nvPr/>
        </p:nvSpPr>
        <p:spPr>
          <a:xfrm>
            <a:off x="6080760" y="2852928"/>
            <a:ext cx="2606040" cy="1536192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ircle"/>
          <p:cNvSpPr/>
          <p:nvPr/>
        </p:nvSpPr>
        <p:spPr>
          <a:xfrm>
            <a:off x="6263640" y="301752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bg1"/>
                </a:solidFill>
              </a:rPr>
              <a:t>3</a:t>
            </a:r>
            <a:endParaRPr lang="zh-TW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766560" y="299923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500" b="1" dirty="0">
                <a:solidFill>
                  <a:schemeClr val="accent2"/>
                </a:solidFill>
              </a:rPr>
              <a:t>國會持續碎片化</a:t>
            </a:r>
            <a:endParaRPr lang="zh-TW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263640" y="35295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預算持續受阻，只能暫時結盟</a:t>
            </a:r>
            <a:endParaRPr lang="zh-TW" sz="1300" dirty="0"/>
          </a:p>
        </p:txBody>
      </p:sp>
      <p:sp>
        <p:nvSpPr>
          <p:cNvPr id="29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Huefner：缺乏穩定多數，實質財政整頓將困難得多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4</a:t>
            </a:fld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RN 財政主張：一邊擴張、一邊承諾整頓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A　政治與財政</a:t>
            </a:r>
            <a:endParaRPr lang="zh-TW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4206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"/>
          <p:cNvSpPr/>
          <p:nvPr/>
        </p:nvSpPr>
        <p:spPr>
          <a:xfrm>
            <a:off x="4892040" y="1143000"/>
            <a:ext cx="37947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74920" y="125272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擴張：退休年齡降至 60／62 歲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每年成本最高約 GDP 1–1.5%；另設資本型養老金支柱</a:t>
            </a:r>
            <a:endParaRPr lang="zh-TW" sz="1600" dirty="0"/>
          </a:p>
        </p:txBody>
      </p:sp>
      <p:sp>
        <p:nvSpPr>
          <p:cNvPr id="11" name="card"/>
          <p:cNvSpPr/>
          <p:nvPr/>
        </p:nvSpPr>
        <p:spPr>
          <a:xfrm>
            <a:off x="4892040" y="2258568"/>
            <a:ext cx="37947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2368296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整頓：每年削減約 0.8% GDP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2032 年前累計 4.5%；公投導入黃金財政法則</a:t>
            </a:r>
            <a:endParaRPr lang="zh-TW" sz="1600" dirty="0"/>
          </a:p>
        </p:txBody>
      </p:sp>
      <p:sp>
        <p:nvSpPr>
          <p:cNvPr id="13" name="card"/>
          <p:cNvSpPr/>
          <p:nvPr/>
        </p:nvSpPr>
        <p:spPr>
          <a:xfrm>
            <a:off x="4892040" y="3374136"/>
            <a:ext cx="3794760" cy="1014984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74920" y="3483864"/>
            <a:ext cx="3429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UBS 保留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0.8% 的整頓 1979 年來僅 8 次、從未連續兩年；細節待 10/24–25 黨大會</a:t>
            </a:r>
            <a:endParaRPr lang="zh-TW" sz="1600" dirty="0"/>
          </a:p>
        </p:txBody>
      </p:sp>
      <p:sp>
        <p:nvSpPr>
          <p:cNvPr id="15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削減財源：收緊移民、調降歐盟預算繳款（UBS 認為極難落實）、打擊加值稅詐欺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5</a:t>
            </a:fld>
            <a:endParaRPr lang="zh-TW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債務可持續性：需約 3.5% GDP 的整頓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A　政治與財政</a:t>
            </a:r>
            <a:endParaRPr lang="zh-TW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4206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"/>
          <p:cNvSpPr/>
          <p:nvPr/>
        </p:nvSpPr>
        <p:spPr>
          <a:xfrm>
            <a:off x="4892040" y="1143000"/>
            <a:ext cx="37947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74920" y="1252728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3000" b="1" dirty="0">
                <a:solidFill>
                  <a:schemeClr val="accent2"/>
                </a:solidFill>
              </a:rPr>
              <a:t>≈3.5</a:t>
            </a:r>
            <a:pPr indent="0" marL="0">
              <a:buNone/>
            </a:pPr>
            <a:r>
              <a:rPr lang="zh-TW" sz="1500" b="1" dirty="0">
                <a:solidFill>
                  <a:schemeClr val="accent2"/>
                </a:solidFill>
              </a:rPr>
              <a:t>% GDP</a:t>
            </a:r>
            <a:endParaRPr lang="zh-TW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5074920" y="185623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穩定債務所需的整頓幅度</a:t>
            </a:r>
            <a:endParaRPr lang="zh-TW" sz="1300" dirty="0"/>
          </a:p>
        </p:txBody>
      </p:sp>
      <p:sp>
        <p:nvSpPr>
          <p:cNvPr id="12" name="card"/>
          <p:cNvSpPr/>
          <p:nvPr/>
        </p:nvSpPr>
        <p:spPr>
          <a:xfrm>
            <a:off x="4892040" y="2258568"/>
            <a:ext cx="37947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74920" y="2368296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3000" b="1" dirty="0">
                <a:solidFill>
                  <a:schemeClr val="accent1"/>
                </a:solidFill>
              </a:rPr>
              <a:t>+1～2</a:t>
            </a:r>
            <a:pPr indent="0" marL="0">
              <a:buNone/>
            </a:pPr>
            <a:r>
              <a:rPr lang="zh-TW" sz="1500" b="1" dirty="0">
                <a:solidFill>
                  <a:schemeClr val="accent1"/>
                </a:solidFill>
              </a:rPr>
              <a:t>pp／年</a:t>
            </a:r>
            <a:endParaRPr lang="zh-TW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297180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無實質整頓下，債務率每年上升幅度</a:t>
            </a:r>
            <a:endParaRPr lang="zh-TW" sz="1300" dirty="0"/>
          </a:p>
        </p:txBody>
      </p:sp>
      <p:sp>
        <p:nvSpPr>
          <p:cNvPr id="15" name="card"/>
          <p:cNvSpPr/>
          <p:nvPr/>
        </p:nvSpPr>
        <p:spPr>
          <a:xfrm>
            <a:off x="4892040" y="3374136"/>
            <a:ext cx="3794760" cy="1014984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074920" y="3483864"/>
            <a:ext cx="3429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等同追上義大利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法國須達到義大利目前的初級盈餘水準；Huefner 稱「極其艱鉅」</a:t>
            </a:r>
            <a:endParaRPr lang="zh-TW" sz="1600" dirty="0"/>
          </a:p>
        </p:txBody>
      </p:sp>
      <p:sp>
        <p:nvSpPr>
          <p:cNvPr id="17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初級餘額＝不含利息支出的財政收支；目前約 −3% 為概數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6</a:t>
            </a:fld>
            <a:endParaRPr lang="zh-TW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與 2011–12 歐債危機相比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A　政治與財政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4300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52728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較安全之處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屬法國特有的財政問題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義大利維持初級盈餘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希臘、葡萄牙、西班牙債務率下降</a:t>
            </a:r>
            <a:endParaRPr lang="zh-TW" sz="1600" dirty="0"/>
          </a:p>
        </p:txBody>
      </p:sp>
      <p:sp>
        <p:nvSpPr>
          <p:cNvPr id="10" name="card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944368"/>
            <a:ext cx="36576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較危險之處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這次承壓的是歐元區第二大經濟體</a:t>
            </a:r>
            <a:endParaRPr lang="zh-TW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600" b="1" dirty="0">
                <a:solidFill>
                  <a:schemeClr val="accent1"/>
                </a:solidFill>
              </a:rPr>
              <a:t>制度防護網</a:t>
            </a:r>
            <a:endParaRPr lang="zh-TW" sz="1600" dirty="0"/>
          </a:p>
        </p:txBody>
      </p:sp>
      <p:sp>
        <p:nvSpPr>
          <p:cNvPr id="13" name="card"/>
          <p:cNvSpPr/>
          <p:nvPr/>
        </p:nvSpPr>
        <p:spPr>
          <a:xfrm>
            <a:off x="4663440" y="1572768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ESM</a:t>
            </a:r>
            <a:endParaRPr lang="zh-TW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350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dirty="0">
                <a:solidFill>
                  <a:schemeClr val="tx1"/>
                </a:solidFill>
              </a:rPr>
              <a:t>歐洲穩定機制</a:t>
            </a:r>
            <a:endParaRPr lang="zh-TW" sz="1400" dirty="0"/>
          </a:p>
        </p:txBody>
      </p:sp>
      <p:sp>
        <p:nvSpPr>
          <p:cNvPr id="16" name="card"/>
          <p:cNvSpPr/>
          <p:nvPr/>
        </p:nvSpPr>
        <p:spPr>
          <a:xfrm>
            <a:off x="6720840" y="1572768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TPI</a:t>
            </a:r>
            <a:endParaRPr lang="zh-TW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350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dirty="0">
                <a:solidFill>
                  <a:schemeClr val="tx1"/>
                </a:solidFill>
              </a:rPr>
              <a:t>傳導保護工具</a:t>
            </a:r>
            <a:endParaRPr lang="zh-TW" sz="1400" dirty="0"/>
          </a:p>
        </p:txBody>
      </p:sp>
      <p:sp>
        <p:nvSpPr>
          <p:cNvPr id="19" name="card"/>
          <p:cNvSpPr/>
          <p:nvPr/>
        </p:nvSpPr>
        <p:spPr>
          <a:xfrm>
            <a:off x="4663440" y="3017520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SSM</a:t>
            </a:r>
            <a:endParaRPr lang="zh-TW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dirty="0">
                <a:solidFill>
                  <a:schemeClr val="tx1"/>
                </a:solidFill>
              </a:rPr>
              <a:t>單一銀行監管</a:t>
            </a:r>
            <a:endParaRPr lang="zh-TW" sz="1400" dirty="0"/>
          </a:p>
        </p:txBody>
      </p:sp>
      <p:sp>
        <p:nvSpPr>
          <p:cNvPr id="22" name="card"/>
          <p:cNvSpPr/>
          <p:nvPr/>
        </p:nvSpPr>
        <p:spPr>
          <a:xfrm>
            <a:off x="6720840" y="3017520"/>
            <a:ext cx="1965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03720" y="31821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SRF</a:t>
            </a:r>
            <a:endParaRPr lang="zh-TW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37947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dirty="0">
                <a:solidFill>
                  <a:schemeClr val="tx1"/>
                </a:solidFill>
              </a:rPr>
              <a:t>單一清算基金</a:t>
            </a:r>
            <a:endParaRPr lang="zh-TW" sz="1400" dirty="0"/>
          </a:p>
        </p:txBody>
      </p:sp>
      <p:sp>
        <p:nvSpPr>
          <p:cNvPr id="25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SSM、SRF 為整理者補註的英文縮寫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7</a:t>
            </a:fld>
            <a:endParaRPr lang="zh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歐洲央行：不會先發制人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A　政治與財政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4300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2527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1"/>
                </a:solidFill>
              </a:rPr>
              <a:t>目前</a:t>
            </a:r>
            <a:endParaRPr lang="zh-TW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645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壓力未達門檻</a:t>
            </a:r>
            <a:endParaRPr lang="zh-TW" sz="1300" dirty="0"/>
          </a:p>
        </p:txBody>
      </p:sp>
      <p:sp>
        <p:nvSpPr>
          <p:cNvPr id="11" name="arrow"/>
          <p:cNvSpPr/>
          <p:nvPr/>
        </p:nvSpPr>
        <p:spPr>
          <a:xfrm>
            <a:off x="2368296" y="1499616"/>
            <a:ext cx="146304" cy="246888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2590495" y="114300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27655" y="12527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1"/>
                </a:solidFill>
              </a:rPr>
              <a:t>市場壓力</a:t>
            </a:r>
            <a:endParaRPr lang="zh-TW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727655" y="1645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遠高於現水準</a:t>
            </a:r>
            <a:endParaRPr lang="zh-TW" sz="1300" dirty="0"/>
          </a:p>
        </p:txBody>
      </p:sp>
      <p:sp>
        <p:nvSpPr>
          <p:cNvPr id="15" name="arrow"/>
          <p:cNvSpPr/>
          <p:nvPr/>
        </p:nvSpPr>
        <p:spPr>
          <a:xfrm>
            <a:off x="4501591" y="1499616"/>
            <a:ext cx="146304" cy="246888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723790" y="1143000"/>
            <a:ext cx="1828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60950" y="12527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1"/>
                </a:solidFill>
              </a:rPr>
              <a:t>外溢擴散</a:t>
            </a:r>
            <a:endParaRPr lang="zh-TW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60950" y="1645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威脅其他成員國</a:t>
            </a:r>
            <a:endParaRPr lang="zh-TW" sz="1300" dirty="0"/>
          </a:p>
        </p:txBody>
      </p:sp>
      <p:sp>
        <p:nvSpPr>
          <p:cNvPr id="19" name="arrow"/>
          <p:cNvSpPr/>
          <p:nvPr/>
        </p:nvSpPr>
        <p:spPr>
          <a:xfrm>
            <a:off x="6634886" y="1499616"/>
            <a:ext cx="146304" cy="246888"/>
          </a:xfrm>
          <a:prstGeom prst="chevron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card"/>
          <p:cNvSpPr/>
          <p:nvPr/>
        </p:nvSpPr>
        <p:spPr>
          <a:xfrm>
            <a:off x="6857086" y="11430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E4EAF3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94246" y="12527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600" b="1" dirty="0">
                <a:solidFill>
                  <a:schemeClr val="accent2"/>
                </a:solidFill>
              </a:rPr>
              <a:t>考慮 TPI</a:t>
            </a:r>
            <a:endParaRPr lang="zh-TW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94246" y="16459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二級市場購債</a:t>
            </a:r>
            <a:endParaRPr lang="zh-TW" sz="1300" dirty="0"/>
          </a:p>
        </p:txBody>
      </p:sp>
      <p:sp>
        <p:nvSpPr>
          <p:cNvPr id="23" name="card"/>
          <p:cNvSpPr/>
          <p:nvPr/>
        </p:nvSpPr>
        <p:spPr>
          <a:xfrm>
            <a:off x="457200" y="228600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395728"/>
            <a:ext cx="3657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TPI 的門檻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須具可持續的財政與總體政策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過度赤字程序國家須遵守調整承諾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不為國內財政失誤紓困（道德風險）</a:t>
            </a:r>
            <a:endParaRPr lang="zh-TW" sz="1600" dirty="0"/>
          </a:p>
        </p:txBody>
      </p:sp>
      <p:sp>
        <p:nvSpPr>
          <p:cNvPr id="25" name="card"/>
          <p:cNvSpPr/>
          <p:nvPr/>
        </p:nvSpPr>
        <p:spPr>
          <a:xfrm>
            <a:off x="4663440" y="2286000"/>
            <a:ext cx="40233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2395728"/>
            <a:ext cx="365760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升息與 QT 不受影響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TPI 可隔離利差、同時維持升息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QT 無法只為法國調整（capital key）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僅在全歐受衝擊時才重新評估</a:t>
            </a:r>
            <a:endParaRPr lang="zh-TW" sz="1600" dirty="0"/>
          </a:p>
        </p:txBody>
      </p:sp>
      <p:sp>
        <p:nvSpPr>
          <p:cNvPr id="27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OMT 雖存在，但須法國接受 ESM 救助計畫，政治上幾乎不可能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8</a:t>
            </a:fld>
            <a:endParaRPr lang="zh-TW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利差擴大：三分之一來自法國本身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B　法國公債</a:t>
            </a:r>
            <a:endParaRPr lang="zh-TW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097280"/>
          <a:ext cx="36576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46304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400" b="1" dirty="0">
                <a:solidFill>
                  <a:schemeClr val="accent1"/>
                </a:solidFill>
              </a:rPr>
              <a:t>利差擴大</a:t>
            </a:r>
            <a:endParaRPr lang="zh-TW" sz="1400" dirty="0"/>
          </a:p>
          <a:p>
            <a:pPr algn="ctr" indent="0" marL="0">
              <a:buNone/>
            </a:pPr>
            <a:r>
              <a:rPr lang="zh-TW" sz="1200" dirty="0">
                <a:solidFill>
                  <a:schemeClr val="tx1"/>
                </a:solidFill>
              </a:rPr>
              <a:t>來源拆解</a:t>
            </a:r>
            <a:endParaRPr lang="zh-TW" sz="1400" dirty="0"/>
          </a:p>
        </p:txBody>
      </p:sp>
      <p:sp>
        <p:nvSpPr>
          <p:cNvPr id="10" name="card"/>
          <p:cNvSpPr/>
          <p:nvPr/>
        </p:nvSpPr>
        <p:spPr>
          <a:xfrm>
            <a:off x="4389120" y="1143000"/>
            <a:ext cx="42976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0" y="125272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　 法國特有（約 1/3）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選前未整頓、維持擴張支出；預算難有共識，須動用 49.3 條</a:t>
            </a:r>
            <a:endParaRPr lang="zh-TW" sz="1600" dirty="0"/>
          </a:p>
        </p:txBody>
      </p:sp>
      <p:sp>
        <p:nvSpPr>
          <p:cNvPr id="12" name="swatch"/>
          <p:cNvSpPr/>
          <p:nvPr/>
        </p:nvSpPr>
        <p:spPr>
          <a:xfrm>
            <a:off x="4572000" y="1325880"/>
            <a:ext cx="164592" cy="164592"/>
          </a:xfrm>
          <a:prstGeom prst="ellipse">
            <a:avLst/>
          </a:prstGeom>
          <a:solidFill>
            <a:srgbClr val="B65A5E"/>
          </a:solidFill>
          <a:ln w="12700">
            <a:solidFill>
              <a:srgbClr val="B65A5E"/>
            </a:solidFill>
            <a:prstDash val="solid"/>
          </a:ln>
        </p:spPr>
      </p:sp>
      <p:sp>
        <p:nvSpPr>
          <p:cNvPr id="13" name="card"/>
          <p:cNvSpPr/>
          <p:nvPr/>
        </p:nvSpPr>
        <p:spPr>
          <a:xfrm>
            <a:off x="4389120" y="2258568"/>
            <a:ext cx="42976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0" y="2368296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　 全球因素（約 2/3）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全球貨幣緊縮、高利率，以及美債殖利率外溢重新主導</a:t>
            </a:r>
            <a:endParaRPr lang="zh-TW" sz="1600" dirty="0"/>
          </a:p>
        </p:txBody>
      </p:sp>
      <p:sp>
        <p:nvSpPr>
          <p:cNvPr id="15" name="swatch"/>
          <p:cNvSpPr/>
          <p:nvPr/>
        </p:nvSpPr>
        <p:spPr>
          <a:xfrm>
            <a:off x="4572000" y="2441448"/>
            <a:ext cx="164592" cy="164592"/>
          </a:xfrm>
          <a:prstGeom prst="ellipse">
            <a:avLst/>
          </a:prstGeom>
          <a:solidFill>
            <a:srgbClr val="34507E"/>
          </a:solidFill>
          <a:ln w="12700">
            <a:solidFill>
              <a:srgbClr val="34507E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389120" y="3374136"/>
            <a:ext cx="4297680" cy="1014984"/>
          </a:xfrm>
          <a:prstGeom prst="roundRect">
            <a:avLst>
              <a:gd name="adj" fmla="val 7207"/>
            </a:avLst>
          </a:prstGeom>
          <a:solidFill>
            <a:srgbClr val="E4EAF3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0" y="3483864"/>
            <a:ext cx="39319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10/1 技術性停損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法國 10 年期殖利率快速突破 4.5%，觸發槓桿套利部位停損</a:t>
            </a:r>
            <a:endParaRPr lang="zh-TW" sz="1600" dirty="0"/>
          </a:p>
        </p:txBody>
      </p:sp>
      <p:sp>
        <p:nvSpPr>
          <p:cNvPr id="18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槓桿套利例：做多 OAT 或 BTP、對作利率交換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9</a:t>
            </a:fld>
            <a:endParaRPr lang="zh-TW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OAT–Bund 利差：關鍵價位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B　法國公債</a:t>
            </a:r>
            <a:endParaRPr lang="zh-TW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09728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"/>
          <p:cNvSpPr/>
          <p:nvPr/>
        </p:nvSpPr>
        <p:spPr>
          <a:xfrm>
            <a:off x="5806440" y="1143000"/>
            <a:ext cx="28803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89320" y="1252728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目前觀點：中性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9 月初建立的空單已不宜續抱</a:t>
            </a:r>
            <a:endParaRPr lang="zh-TW" sz="1600" dirty="0"/>
          </a:p>
        </p:txBody>
      </p:sp>
      <p:sp>
        <p:nvSpPr>
          <p:cNvPr id="11" name="card"/>
          <p:cNvSpPr/>
          <p:nvPr/>
        </p:nvSpPr>
        <p:spPr>
          <a:xfrm>
            <a:off x="5806440" y="2258568"/>
            <a:ext cx="2880360" cy="1024128"/>
          </a:xfrm>
          <a:prstGeom prst="roundRect">
            <a:avLst>
              <a:gd name="adj" fmla="val 7143"/>
            </a:avLst>
          </a:prstGeom>
          <a:solidFill>
            <a:srgbClr val="E4EAF3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89320" y="2368296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160–170bp 考慮買進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法債仍具高評級、高流動性，外資需求有韌性</a:t>
            </a:r>
            <a:endParaRPr lang="zh-TW" sz="1600" dirty="0"/>
          </a:p>
        </p:txBody>
      </p:sp>
      <p:sp>
        <p:nvSpPr>
          <p:cNvPr id="13" name="card"/>
          <p:cNvSpPr/>
          <p:nvPr/>
        </p:nvSpPr>
        <p:spPr>
          <a:xfrm>
            <a:off x="5806440" y="3374136"/>
            <a:ext cx="2880360" cy="1014984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89320" y="3483864"/>
            <a:ext cx="2514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短期：盤整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難回 100bp 內；待明年年中財政數據驗證</a:t>
            </a:r>
            <a:endParaRPr lang="zh-TW" sz="1600" dirty="0"/>
          </a:p>
        </p:txBody>
      </p:sp>
      <p:sp>
        <p:nvSpPr>
          <p:cNvPr id="15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最佳情境：RN 支持穩健預算、退休改革變動延後至 2028 年 1 月後；圖中 80–100 為示意區間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10</a:t>
            </a:fld>
            <a:endParaRPr lang="zh-TW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資金面穩定，周邊國宜減碼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B　法國公債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52728"/>
            <a:ext cx="22402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融資市場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回購與同業拆借運作有序，未見融資壓力</a:t>
            </a:r>
            <a:endParaRPr lang="zh-TW" sz="1600" dirty="0"/>
          </a:p>
        </p:txBody>
      </p:sp>
      <p:sp>
        <p:nvSpPr>
          <p:cNvPr id="10" name="card"/>
          <p:cNvSpPr/>
          <p:nvPr/>
        </p:nvSpPr>
        <p:spPr>
          <a:xfrm>
            <a:off x="326898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51860" y="1252728"/>
            <a:ext cx="22402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日本資金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累計買盤放緩但未恐慌拋售，部分轉向德債</a:t>
            </a:r>
            <a:endParaRPr lang="zh-TW" sz="1600" dirty="0"/>
          </a:p>
        </p:txBody>
      </p:sp>
      <p:sp>
        <p:nvSpPr>
          <p:cNvPr id="12" name="card"/>
          <p:cNvSpPr/>
          <p:nvPr/>
        </p:nvSpPr>
        <p:spPr>
          <a:xfrm>
            <a:off x="6080760" y="1143000"/>
            <a:ext cx="260604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63640" y="1252728"/>
            <a:ext cx="22402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外資出逃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EUR/USD 穩定，未見全面資金外流</a:t>
            </a:r>
            <a:endParaRPr lang="zh-TW" sz="1600" dirty="0"/>
          </a:p>
        </p:txBody>
      </p:sp>
      <p:sp>
        <p:nvSpPr>
          <p:cNvPr id="14" name="card"/>
          <p:cNvSpPr/>
          <p:nvPr/>
        </p:nvSpPr>
        <p:spPr>
          <a:xfrm>
            <a:off x="457200" y="2633472"/>
            <a:ext cx="4754880" cy="1755648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2743200"/>
            <a:ext cx="438912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周邊國：建議減碼利差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義大利：明年赤字預估 3.4%、能源價格敏感、下半年選舉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西班牙：估值略回落，但選舉將至，做多對德債不划算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法債利差若穩在 120bp，周邊將重新定價</a:t>
            </a:r>
            <a:endParaRPr lang="zh-TW" sz="1600" dirty="0"/>
          </a:p>
        </p:txBody>
      </p:sp>
      <p:sp>
        <p:nvSpPr>
          <p:cNvPr id="16" name="card"/>
          <p:cNvSpPr/>
          <p:nvPr/>
        </p:nvSpPr>
        <p:spPr>
          <a:xfrm>
            <a:off x="5394960" y="2633472"/>
            <a:ext cx="3291840" cy="1755648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77840" y="2743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600" b="1" dirty="0">
                <a:solidFill>
                  <a:schemeClr val="accent1"/>
                </a:solidFill>
              </a:rPr>
              <a:t>2027 年歐洲選舉日程</a:t>
            </a:r>
            <a:endParaRPr lang="zh-TW" sz="1600" dirty="0"/>
          </a:p>
        </p:txBody>
      </p:sp>
      <p:sp>
        <p:nvSpPr>
          <p:cNvPr id="18" name="timeline"/>
          <p:cNvSpPr/>
          <p:nvPr/>
        </p:nvSpPr>
        <p:spPr>
          <a:xfrm>
            <a:off x="5760720" y="3429000"/>
            <a:ext cx="2560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9" name="node"/>
          <p:cNvSpPr/>
          <p:nvPr/>
        </p:nvSpPr>
        <p:spPr>
          <a:xfrm>
            <a:off x="5650992" y="3319272"/>
            <a:ext cx="219456" cy="21945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12080" y="3593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法國</a:t>
            </a:r>
            <a:endParaRPr lang="zh-TW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2120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200" dirty="0">
                <a:solidFill>
                  <a:srgbClr val="6E7484"/>
                </a:solidFill>
              </a:rPr>
              <a:t>春季</a:t>
            </a:r>
            <a:endParaRPr lang="zh-TW" sz="1200" dirty="0"/>
          </a:p>
        </p:txBody>
      </p:sp>
      <p:sp>
        <p:nvSpPr>
          <p:cNvPr id="22" name="node"/>
          <p:cNvSpPr/>
          <p:nvPr/>
        </p:nvSpPr>
        <p:spPr>
          <a:xfrm>
            <a:off x="6931152" y="33192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92240" y="3593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德國</a:t>
            </a:r>
            <a:endParaRPr lang="zh-TW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49224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200" dirty="0">
                <a:solidFill>
                  <a:srgbClr val="6E7484"/>
                </a:solidFill>
              </a:rPr>
              <a:t>隨後</a:t>
            </a:r>
            <a:endParaRPr lang="zh-TW" sz="1200" dirty="0"/>
          </a:p>
        </p:txBody>
      </p:sp>
      <p:sp>
        <p:nvSpPr>
          <p:cNvPr id="25" name="node"/>
          <p:cNvSpPr/>
          <p:nvPr/>
        </p:nvSpPr>
        <p:spPr>
          <a:xfrm>
            <a:off x="8211312" y="3319272"/>
            <a:ext cx="219456" cy="21945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772400" y="3593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400" b="1" dirty="0">
                <a:solidFill>
                  <a:srgbClr val="3A4050"/>
                </a:solidFill>
              </a:rPr>
              <a:t>義大利</a:t>
            </a:r>
            <a:endParaRPr lang="zh-TW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sz="1200" dirty="0">
                <a:solidFill>
                  <a:srgbClr val="6E7484"/>
                </a:solidFill>
              </a:rPr>
              <a:t>下半年</a:t>
            </a:r>
            <a:endParaRPr lang="zh-TW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11</a:t>
            </a:fld>
            <a:endParaRPr lang="zh-TW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歐元：法國折價尚未充分反映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C　外匯</a:t>
            </a:r>
            <a:endParaRPr lang="zh-TW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4206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"/>
          <p:cNvSpPr/>
          <p:nvPr/>
        </p:nvSpPr>
        <p:spPr>
          <a:xfrm>
            <a:off x="4892040" y="1143000"/>
            <a:ext cx="37947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74920" y="125272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隱含波動率僅 6.5%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歷史低檔；部位未擁擠，空頭仍有擴張空間</a:t>
            </a:r>
            <a:endParaRPr lang="zh-TW" sz="1600" dirty="0"/>
          </a:p>
        </p:txBody>
      </p:sp>
      <p:sp>
        <p:nvSpPr>
          <p:cNvPr id="11" name="card"/>
          <p:cNvSpPr/>
          <p:nvPr/>
        </p:nvSpPr>
        <p:spPr>
          <a:xfrm>
            <a:off x="4892040" y="2258568"/>
            <a:ext cx="379476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74920" y="2368296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RN 提案對歐元不利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削減歐盟繳款恐加劇法德摩擦；市場寄望梅洛尼式轉向</a:t>
            </a:r>
            <a:endParaRPr lang="zh-TW" sz="1600" dirty="0"/>
          </a:p>
        </p:txBody>
      </p:sp>
      <p:sp>
        <p:nvSpPr>
          <p:cNvPr id="13" name="card"/>
          <p:cNvSpPr/>
          <p:nvPr/>
        </p:nvSpPr>
        <p:spPr>
          <a:xfrm>
            <a:off x="4892040" y="3374136"/>
            <a:ext cx="3794760" cy="1014984"/>
          </a:xfrm>
          <a:prstGeom prst="roundRect">
            <a:avLst>
              <a:gd name="adj" fmla="val 72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74920" y="3483864"/>
            <a:ext cx="34290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政治膠著同樣不利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利差居高需持續風險溢價，市場將質疑 ECB 升息路徑</a:t>
            </a:r>
            <a:endParaRPr lang="zh-TW" sz="1600" dirty="0"/>
          </a:p>
        </p:txBody>
      </p:sp>
      <p:sp>
        <p:nvSpPr>
          <p:cNvPr id="15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現價接近年底目標 1.12；該預測訂於危機之前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12</a:t>
            </a:fld>
            <a:endParaRPr lang="zh-TW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日圓未見資金回流，瑞郎是有效避險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C　外匯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4300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261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700" b="1" dirty="0">
                <a:solidFill>
                  <a:schemeClr val="accent1"/>
                </a:solidFill>
              </a:rPr>
              <a:t>日圓：未見大規模匯回</a:t>
            </a:r>
            <a:endParaRPr lang="zh-TW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664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G10 倒數第 2</a:t>
            </a:r>
            <a:endParaRPr lang="zh-TW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300" dirty="0">
                <a:solidFill>
                  <a:srgbClr val="6E7484"/>
                </a:solidFill>
              </a:rPr>
              <a:t>10 月表現，僅優於歐元</a:t>
            </a:r>
            <a:endParaRPr lang="zh-TW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6517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zh-TW" sz="1400" dirty="0">
                <a:solidFill>
                  <a:schemeClr val="tx1"/>
                </a:solidFill>
              </a:rPr>
              <a:t>近年日資流入法國規模有限</a:t>
            </a:r>
            <a:endParaRPr lang="zh-TW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zh-TW" sz="1400" dirty="0">
                <a:solidFill>
                  <a:schemeClr val="tx1"/>
                </a:solidFill>
              </a:rPr>
              <a:t>法債外資主力：非法國的歐盟及美國投資人</a:t>
            </a:r>
            <a:endParaRPr lang="zh-TW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zh-TW" sz="1400" dirty="0">
                <a:solidFill>
                  <a:schemeClr val="tx1"/>
                </a:solidFill>
              </a:rPr>
              <a:t>若撤出，較可能轉向其他歐債或美債，而非 JGB</a:t>
            </a:r>
            <a:endParaRPr lang="zh-TW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143000"/>
            <a:ext cx="402336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1261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700" b="1" dirty="0">
                <a:solidFill>
                  <a:schemeClr val="accent2"/>
                </a:solidFill>
              </a:rPr>
              <a:t>瑞郎：有效的避險工具</a:t>
            </a:r>
            <a:endParaRPr lang="zh-TW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6642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2"/>
                </a:solidFill>
              </a:rPr>
              <a:t>G10 第 1</a:t>
            </a:r>
            <a:endParaRPr lang="zh-TW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300" dirty="0">
                <a:solidFill>
                  <a:srgbClr val="6E7484"/>
                </a:solidFill>
              </a:rPr>
              <a:t>法國財政疑慮浮現以來</a:t>
            </a:r>
            <a:endParaRPr lang="zh-TW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26517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zh-TW" sz="1400" dirty="0">
                <a:solidFill>
                  <a:schemeClr val="tx1"/>
                </a:solidFill>
              </a:rPr>
              <a:t>瑞士利率低於日本，市場曾累積大量瑞郎空單</a:t>
            </a:r>
            <a:endParaRPr lang="zh-TW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zh-TW" sz="1400" dirty="0">
                <a:solidFill>
                  <a:schemeClr val="tx1"/>
                </a:solidFill>
              </a:rPr>
              <a:t>危機若擴散，空單回補將推動瑞郎進一步升值</a:t>
            </a:r>
            <a:endParaRPr lang="zh-TW" sz="1400" dirty="0"/>
          </a:p>
        </p:txBody>
      </p:sp>
      <p:sp>
        <p:nvSpPr>
          <p:cNvPr id="18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UBS1 版本另明確建議「做空 EUR/CHF」，UBS2 未提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13</a:t>
            </a:fld>
            <a:endParaRPr lang="zh-TW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歐股與銀行：回檔已過度反映風險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D　股票與銀行</a:t>
            </a:r>
            <a:endParaRPr lang="zh-TW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143000"/>
          <a:ext cx="35661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ard"/>
          <p:cNvSpPr/>
          <p:nvPr/>
        </p:nvSpPr>
        <p:spPr>
          <a:xfrm>
            <a:off x="4251960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34840" y="1252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600" b="1" dirty="0">
                <a:solidFill>
                  <a:schemeClr val="accent2"/>
                </a:solidFill>
              </a:rPr>
              <a:t>−10</a:t>
            </a:r>
            <a:pPr indent="0" marL="0">
              <a:buNone/>
            </a:pPr>
            <a:r>
              <a:rPr lang="zh-TW" sz="1500" b="1" dirty="0">
                <a:solidFill>
                  <a:schemeClr val="accent2"/>
                </a:solidFill>
              </a:rPr>
              <a:t>%</a:t>
            </a:r>
            <a:endParaRPr lang="zh-TW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4434840" y="185623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歐股估值兩個月下修</a:t>
            </a:r>
            <a:endParaRPr lang="zh-TW" sz="1300" dirty="0"/>
          </a:p>
        </p:txBody>
      </p:sp>
      <p:sp>
        <p:nvSpPr>
          <p:cNvPr id="12" name="card"/>
          <p:cNvSpPr/>
          <p:nvPr/>
        </p:nvSpPr>
        <p:spPr>
          <a:xfrm>
            <a:off x="6583680" y="114300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0" y="1252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600" b="1" dirty="0">
                <a:solidFill>
                  <a:schemeClr val="accent2"/>
                </a:solidFill>
              </a:rPr>
              <a:t>−10</a:t>
            </a:r>
            <a:pPr indent="0" marL="0">
              <a:buNone/>
            </a:pPr>
            <a:r>
              <a:rPr lang="zh-TW" sz="1500" b="1" dirty="0">
                <a:solidFill>
                  <a:schemeClr val="accent2"/>
                </a:solidFill>
              </a:rPr>
              <a:t>%</a:t>
            </a:r>
            <a:endParaRPr lang="zh-TW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185623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銀行股兩個月跌幅</a:t>
            </a:r>
            <a:endParaRPr lang="zh-TW" sz="1300" dirty="0"/>
          </a:p>
        </p:txBody>
      </p:sp>
      <p:sp>
        <p:nvSpPr>
          <p:cNvPr id="15" name="card"/>
          <p:cNvSpPr/>
          <p:nvPr/>
        </p:nvSpPr>
        <p:spPr>
          <a:xfrm>
            <a:off x="4251960" y="224028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434840" y="2350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600" b="1" dirty="0">
                <a:solidFill>
                  <a:schemeClr val="accent1"/>
                </a:solidFill>
              </a:rPr>
              <a:t>20</a:t>
            </a:r>
            <a:pPr indent="0" marL="0">
              <a:buNone/>
            </a:pPr>
            <a:r>
              <a:rPr lang="zh-TW" sz="1500" b="1" dirty="0">
                <a:solidFill>
                  <a:schemeClr val="accent1"/>
                </a:solidFill>
              </a:rPr>
              <a:t>%</a:t>
            </a:r>
            <a:endParaRPr lang="zh-TW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4434840" y="29535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銀行估值較歷史折價</a:t>
            </a:r>
            <a:endParaRPr lang="zh-TW" sz="1300" dirty="0"/>
          </a:p>
        </p:txBody>
      </p:sp>
      <p:sp>
        <p:nvSpPr>
          <p:cNvPr id="18" name="card"/>
          <p:cNvSpPr/>
          <p:nvPr/>
        </p:nvSpPr>
        <p:spPr>
          <a:xfrm>
            <a:off x="6583680" y="2240280"/>
            <a:ext cx="210312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66560" y="23500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600" b="1" dirty="0">
                <a:solidFill>
                  <a:schemeClr val="accent1"/>
                </a:solidFill>
              </a:rPr>
              <a:t>6</a:t>
            </a:r>
            <a:pPr indent="0" marL="0">
              <a:buNone/>
            </a:pPr>
            <a:r>
              <a:rPr lang="zh-TW" sz="1500" b="1" dirty="0">
                <a:solidFill>
                  <a:schemeClr val="accent1"/>
                </a:solidFill>
              </a:rPr>
              <a:t>%</a:t>
            </a:r>
            <a:endParaRPr lang="zh-TW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2953512"/>
            <a:ext cx="1737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每年回購＋股息／市值</a:t>
            </a:r>
            <a:endParaRPr lang="zh-TW" sz="1300" dirty="0"/>
          </a:p>
        </p:txBody>
      </p:sp>
      <p:sp>
        <p:nvSpPr>
          <p:cNvPr id="21" name="card"/>
          <p:cNvSpPr/>
          <p:nvPr/>
        </p:nvSpPr>
        <p:spPr>
          <a:xfrm>
            <a:off x="4251960" y="3337560"/>
            <a:ext cx="4434840" cy="1051560"/>
          </a:xfrm>
          <a:prstGeom prst="roundRect">
            <a:avLst>
              <a:gd name="adj" fmla="val 6957"/>
            </a:avLst>
          </a:prstGeom>
          <a:solidFill>
            <a:srgbClr val="E4EAF3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434840" y="3447288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UBS 觀點：逢低布局</a:t>
            </a:r>
            <a:endParaRPr lang="zh-TW" sz="16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300" dirty="0">
                <a:solidFill>
                  <a:schemeClr val="tx1"/>
                </a:solidFill>
              </a:rPr>
              <a:t>PMI 重回 50 以上、獲利上修；德國與歐盟的國防、電氣化支出惠及法國工業</a:t>
            </a:r>
            <a:endParaRPr lang="zh-TW" sz="1600" dirty="0"/>
          </a:p>
        </p:txBody>
      </p:sp>
      <p:sp>
        <p:nvSpPr>
          <p:cNvPr id="23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金融海嘯時期為「30 倍以上」；法國銀行因持有 OAT 面臨評價損失，但本業獲利仍強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14</a:t>
            </a:fld>
            <a:endParaRPr 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信用債：高收益看多，挑全球化法企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E　信用債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43000"/>
            <a:ext cx="18745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252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70</a:t>
            </a:r>
            <a:pPr indent="0" marL="0">
              <a:buNone/>
            </a:pPr>
            <a:r>
              <a:rPr lang="zh-TW" sz="1500" b="1" dirty="0">
                <a:solidFill>
                  <a:schemeClr val="accent1"/>
                </a:solidFill>
              </a:rPr>
              <a:t>bp</a:t>
            </a:r>
            <a:endParaRPr lang="zh-TW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856232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歐洲 HY 利差擴大；剔除法企僅差數 bp</a:t>
            </a:r>
            <a:endParaRPr lang="zh-TW" sz="1300" dirty="0"/>
          </a:p>
        </p:txBody>
      </p:sp>
      <p:sp>
        <p:nvSpPr>
          <p:cNvPr id="11" name="card"/>
          <p:cNvSpPr/>
          <p:nvPr/>
        </p:nvSpPr>
        <p:spPr>
          <a:xfrm>
            <a:off x="2575865" y="1143000"/>
            <a:ext cx="18745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58745" y="1252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2"/>
                </a:solidFill>
              </a:rPr>
              <a:t>2</a:t>
            </a:r>
            <a:pPr indent="0" marL="0">
              <a:buNone/>
            </a:pPr>
            <a:r>
              <a:rPr lang="zh-TW" sz="1500" b="1" dirty="0">
                <a:solidFill>
                  <a:schemeClr val="accent2"/>
                </a:solidFill>
              </a:rPr>
              <a:t>倍</a:t>
            </a:r>
            <a:endParaRPr lang="zh-TW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2758745" y="1856232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六週利差擴幅：歐洲為美國兩倍</a:t>
            </a:r>
            <a:endParaRPr lang="zh-TW" sz="1300" dirty="0"/>
          </a:p>
        </p:txBody>
      </p:sp>
      <p:sp>
        <p:nvSpPr>
          <p:cNvPr id="14" name="card"/>
          <p:cNvSpPr/>
          <p:nvPr/>
        </p:nvSpPr>
        <p:spPr>
          <a:xfrm>
            <a:off x="4694530" y="1143000"/>
            <a:ext cx="18745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77410" y="1252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2"/>
                </a:solidFill>
              </a:rPr>
              <a:t>&gt;20</a:t>
            </a:r>
            <a:pPr indent="0" marL="0">
              <a:buNone/>
            </a:pPr>
            <a:r>
              <a:rPr lang="zh-TW" sz="1500" b="1" dirty="0">
                <a:solidFill>
                  <a:schemeClr val="accent2"/>
                </a:solidFill>
              </a:rPr>
              <a:t>%</a:t>
            </a:r>
            <a:endParaRPr lang="zh-TW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4877410" y="1856232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法國 IG 債收益率低於 OAT</a:t>
            </a:r>
            <a:endParaRPr lang="zh-TW" sz="1300" dirty="0"/>
          </a:p>
        </p:txBody>
      </p:sp>
      <p:sp>
        <p:nvSpPr>
          <p:cNvPr id="17" name="card"/>
          <p:cNvSpPr/>
          <p:nvPr/>
        </p:nvSpPr>
        <p:spPr>
          <a:xfrm>
            <a:off x="6813194" y="1143000"/>
            <a:ext cx="1874520" cy="1298448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96074" y="12527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6</a:t>
            </a:r>
            <a:pPr indent="0" marL="0">
              <a:buNone/>
            </a:pPr>
            <a:r>
              <a:rPr lang="zh-TW" sz="1500" b="1" dirty="0">
                <a:solidFill>
                  <a:schemeClr val="accent1"/>
                </a:solidFill>
              </a:rPr>
              <a:t>倍</a:t>
            </a:r>
            <a:endParaRPr lang="zh-TW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996074" y="1856232"/>
            <a:ext cx="1508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TW" sz="1300" dirty="0">
                <a:solidFill>
                  <a:schemeClr val="tx1"/>
                </a:solidFill>
              </a:rPr>
              <a:t>Air Liquide 發債超額認購</a:t>
            </a:r>
            <a:endParaRPr lang="zh-TW" sz="1300" dirty="0"/>
          </a:p>
        </p:txBody>
      </p:sp>
      <p:sp>
        <p:nvSpPr>
          <p:cNvPr id="20" name="card"/>
          <p:cNvSpPr/>
          <p:nvPr/>
        </p:nvSpPr>
        <p:spPr>
          <a:xfrm>
            <a:off x="457200" y="260604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2715768"/>
            <a:ext cx="36576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1"/>
                </a:solidFill>
              </a:rPr>
              <a:t>傳導路徑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集中於法國金融債，但貝他值低於 2024 年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IG 對 OAT 較敏感：金融權重高、公用事業有加稅風險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HY 主要受實質利率與全球利率驅動</a:t>
            </a:r>
            <a:endParaRPr lang="zh-TW" sz="1600" dirty="0"/>
          </a:p>
        </p:txBody>
      </p:sp>
      <p:sp>
        <p:nvSpPr>
          <p:cNvPr id="22" name="card"/>
          <p:cNvSpPr/>
          <p:nvPr/>
        </p:nvSpPr>
        <p:spPr>
          <a:xfrm>
            <a:off x="4663440" y="260604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E4EAF3"/>
          </a:solidFill>
          <a:ln w="12700">
            <a:solidFill>
              <a:srgbClr val="E4EAF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46320" y="2715768"/>
            <a:ext cx="36576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UBS 建議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歐洲 HY：戰術性看多，利差近 3 月高點、PMI 改善</a:t>
            </a:r>
            <a:endParaRPr lang="zh-TW" sz="160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法國 IG：布局全球化、非週期性的發行人</a:t>
            </a:r>
            <a:endParaRPr lang="zh-TW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15</a:t>
            </a:fld>
            <a:endParaRPr lang="zh-TW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sz="2800" b="1" dirty="0">
                <a:solidFill>
                  <a:schemeClr val="accent1"/>
                </a:solidFill>
              </a:rPr>
              <a:t>後續觀察與版本差異</a:t>
            </a:r>
            <a:endParaRPr lang="zh-TW" sz="2800" dirty="0"/>
          </a:p>
        </p:txBody>
      </p:sp>
      <p:sp>
        <p:nvSpPr>
          <p:cNvPr id="3" name="flag-blue"/>
          <p:cNvSpPr/>
          <p:nvPr/>
        </p:nvSpPr>
        <p:spPr>
          <a:xfrm>
            <a:off x="457200" y="182880"/>
            <a:ext cx="87782" cy="1463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flag-white"/>
          <p:cNvSpPr/>
          <p:nvPr/>
        </p:nvSpPr>
        <p:spPr>
          <a:xfrm>
            <a:off x="544982" y="182880"/>
            <a:ext cx="87782" cy="146304"/>
          </a:xfrm>
          <a:prstGeom prst="rect">
            <a:avLst/>
          </a:prstGeom>
          <a:solidFill>
            <a:schemeClr val="bg1"/>
          </a:solidFill>
          <a:ln w="6350">
            <a:solidFill>
              <a:srgbClr val="C9CDD5"/>
            </a:solidFill>
            <a:prstDash val="solid"/>
          </a:ln>
        </p:spPr>
      </p:sp>
      <p:sp>
        <p:nvSpPr>
          <p:cNvPr id="5" name="flag-red"/>
          <p:cNvSpPr/>
          <p:nvPr/>
        </p:nvSpPr>
        <p:spPr>
          <a:xfrm>
            <a:off x="632765" y="182880"/>
            <a:ext cx="87782" cy="14630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ection-label"/>
          <p:cNvSpPr txBox="1"/>
          <p:nvPr/>
        </p:nvSpPr>
        <p:spPr>
          <a:xfrm>
            <a:off x="786384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100" b="1" dirty="0">
                <a:solidFill>
                  <a:schemeClr val="accent2"/>
                </a:solidFill>
              </a:rPr>
              <a:t>結語</a:t>
            </a:r>
            <a:endParaRPr lang="zh-TW" sz="1100" dirty="0"/>
          </a:p>
        </p:txBody>
      </p:sp>
      <p:sp>
        <p:nvSpPr>
          <p:cNvPr id="8" name="card"/>
          <p:cNvSpPr/>
          <p:nvPr/>
        </p:nvSpPr>
        <p:spPr>
          <a:xfrm>
            <a:off x="457200" y="1143000"/>
            <a:ext cx="475488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2618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600" b="1" dirty="0">
                <a:solidFill>
                  <a:schemeClr val="accent1"/>
                </a:solidFill>
              </a:rPr>
              <a:t>後續催化劑</a:t>
            </a:r>
            <a:endParaRPr lang="zh-TW" sz="1600" dirty="0"/>
          </a:p>
        </p:txBody>
      </p:sp>
      <p:sp>
        <p:nvSpPr>
          <p:cNvPr id="10" name="timeline"/>
          <p:cNvSpPr/>
          <p:nvPr/>
        </p:nvSpPr>
        <p:spPr>
          <a:xfrm>
            <a:off x="868680" y="1783080"/>
            <a:ext cx="0" cy="233172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1" name="node"/>
          <p:cNvSpPr/>
          <p:nvPr/>
        </p:nvSpPr>
        <p:spPr>
          <a:xfrm>
            <a:off x="768096" y="1783080"/>
            <a:ext cx="201168" cy="20116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17190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chemeClr val="accent1"/>
                </a:solidFill>
              </a:rPr>
              <a:t>進行中</a:t>
            </a:r>
            <a:endParaRPr lang="zh-TW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770632" y="171907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國會預算辯論與 49.3 條動向</a:t>
            </a:r>
            <a:endParaRPr lang="zh-TW" sz="1300" dirty="0"/>
          </a:p>
        </p:txBody>
      </p:sp>
      <p:sp>
        <p:nvSpPr>
          <p:cNvPr id="14" name="node"/>
          <p:cNvSpPr/>
          <p:nvPr/>
        </p:nvSpPr>
        <p:spPr>
          <a:xfrm>
            <a:off x="768096" y="2404872"/>
            <a:ext cx="201168" cy="20116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2340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chemeClr val="accent1"/>
                </a:solidFill>
              </a:rPr>
              <a:t>10/24–25</a:t>
            </a:r>
            <a:endParaRPr lang="zh-TW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770632" y="2340864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RN 黨大會公布退休改革細節</a:t>
            </a:r>
            <a:endParaRPr lang="zh-TW" sz="1300" dirty="0"/>
          </a:p>
        </p:txBody>
      </p:sp>
      <p:sp>
        <p:nvSpPr>
          <p:cNvPr id="17" name="node"/>
          <p:cNvSpPr/>
          <p:nvPr/>
        </p:nvSpPr>
        <p:spPr>
          <a:xfrm>
            <a:off x="768096" y="3026664"/>
            <a:ext cx="201168" cy="20116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296265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chemeClr val="accent2"/>
                </a:solidFill>
              </a:rPr>
              <a:t>2027/4/18、5/2</a:t>
            </a:r>
            <a:endParaRPr lang="zh-TW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770632" y="29626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總統大選兩輪，隨後國會選舉</a:t>
            </a:r>
            <a:endParaRPr lang="zh-TW" sz="1300" dirty="0"/>
          </a:p>
        </p:txBody>
      </p:sp>
      <p:sp>
        <p:nvSpPr>
          <p:cNvPr id="20" name="node"/>
          <p:cNvSpPr/>
          <p:nvPr/>
        </p:nvSpPr>
        <p:spPr>
          <a:xfrm>
            <a:off x="768096" y="3648456"/>
            <a:ext cx="201168" cy="20116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97280" y="35844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400" b="1" dirty="0">
                <a:solidFill>
                  <a:schemeClr val="accent1"/>
                </a:solidFill>
              </a:rPr>
              <a:t>2027 年中</a:t>
            </a:r>
            <a:endParaRPr lang="zh-TW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770632" y="3584448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1300" dirty="0">
                <a:solidFill>
                  <a:schemeClr val="tx1"/>
                </a:solidFill>
              </a:rPr>
              <a:t>財政數據驗證 5% 赤字目標</a:t>
            </a:r>
            <a:endParaRPr lang="zh-TW" sz="1300" dirty="0"/>
          </a:p>
        </p:txBody>
      </p:sp>
      <p:sp>
        <p:nvSpPr>
          <p:cNvPr id="23" name="card"/>
          <p:cNvSpPr/>
          <p:nvPr/>
        </p:nvSpPr>
        <p:spPr>
          <a:xfrm>
            <a:off x="5394960" y="1143000"/>
            <a:ext cx="3291840" cy="3246120"/>
          </a:xfrm>
          <a:prstGeom prst="roundRect">
            <a:avLst>
              <a:gd name="adj" fmla="val 22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77840" y="1261872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zh-TW" sz="1600" b="1" dirty="0">
                <a:solidFill>
                  <a:schemeClr val="accent2"/>
                </a:solidFill>
              </a:rPr>
              <a:t>UBS1 版本差異</a:t>
            </a:r>
            <a:endParaRPr lang="zh-TW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政治：另提中間派擁擠，須先內部整合；未提社會黨初選</a:t>
            </a:r>
            <a:endParaRPr lang="zh-TW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法債：建議加碼 Bund，對義、西利差保持謹慎</a:t>
            </a:r>
            <a:endParaRPr lang="zh-TW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TW" sz="1300" dirty="0">
                <a:solidFill>
                  <a:schemeClr val="tx1"/>
                </a:solidFill>
              </a:rPr>
              <a:t>外匯：明確建議做空 EUR/CHF</a:t>
            </a:r>
            <a:endParaRPr lang="zh-TW" sz="1300" dirty="0"/>
          </a:p>
        </p:txBody>
      </p:sp>
      <p:sp>
        <p:nvSpPr>
          <p:cNvPr id="25" name="source-note"/>
          <p:cNvSpPr txBox="1"/>
          <p:nvPr/>
        </p:nvSpPr>
        <p:spPr>
          <a:xfrm>
            <a:off x="457200" y="44988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sz="950" i="1" dirty="0">
                <a:solidFill>
                  <a:schemeClr val="accent4"/>
                </a:solidFill>
              </a:rPr>
              <a:t>中文譯稿另加三個英文未見的數字（150bp、90bp、1.1050–1.12），本簡報未採用</a:t>
            </a:r>
            <a:endParaRPr lang="zh-TW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zh-TW"/>
              <a:t>16</a:t>
            </a:fld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nce Tricolore Soft">
  <a:themeElements>
    <a:clrScheme name="France Tricolore Soft">
      <a:dk1>
        <a:srgbClr val="3A4050"/>
      </a:dk1>
      <a:lt1>
        <a:srgbClr val="FFFFFF"/>
      </a:lt1>
      <a:dk2>
        <a:srgbClr val="34507E"/>
      </a:dk2>
      <a:lt2>
        <a:srgbClr val="EEF1F6"/>
      </a:lt2>
      <a:accent1>
        <a:srgbClr val="34507E"/>
      </a:accent1>
      <a:accent2>
        <a:srgbClr val="B65A5E"/>
      </a:accent2>
      <a:accent3>
        <a:srgbClr val="93A9CB"/>
      </a:accent3>
      <a:accent4>
        <a:srgbClr val="A9AEB8"/>
      </a:accent4>
      <a:accent5>
        <a:srgbClr val="D49A9D"/>
      </a:accent5>
      <a:accent6>
        <a:srgbClr val="7E5258"/>
      </a:accent6>
      <a:hlink>
        <a:srgbClr val="34507E"/>
      </a:hlink>
      <a:folHlink>
        <a:srgbClr val="93A9CB"/>
      </a:folHlink>
    </a:clrScheme>
    <a:fontScheme name="France Tricolore Soft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瑞銀跨資產電話會議重點：法國財政局勢與歐洲市場衝擊</dc:title>
  <dc:subject>PptxGenJS Presentation</dc:subject>
  <dc:creator>Warren</dc:creator>
  <cp:lastModifiedBy>Warren</cp:lastModifiedBy>
  <cp:revision>1</cp:revision>
  <dcterms:created xsi:type="dcterms:W3CDTF">2026-10-13T02:13:16Z</dcterms:created>
  <dcterms:modified xsi:type="dcterms:W3CDTF">2026-10-13T02:13:16Z</dcterms:modified>
</cp:coreProperties>
</file>