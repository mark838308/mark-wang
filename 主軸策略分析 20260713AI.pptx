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7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68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5029200"/>
          </a:xfrm>
          <a:prstGeom prst="rect">
            <a:avLst/>
          </a:prstGeom>
          <a:solidFill>
            <a:srgbClr val="0F346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320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主軸策略分析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28600" y="102412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·  USD/TWD 跨市場聯動策略  ·  AI Trading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8686800" cy="27432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536192"/>
            <a:ext cx="8686800" cy="804672"/>
          </a:xfrm>
          <a:prstGeom prst="rect">
            <a:avLst/>
          </a:prstGeom>
          <a:solidFill>
            <a:srgbClr val="0F346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910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核心策略：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609344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1Y CCS @ 1.60–1.65%（Rec USD SOFR Flat）+ S/B 1W–1M FX Swap（USD implied 1.00–1.50%）+ 風險對沖 Pay USD IRS（6M–1Y）@ SOFR Flat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487168"/>
            <a:ext cx="2084832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4203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USD/TWD FX-SW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81635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1.00–1.50%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" y="33101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1W–1M implied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41448" y="2487168"/>
            <a:ext cx="2084832" cy="1234440"/>
          </a:xfrm>
          <a:prstGeom prst="rect">
            <a:avLst/>
          </a:prstGeom>
          <a:solidFill>
            <a:srgbClr val="0B6E6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54203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USD/TWD CCS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32888" y="281635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1.60–1.65%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32888" y="33101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Sell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2487168"/>
            <a:ext cx="2084832" cy="12344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254203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SOFR IRS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5736" y="281635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Flat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45736" y="33101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6M–1Y hedge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67144" y="2487168"/>
            <a:ext cx="2084832" cy="1234440"/>
          </a:xfrm>
          <a:prstGeom prst="rect">
            <a:avLst/>
          </a:prstGeom>
          <a:solidFill>
            <a:srgbClr val="5C2D9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254203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58584" y="281635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1.69–1.70%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58584" y="33101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6s at 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858768"/>
            <a:ext cx="4114800" cy="960120"/>
          </a:xfrm>
          <a:prstGeom prst="rect">
            <a:avLst/>
          </a:prstGeom>
          <a:solidFill>
            <a:srgbClr val="4A0A0A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13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最大風險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18795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台灣央行升息（近期且快速）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逢低 Pay 6S TWD IRS 1.69–1.70% 對沖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858768"/>
            <a:ext cx="4709160" cy="960120"/>
          </a:xfrm>
          <a:prstGeom prst="rect">
            <a:avLst/>
          </a:prstGeom>
          <a:solidFill>
            <a:srgbClr val="0A302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136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Trading 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4187952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 SOFR / TWD / FX-Swap 報價連結 + 套利空間計算 + 進出場訊號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78240" y="49743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240"/>
          </a:solidFill>
          <a:ln w="635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四大商品關聯性架構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2062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FX-SW · CCS · USD SOFR IRS · TWD IRS 的定價邏輯與套利連結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920240"/>
            <a:ext cx="2011680" cy="822960"/>
          </a:xfrm>
          <a:prstGeom prst="rect">
            <a:avLst/>
          </a:prstGeom>
          <a:solidFill>
            <a:srgbClr val="0F346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920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USD/TWD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Basis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0116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B8D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FX-SW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USD/TWD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近遠腳利差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USD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463040"/>
            <a:ext cx="2011680" cy="777240"/>
          </a:xfrm>
          <a:prstGeom prst="rect">
            <a:avLst/>
          </a:prstGeom>
          <a:solidFill>
            <a:srgbClr val="0B6E6E"/>
          </a:solidFill>
          <a:ln w="12700">
            <a:solidFill>
              <a:srgbClr val="B8D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USD/TWD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19933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vs TWD fixed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cross-currency basis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20116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B8D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IRS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curve hedge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DV01 match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2011680" cy="777240"/>
          </a:xfrm>
          <a:prstGeom prst="rect">
            <a:avLst/>
          </a:prstGeom>
          <a:solidFill>
            <a:srgbClr val="5C2D91"/>
          </a:solidFill>
          <a:ln w="12700">
            <a:solidFill>
              <a:srgbClr val="B8D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(6s)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4564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TAIBOR/CBC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risk hedge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1874520"/>
            <a:ext cx="1188720" cy="36576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16916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2240280"/>
            <a:ext cx="11887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6916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11887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2461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2697480"/>
            <a:ext cx="1188720" cy="5486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2461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DV01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530352"/>
            <a:ext cx="8686800" cy="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228600" y="1609344"/>
            <a:ext cx="8686800" cy="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228600" y="2688336"/>
            <a:ext cx="8686800" cy="0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228600" y="3767328"/>
            <a:ext cx="8686800" cy="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228600" y="3822192"/>
            <a:ext cx="2084832" cy="987552"/>
          </a:xfrm>
          <a:prstGeom prst="rect">
            <a:avLst/>
          </a:prstGeom>
          <a:solidFill>
            <a:srgbClr val="1C2E40"/>
          </a:solidFill>
          <a:ln w="1016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8770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FX-SW ↔ CCS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4133088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FX-Swap implied USD rate vs CCS SOFR → basis spread = 套利核心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41448" y="3822192"/>
            <a:ext cx="2084832" cy="987552"/>
          </a:xfrm>
          <a:prstGeom prst="rect">
            <a:avLst/>
          </a:prstGeom>
          <a:solidFill>
            <a:srgbClr val="1C2E40"/>
          </a:solidFill>
          <a:ln w="10160">
            <a:solidFill>
              <a:srgbClr val="0F34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32888" y="38770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↔ USD IRS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32888" y="4133088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USD leg 以 SOFR 折現；IRS hedge DV01 中性，消除利率曲線風險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54296" y="3822192"/>
            <a:ext cx="2084832" cy="987552"/>
          </a:xfrm>
          <a:prstGeom prst="rect">
            <a:avLst/>
          </a:prstGeom>
          <a:solidFill>
            <a:srgbClr val="1C2E40"/>
          </a:solidFill>
          <a:ln w="10160">
            <a:solidFill>
              <a:srgbClr val="0F34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736" y="38770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 ↔ FX-SW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45736" y="4133088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CBC升息 → 遠期匯率走貶 → Swap Point 收窄，逢低 Pay 6s 對沖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67144" y="3822192"/>
            <a:ext cx="2084832" cy="987552"/>
          </a:xfrm>
          <a:prstGeom prst="rect">
            <a:avLst/>
          </a:prstGeom>
          <a:solidFill>
            <a:srgbClr val="1C2E40"/>
          </a:solidFill>
          <a:ln w="10160">
            <a:solidFill>
              <a:srgbClr val="0F34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38770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四商品聯動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58584" y="4133088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matching + DV01 neutrality + Basis monitoring = 完整套利架構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78240" y="49743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240"/>
          </a:solidFill>
          <a:ln w="635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策略架構詳解：三層部位設計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2062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核心套利 + 流動性管理 + 風險對沖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1325880"/>
          </a:xfrm>
          <a:prstGeom prst="rect">
            <a:avLst/>
          </a:prstGeom>
          <a:solidFill>
            <a:srgbClr val="0F346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38404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78638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核心套利層  Core Carry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1Y USD/TWD CCS @ 1.60–1.65%（Rec USD SOFR Flat）  Notional: USD 50K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3624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收益來源：CCS fixed rate 1.625% vs 1Y FX-Swap implied USD rate（~1.0–1.5%）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5910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年化利差：+0.125% ~ +0.625%  ·  FX Delta ≈ 0（Non-MTM CCS本金對沖）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8196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主要風險敏感度：TWD DV01 ≈ USD 1,000/bp  ·  CCS Basis Spread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212848"/>
            <a:ext cx="8686800" cy="1325880"/>
          </a:xfrm>
          <a:prstGeom prst="rect">
            <a:avLst/>
          </a:prstGeom>
          <a:solidFill>
            <a:srgbClr val="0B4F6C"/>
          </a:solidFill>
          <a:ln w="19050">
            <a:solidFill>
              <a:srgbClr val="1A8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12848"/>
            <a:ext cx="384048" cy="384048"/>
          </a:xfrm>
          <a:prstGeom prst="rect">
            <a:avLst/>
          </a:prstGeom>
          <a:solidFill>
            <a:srgbClr val="1A8FBF"/>
          </a:solidFill>
          <a:ln w="12700">
            <a:solidFill>
              <a:srgbClr val="1A8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" y="224942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流動性滾動層  Liquidity Roll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59689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S/B 1W–1M USD/TWD FX Swap  ·  Notional match CCS USD leg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82549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功能：每月/每週以較低 implied rate（1.0–1.5%）滾動資金，補足 CCS 的 USD funding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05409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關鍵監控：FX Swap implied rate vs SOFR spread；S/B 1W–1M需關注資金鬆緊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28269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觸發條件：股市波動、繳稅季、月底資金需求升高時暫停或縮減規模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675888"/>
            <a:ext cx="8686800" cy="1325880"/>
          </a:xfrm>
          <a:prstGeom prst="rect">
            <a:avLst/>
          </a:prstGeom>
          <a:solidFill>
            <a:srgbClr val="3C1361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675888"/>
            <a:ext cx="384048" cy="384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6656" y="371246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風險對沖層  Rate Hedge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405993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USD IRS（6M–1Y）@ SOFR Flat  Notional: USD 35K（≈70% of CCS）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28853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目的：對沖 CCS USD SOFR leg 的利率曲線風險，維持 DV01 中性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51713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逢低 Pay 6S TWD IRS @ 1.69–1.70%（TAIBOR 1.68%）Notional: USD 30K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74573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觸發：台灣央行升息預期升溫時加碼，保護 CCS TWD fixed leg 的 mark-to-market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462272"/>
            <a:ext cx="8686800" cy="0"/>
          </a:xfrm>
          <a:prstGeom prst="rect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8778240" y="49743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240"/>
          </a:solidFill>
          <a:ln w="635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風險矩陣與對沖邏輯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2062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主要風險因子 · 敏感度量化 · 對應對沖工具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9659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4980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風險因子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749808"/>
            <a:ext cx="877824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749808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衝擊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749808"/>
            <a:ext cx="877824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749808"/>
            <a:ext cx="877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749808"/>
            <a:ext cx="146304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7498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敏感度量化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749808"/>
            <a:ext cx="33375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7498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對沖工具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078992"/>
            <a:ext cx="8686800" cy="713232"/>
          </a:xfrm>
          <a:prstGeom prst="rect">
            <a:avLst/>
          </a:prstGeom>
          <a:solidFill>
            <a:srgbClr val="1C2E4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11556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台灣央行升息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1243584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1243584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111556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 +DV01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remarks每bp TWD 31,380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1115568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逢低 Pay 6S TWD IRS @ 1.69–1.70%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1883664"/>
            <a:ext cx="8686800" cy="713232"/>
          </a:xfrm>
          <a:prstGeom prst="rect">
            <a:avLst/>
          </a:prstGeom>
          <a:solidFill>
            <a:srgbClr val="16203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9202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SOFR 曲線上移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2048256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54680" y="2048256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192024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IRS DV01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 1,000/bp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1920240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USD IRS 6M–1Y @ SOFR Flat (USD 35K)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688336"/>
            <a:ext cx="8686800" cy="713232"/>
          </a:xfrm>
          <a:prstGeom prst="rect">
            <a:avLst/>
          </a:prstGeom>
          <a:solidFill>
            <a:srgbClr val="1C2E4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2491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CCS Basis 擴大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40280" y="2852928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54680" y="2852928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0" y="2724912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每1bp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PV 變動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2724912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 FX-Swap implied vs SOFR spread daily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493008"/>
            <a:ext cx="8686800" cy="713232"/>
          </a:xfrm>
          <a:prstGeom prst="rect">
            <a:avLst/>
          </a:prstGeom>
          <a:solidFill>
            <a:srgbClr val="16203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2958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FX Spot 急升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40280" y="3657600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154680" y="3657600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0" y="352958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Non-MTM CCS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Delta ≈ 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3529584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本金結構鎖定，FX Delta 接近 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297680"/>
            <a:ext cx="8686800" cy="713232"/>
          </a:xfrm>
          <a:prstGeom prst="rect">
            <a:avLst/>
          </a:prstGeom>
          <a:solidFill>
            <a:srgbClr val="1C2E4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33425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資金市場緊縮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40280" y="4462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154680" y="4462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14800" y="433425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FX-SW implied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利率急升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23560" y="4334256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縮減 FX-SW 規模，轉用 Term 資金源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5102352"/>
            <a:ext cx="8686800" cy="274320"/>
          </a:xfrm>
          <a:prstGeom prst="rect">
            <a:avLst/>
          </a:prstGeom>
          <a:solidFill>
            <a:srgbClr val="1C2E40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512064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最大尾部風險：台灣央行突然且快速升息 — 此情境下，TWD IRS DV01 損失可能超過 CCS carry 獲利，需嚴格設定停損 bp 上限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78240" y="49743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240"/>
          </a:solidFill>
          <a:ln w="635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Trading Dashboard 架構藍圖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2062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即時報價 · 套利計算 · 進出場訊號 · 四商品聯動監控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51960" cy="1993392"/>
          </a:xfrm>
          <a:prstGeom prst="rect">
            <a:avLst/>
          </a:prstGeom>
          <a:solidFill>
            <a:srgbClr val="0F346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686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即時報價引擎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399032"/>
            <a:ext cx="42519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90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OIS curve（Bloomberg/Refinitiv API）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USD/TWD Spot &amp; FX-Swap Tenor Grid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122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mid-market quotes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 TAIBOR curve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90872" y="777240"/>
            <a:ext cx="4251960" cy="1993392"/>
          </a:xfrm>
          <a:prstGeom prst="rect">
            <a:avLst/>
          </a:prstGeom>
          <a:solidFill>
            <a:srgbClr val="0B6E6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686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套利空間計算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161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Analytics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1399032"/>
            <a:ext cx="42519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490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rate vs FX-Swap implied USD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18013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Spread = CCS rate − FX-implied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1122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DV01 matching ratio (CCS vs IRS hedge)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4231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 vs TAIBOR carry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4251960" cy="1993392"/>
          </a:xfrm>
          <a:prstGeom prst="rect">
            <a:avLst/>
          </a:prstGeom>
          <a:solidFill>
            <a:srgbClr val="3C1361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0632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進出場訊號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3558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593592"/>
            <a:ext cx="42519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850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Basis &gt; threshold (e.g. +25bp)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9959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Basis &lt; breakeven or risk limit hit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3068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 signal: CBC rate hike prob &gt; 40%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17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signal: Fed dot shift &gt; 25bp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90872" y="2971800"/>
            <a:ext cx="4251960" cy="1993392"/>
          </a:xfrm>
          <a:prstGeom prst="rect">
            <a:avLst/>
          </a:prstGeom>
          <a:solidFill>
            <a:srgbClr val="7A220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0632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風險儀表板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3558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3593592"/>
            <a:ext cx="42519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6850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DV01 (USD &amp; TWD)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39959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Delta residual (non-MTM CCS)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28032" y="43068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 by factor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4617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triggers &amp; alerts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4800600"/>
            <a:ext cx="8686800" cy="438912"/>
          </a:xfrm>
          <a:prstGeom prst="rect">
            <a:avLst/>
          </a:prstGeom>
          <a:solidFill>
            <a:srgbClr val="1C2E4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46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Stack：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4846320"/>
            <a:ext cx="6995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+ WebSocket即時推播  ·  React + Recharts Dashboard  ·  Bloomberg/Refinitiv API  ·  PostgreSQL + Redis  ·  AWS Lambda Signal Engine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778240" y="49743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240"/>
          </a:solidFill>
          <a:ln w="635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進出場規則與訊號邏輯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2062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可量化的觸發條件 · AI 訊號閾值設定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06240" cy="4114800"/>
          </a:xfrm>
          <a:prstGeom prst="rect">
            <a:avLst/>
          </a:prstGeom>
          <a:solidFill>
            <a:srgbClr val="0A3020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進場訊號  Entry Signals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206240" cy="0"/>
          </a:xfrm>
          <a:prstGeom prst="line">
            <a:avLst/>
          </a:prstGeom>
          <a:noFill/>
          <a:ln w="1016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61872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84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Basis Spread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04288" y="129844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+20bp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53619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fixed rate 超過 FX-Swap implied rate 20bp，套利空間充足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568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FX-SW 1M implied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04288" y="1956816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1945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1個月期 implied USD rate 偏低，rolling cost 可控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151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SOFR–TWD basis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04288" y="261518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285292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basis spread 無急劇擴大，定價穩定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36976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735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 6s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04288" y="327355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1.69%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51129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對沖成本低，逢低建立 TWD rate hedge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95344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319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資金市場壓力指標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04288" y="393192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中等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16966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繳稅季 / 股市波動 / 月底流動性緊縮評估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777240"/>
            <a:ext cx="4206240" cy="4114800"/>
          </a:xfrm>
          <a:prstGeom prst="rect">
            <a:avLst/>
          </a:prstGeom>
          <a:solidFill>
            <a:srgbClr val="4A0A0A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841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出場訊號  Exit Signals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1170432"/>
            <a:ext cx="4206240" cy="0"/>
          </a:xfrm>
          <a:prstGeom prst="line">
            <a:avLst/>
          </a:prstGeom>
          <a:noFill/>
          <a:ln w="10160">
            <a:solidFill>
              <a:srgbClr val="EF53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1261872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EF5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2984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Basis Spread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129844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+5bp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153619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套利空間收窄至盈虧平衡，部位獲利了結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1920240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EF53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9568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升息決議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84848" y="1956816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突然升息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21945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IRS DV01 損失超過 carry，觸發停損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2578608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EF53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6151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急升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84848" y="261518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50bp/月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285292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IRS hedge 不足以覆蓋損失，調整規模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236976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EF53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735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FX-SW implied rate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84848" y="327355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2.00%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92040" y="351129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rolling cost 超過 CCS 利差，策略負收益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3895344"/>
            <a:ext cx="4023360" cy="566928"/>
          </a:xfrm>
          <a:prstGeom prst="rect">
            <a:avLst/>
          </a:prstGeom>
          <a:solidFill>
            <a:srgbClr val="1C2E40"/>
          </a:solidFill>
          <a:ln w="6350">
            <a:solidFill>
              <a:srgbClr val="EF53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9319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資金市場緊縮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84848" y="393192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極度緊縮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92040" y="416966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流動性危機：立即縮減 FX-SW 滾動規模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778240" y="49743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Microsoft Office PowerPoint</Application>
  <PresentationFormat>如螢幕大小 (16:9)</PresentationFormat>
  <Paragraphs>189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吳丕雄</cp:lastModifiedBy>
  <cp:revision>1</cp:revision>
  <dcterms:created xsi:type="dcterms:W3CDTF">2026-07-13T01:03:10Z</dcterms:created>
  <dcterms:modified xsi:type="dcterms:W3CDTF">2026-07-13T01:16:50Z</dcterms:modified>
</cp:coreProperties>
</file>