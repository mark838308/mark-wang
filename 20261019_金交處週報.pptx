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8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9.xml" ContentType="application/vnd.openxmlformats-officedocument.theme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10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11.xml" ContentType="application/vnd.openxmlformats-officedocument.theme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1" r:id="rId2"/>
    <p:sldMasterId id="2147483673" r:id="rId3"/>
    <p:sldMasterId id="2147483697" r:id="rId4"/>
    <p:sldMasterId id="2147483770" r:id="rId5"/>
    <p:sldMasterId id="2147483772" r:id="rId6"/>
    <p:sldMasterId id="2147483785" r:id="rId7"/>
    <p:sldMasterId id="2147483791" r:id="rId8"/>
    <p:sldMasterId id="2147483806" r:id="rId9"/>
    <p:sldMasterId id="2147483831" r:id="rId10"/>
    <p:sldMasterId id="2147483844" r:id="rId11"/>
    <p:sldMasterId id="2147483849" r:id="rId12"/>
  </p:sldMasterIdLst>
  <p:notesMasterIdLst>
    <p:notesMasterId r:id="rId28"/>
  </p:notesMasterIdLst>
  <p:handoutMasterIdLst>
    <p:handoutMasterId r:id="rId29"/>
  </p:handoutMasterIdLst>
  <p:sldIdLst>
    <p:sldId id="1541" r:id="rId13"/>
    <p:sldId id="268" r:id="rId14"/>
    <p:sldId id="270" r:id="rId15"/>
    <p:sldId id="273" r:id="rId16"/>
    <p:sldId id="274" r:id="rId17"/>
    <p:sldId id="278" r:id="rId18"/>
    <p:sldId id="275" r:id="rId19"/>
    <p:sldId id="282" r:id="rId20"/>
    <p:sldId id="261" r:id="rId21"/>
    <p:sldId id="3953" r:id="rId22"/>
    <p:sldId id="3954" r:id="rId23"/>
    <p:sldId id="3955" r:id="rId24"/>
    <p:sldId id="3956" r:id="rId25"/>
    <p:sldId id="1558" r:id="rId26"/>
    <p:sldId id="3957" r:id="rId27"/>
  </p:sldIdLst>
  <p:sldSz cx="9144000" cy="6858000" type="screen4x3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2AA3BAE-0B5A-4CF3-9EE5-B8ACC2ADE216}">
          <p14:sldIdLst>
            <p14:sldId id="1541"/>
            <p14:sldId id="268"/>
            <p14:sldId id="270"/>
            <p14:sldId id="273"/>
            <p14:sldId id="274"/>
            <p14:sldId id="278"/>
            <p14:sldId id="275"/>
            <p14:sldId id="282"/>
            <p14:sldId id="261"/>
            <p14:sldId id="3953"/>
            <p14:sldId id="3954"/>
            <p14:sldId id="3955"/>
            <p14:sldId id="3956"/>
            <p14:sldId id="1558"/>
            <p14:sldId id="39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111111"/>
    <a:srgbClr val="0000FF"/>
    <a:srgbClr val="CC00CC"/>
    <a:srgbClr val="00FF00"/>
    <a:srgbClr val="3333FF"/>
    <a:srgbClr val="800000"/>
    <a:srgbClr val="4D4D4D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879" autoAdjust="0"/>
  </p:normalViewPr>
  <p:slideViewPr>
    <p:cSldViewPr>
      <p:cViewPr varScale="1">
        <p:scale>
          <a:sx n="122" d="100"/>
          <a:sy n="122" d="100"/>
        </p:scale>
        <p:origin x="570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67" y="-158"/>
      </p:cViewPr>
      <p:guideLst>
        <p:guide orient="horz" pos="3128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TW" sz="2000" b="1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2000" b="1" i="0" u="none" strike="noStrike">
                <a:solidFill>
                  <a:srgbClr val="3A4050"/>
                </a:solidFill>
                <a:latin typeface="+mn-lt"/>
              </a:rPr>
              <a:t>公共赤字（</a:t>
            </a:r>
            <a:r>
              <a:rPr lang="en-US" altLang="zh-TW" sz="2000" b="1" i="0" u="none" strike="noStrike">
                <a:solidFill>
                  <a:srgbClr val="3A4050"/>
                </a:solidFill>
                <a:latin typeface="+mn-lt"/>
              </a:rPr>
              <a:t>% </a:t>
            </a:r>
            <a:r>
              <a:rPr lang="en-US" sz="2000" b="1" i="0" u="none" strike="noStrike">
                <a:solidFill>
                  <a:srgbClr val="3A4050"/>
                </a:solidFill>
                <a:latin typeface="+mn-lt"/>
              </a:rPr>
              <a:t>GDP）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3.5919540229885097E-2"/>
          <c:y val="9.8921654929577496E-2"/>
          <c:w val="0.94432471264367801"/>
          <c:h val="0.82594630281690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赤字／GDP</c:v>
                </c:pt>
              </c:strCache>
            </c:strRef>
          </c:tx>
          <c:spPr>
            <a:solidFill>
              <a:srgbClr val="B65A5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2000" b="1" i="0" u="none" strike="noStrike" kern="1200" baseline="0">
                    <a:solidFill>
                      <a:srgbClr val="3A4050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2025 實際</c:v>
                </c:pt>
                <c:pt idx="1">
                  <c:v>2026 預估</c:v>
                </c:pt>
                <c:pt idx="2">
                  <c:v>2027 目標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5.4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77-4EED-93E2-6801F0767B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1500" b="1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5"/>
          <c:min val="0"/>
        </c:scaling>
        <c:delete val="0"/>
        <c:axPos val="l"/>
        <c:majorGridlines>
          <c:spPr>
            <a:ln w="9525" cap="flat" cmpd="sng" algn="ctr">
              <a:solidFill>
                <a:srgbClr val="E7E9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1000" b="0" i="0" u="none" strike="noStrike" kern="1200" baseline="0">
                <a:solidFill>
                  <a:srgbClr val="6E7484"/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TW"/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TW" sz="2000" b="1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2000" b="1" i="0" u="none" strike="noStrike">
                <a:solidFill>
                  <a:srgbClr val="3A4050"/>
                </a:solidFill>
                <a:latin typeface="+mn-lt"/>
              </a:rPr>
              <a:t>公共債務（</a:t>
            </a:r>
            <a:r>
              <a:rPr lang="en-US" altLang="zh-TW" sz="2000" b="1" i="0" u="none" strike="noStrike">
                <a:solidFill>
                  <a:srgbClr val="3A4050"/>
                </a:solidFill>
                <a:latin typeface="+mn-lt"/>
              </a:rPr>
              <a:t>% GDP</a:t>
            </a:r>
            <a:r>
              <a:rPr lang="zh-TW" altLang="en-US" sz="2000" b="1" i="0" u="none" strike="noStrike">
                <a:solidFill>
                  <a:srgbClr val="3A4050"/>
                </a:solidFill>
                <a:latin typeface="+mn-lt"/>
              </a:rPr>
              <a:t>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債務／GDP</c:v>
                </c:pt>
              </c:strCache>
            </c:strRef>
          </c:tx>
          <c:spPr>
            <a:ln w="38100" cap="flat" cmpd="sng" algn="ctr">
              <a:solidFill>
                <a:srgbClr val="34507E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34507E"/>
              </a:solidFill>
              <a:ln w="9525" cap="flat" cmpd="sng" algn="ctr">
                <a:solidFill>
                  <a:srgbClr val="34507E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2000" b="1" i="0" u="none" strike="noStrike" kern="1200" baseline="0">
                    <a:solidFill>
                      <a:srgbClr val="3A4050"/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2025 實際</c:v>
                </c:pt>
                <c:pt idx="1">
                  <c:v>2026 預估</c:v>
                </c:pt>
                <c:pt idx="2">
                  <c:v>2027 預估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115.9</c:v>
                </c:pt>
                <c:pt idx="1">
                  <c:v>119.3</c:v>
                </c:pt>
                <c:pt idx="2">
                  <c:v>121.7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DE-4219-A858-680B5F88C7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2000" b="0" i="0" u="none" strike="noStrike" kern="1200" baseline="0">
                <a:solidFill>
                  <a:srgbClr val="3A4050"/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  <c:min val="110"/>
        </c:scaling>
        <c:delete val="0"/>
        <c:axPos val="l"/>
        <c:majorGridlines>
          <c:spPr>
            <a:ln w="9525" cap="flat" cmpd="sng" algn="ctr">
              <a:solidFill>
                <a:srgbClr val="E7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TW" sz="1000" b="0" i="0" u="none" strike="noStrike" kern="1200" baseline="0">
                <a:solidFill>
                  <a:srgbClr val="6E7484"/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 lang="zh-TW"/>
      </a:pPr>
      <a:endParaRPr lang="zh-TW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t" anchorCtr="0" compatLnSpc="1">
            <a:prstTxWarp prst="textNoShape">
              <a:avLst/>
            </a:prstTxWarp>
          </a:bodyPr>
          <a:lstStyle>
            <a:lvl1pPr defTabSz="923663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00" y="1"/>
            <a:ext cx="2945976" cy="49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t" anchorCtr="0" compatLnSpc="1">
            <a:prstTxWarp prst="textNoShape">
              <a:avLst/>
            </a:prstTxWarp>
          </a:bodyPr>
          <a:lstStyle>
            <a:lvl1pPr algn="r" defTabSz="923663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3148"/>
            <a:ext cx="2945976" cy="495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b" anchorCtr="0" compatLnSpc="1">
            <a:prstTxWarp prst="textNoShape">
              <a:avLst/>
            </a:prstTxWarp>
          </a:bodyPr>
          <a:lstStyle>
            <a:lvl1pPr defTabSz="923663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00" y="9433148"/>
            <a:ext cx="2945976" cy="495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b" anchorCtr="0" compatLnSpc="1">
            <a:prstTxWarp prst="textNoShape">
              <a:avLst/>
            </a:prstTxWarp>
          </a:bodyPr>
          <a:lstStyle>
            <a:lvl1pPr algn="r" defTabSz="923663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fld id="{EA90D26C-E35A-450B-90C7-84C2B960216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34393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t" anchorCtr="0" compatLnSpc="1">
            <a:prstTxWarp prst="textNoShape">
              <a:avLst/>
            </a:prstTxWarp>
          </a:bodyPr>
          <a:lstStyle>
            <a:lvl1pPr defTabSz="923663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5" y="1"/>
            <a:ext cx="2945976" cy="495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t" anchorCtr="0" compatLnSpc="1">
            <a:prstTxWarp prst="textNoShape">
              <a:avLst/>
            </a:prstTxWarp>
          </a:bodyPr>
          <a:lstStyle>
            <a:lvl1pPr algn="r" defTabSz="923663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4" y="4715462"/>
            <a:ext cx="5437507" cy="4466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707"/>
            <a:ext cx="2945976" cy="49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b" anchorCtr="0" compatLnSpc="1">
            <a:prstTxWarp prst="textNoShape">
              <a:avLst/>
            </a:prstTxWarp>
          </a:bodyPr>
          <a:lstStyle>
            <a:lvl1pPr defTabSz="923663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5" y="9428707"/>
            <a:ext cx="2945976" cy="49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1" tIns="46215" rIns="92431" bIns="46215" numCol="1" anchor="b" anchorCtr="0" compatLnSpc="1">
            <a:prstTxWarp prst="textNoShape">
              <a:avLst/>
            </a:prstTxWarp>
          </a:bodyPr>
          <a:lstStyle>
            <a:lvl1pPr algn="r" defTabSz="923663">
              <a:defRPr sz="1300">
                <a:ea typeface="新細明體" pitchFamily="18" charset="-120"/>
              </a:defRPr>
            </a:lvl1pPr>
          </a:lstStyle>
          <a:p>
            <a:pPr>
              <a:defRPr/>
            </a:pPr>
            <a:fld id="{360372AD-F29F-4D0F-B513-7219CBDC5F6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83502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來源：Kuwait Times/Reuters 2026/7（2025 年赤字 5.1%、債務 115.9%）；Hellenic Shipping News（2026 年 5.4%、債務 119.3%／121.7%）；Euronews（2027 年目標 5%）。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altLang="zh-TW"/>
              <a:t>3</a:t>
            </a:fld>
            <a:endParaRPr 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203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978D09-BAE9-4E8E-870A-390AFDCCA687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2203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9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203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978D09-BAE9-4E8E-870A-390AFDCCA687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+mn-cs"/>
              </a:rPr>
              <a:pPr marL="0" marR="0" lvl="0" indent="0" algn="r" defTabSz="92203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705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0372AD-F29F-4D0F-B513-7219CBDC5F6C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25183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95C5F3-99EF-4E92-8313-B7FF534E2851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33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C1600-8D42-4597-8CA4-003D095EE285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330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B98E4D-4090-4CC7-9045-046950355E56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46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5D5151-29A4-4CB4-A045-9F637401C9A8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87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E22A7-EF76-4CC0-B8E4-4EB561235ED1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989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BB88C-6F0D-489F-9196-70DAAEBD32E3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85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33A2C2-189D-4B97-A621-9D17102788CA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8078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DDDBE6-A36A-4B7F-BE7F-AF040721802B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3404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C80421-F154-4EB7-BAB9-B8AC9CBEFC83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351002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B3FE45-7674-409D-812E-F0930564FA98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4880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F0156B-8B8C-4EE1-A506-9984D200E04F}" type="slidenum">
              <a:rPr lang="zh-TW" altLang="en-US">
                <a:solidFill>
                  <a:srgbClr val="000000"/>
                </a:solidFill>
              </a:rPr>
              <a:pPr/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826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8177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69240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1937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34727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092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0076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58203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50249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22952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5959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42762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7632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2928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07241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7758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534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188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5691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1227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964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1446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740463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73967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4538337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036322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17562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35449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979245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30012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034878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403580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062689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449612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982050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0975676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724987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37422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42722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94031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820825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889344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72658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12738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975100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448433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E0388-5E37-4FAC-8E24-F339600B121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636126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8424" y="6525344"/>
            <a:ext cx="468313" cy="215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C9BCAB-25CD-4021-B293-29A70FB98A0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86789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53C5D-3F8A-417E-A0E1-402271EFCB5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118488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5FEDA-3F60-4C33-8C2D-B330371454A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9940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BB646C-9612-46D3-BF36-E8865731E3D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130235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8424" y="6597352"/>
            <a:ext cx="468313" cy="215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03E16-23D9-46A0-AF5A-EAD3980B5B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952932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9162C-97AC-4BE1-AB3D-79CAF2F4A15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147406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9D462-E295-4196-8161-34C1918DD0D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978361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A88CE-3AAD-4B11-AD94-ECB6C1FC052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249396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E443E-EC3C-4AAC-87FF-75A16A50BF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595887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BB6CB-5B5F-4285-BCEE-F9E17B05C10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3521838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597819"/>
            <a:ext cx="4371975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525" y="2914650"/>
            <a:ext cx="360045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1167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61041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301" y="3305176"/>
            <a:ext cx="4371975" cy="1021556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6301" y="2180035"/>
            <a:ext cx="4371975" cy="1125140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7463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1200151"/>
            <a:ext cx="2271713" cy="3394472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14612" y="1200151"/>
            <a:ext cx="2271713" cy="3394472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498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75" y="1151335"/>
            <a:ext cx="2272606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7175" y="1631156"/>
            <a:ext cx="2272606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12827" y="1151335"/>
            <a:ext cx="2273498" cy="47982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12827" y="1631156"/>
            <a:ext cx="2273498" cy="2963466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3039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933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5828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204787"/>
            <a:ext cx="1692176" cy="8715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0966" y="204788"/>
            <a:ext cx="2875359" cy="438983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7175" y="1076326"/>
            <a:ext cx="1692176" cy="3518297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1114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62" y="3600450"/>
            <a:ext cx="3086100" cy="425054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8162" y="459581"/>
            <a:ext cx="3086100" cy="30861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162" y="4025503"/>
            <a:ext cx="3086100" cy="603647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7028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1447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205979"/>
            <a:ext cx="1157288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205979"/>
            <a:ext cx="3386138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2571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12064"/>
            <a:ext cx="8229600" cy="755904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2801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altLang="en-US" sz="1575" dirty="0"/>
          </a:p>
        </p:txBody>
      </p:sp>
      <p:sp>
        <p:nvSpPr>
          <p:cNvPr id="3" name="Text 0"/>
          <p:cNvSpPr/>
          <p:nvPr/>
        </p:nvSpPr>
        <p:spPr>
          <a:xfrm>
            <a:off x="457200" y="6364224"/>
            <a:ext cx="685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900" dirty="0">
                <a:solidFill>
                  <a:schemeClr val="accent4"/>
                </a:solidFill>
              </a:rPr>
              <a:t>法國公共財政簡報｜資料截至 </a:t>
            </a:r>
            <a:r>
              <a:rPr lang="en-US" altLang="zh-TW" sz="900" dirty="0">
                <a:solidFill>
                  <a:schemeClr val="accent4"/>
                </a:solidFill>
              </a:rPr>
              <a:t>2026/10/12</a:t>
            </a:r>
            <a:r>
              <a:rPr lang="zh-TW" altLang="en-US" sz="900" dirty="0">
                <a:solidFill>
                  <a:schemeClr val="accent4"/>
                </a:solidFill>
              </a:rPr>
              <a:t>｜角色設定：財政部首長簡報</a:t>
            </a:r>
            <a:endParaRPr lang="zh-TW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64224"/>
            <a:ext cx="457200" cy="3048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5468496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17112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89760"/>
            <a:ext cx="8046720" cy="1584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36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altLang="en-US" sz="2025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596640"/>
            <a:ext cx="8046720" cy="12192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18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zh-TW" altLang="en-US" sz="1013" dirty="0"/>
          </a:p>
        </p:txBody>
      </p:sp>
    </p:spTree>
    <p:extLst>
      <p:ext uri="{BB962C8B-B14F-4D97-AF65-F5344CB8AC3E}">
        <p14:creationId xmlns:p14="http://schemas.microsoft.com/office/powerpoint/2010/main" val="150190539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12064"/>
            <a:ext cx="8229600" cy="755904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2801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altLang="en-US" sz="1575" dirty="0"/>
          </a:p>
        </p:txBody>
      </p:sp>
      <p:sp>
        <p:nvSpPr>
          <p:cNvPr id="3" name="Text 0"/>
          <p:cNvSpPr/>
          <p:nvPr/>
        </p:nvSpPr>
        <p:spPr>
          <a:xfrm>
            <a:off x="457200" y="6364224"/>
            <a:ext cx="6858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900" dirty="0">
                <a:solidFill>
                  <a:schemeClr val="accent4"/>
                </a:solidFill>
              </a:rPr>
              <a:t>法國公共財政簡報｜資料截至 </a:t>
            </a:r>
            <a:r>
              <a:rPr lang="en-US" altLang="zh-TW" sz="900" dirty="0">
                <a:solidFill>
                  <a:schemeClr val="accent4"/>
                </a:solidFill>
              </a:rPr>
              <a:t>2026/10/12</a:t>
            </a:r>
            <a:r>
              <a:rPr lang="zh-TW" altLang="en-US" sz="900" dirty="0">
                <a:solidFill>
                  <a:schemeClr val="accent4"/>
                </a:solidFill>
              </a:rPr>
              <a:t>｜角色設定：財政部首長簡報</a:t>
            </a:r>
            <a:endParaRPr lang="zh-TW" alt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64224"/>
            <a:ext cx="457200" cy="3048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19352895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12064"/>
            <a:ext cx="8229600" cy="755904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zh-TW" sz="2801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zh-TW" altLang="en-US" sz="15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64224"/>
            <a:ext cx="457200" cy="3048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6118481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86039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13164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2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7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82.xml"/><Relationship Id="rId7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1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90.xml"/><Relationship Id="rId5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9.xml"/><Relationship Id="rId4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8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9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4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chemeClr val="bg2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itchFamily="18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523EE1-814A-4436-A9F0-90FC08ED8A92}" type="slidenum">
              <a:rPr lang="zh-TW" altLang="en-US">
                <a:solidFill>
                  <a:srgbClr val="000000"/>
                </a:solidFill>
                <a:ea typeface="新細明體" pitchFamily="18" charset="-120"/>
              </a:rPr>
              <a:pPr/>
              <a:t>‹#›</a:t>
            </a:fld>
            <a:endParaRPr lang="en-US" altLang="zh-TW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1000">
                <a:solidFill>
                  <a:srgbClr val="808080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itchFamily="18" charset="-120"/>
            </a:endParaRPr>
          </a:p>
        </p:txBody>
      </p:sp>
      <p:pic>
        <p:nvPicPr>
          <p:cNvPr id="1090567" name="Picture 7" descr="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101621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97FB-EFBE-4ED6-A43F-DDA1512FD57C}" type="datetimeFigureOut">
              <a:rPr lang="zh-TW" altLang="en-US" smtClean="0"/>
              <a:pPr/>
              <a:t>2026/10/19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E97A-62D1-41C7-936F-199E295F9AB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968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rgbClr val="808080"/>
                </a:solidFill>
                <a:latin typeface="標楷體" pitchFamily="65" charset="-120"/>
                <a:ea typeface="標楷體" pitchFamily="65" charset="-120"/>
              </a:rPr>
              <a:t>誠信  承諾  創新  合作</a:t>
            </a: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itchFamily="18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itchFamily="18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7" tIns="45718" rIns="91437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111279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itchFamily="65" charset="-12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406">
              <a:spcBef>
                <a:spcPct val="0"/>
              </a:spcBef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pPr defTabSz="829406">
                <a:spcBef>
                  <a:spcPct val="0"/>
                </a:spcBef>
                <a:defRPr/>
              </a:p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itchFamily="34" charset="-120"/>
                <a:ea typeface="微軟正黑體" pitchFamily="34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10680697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5pPr>
      <a:lvl6pPr marL="414704" algn="l" rtl="0" fontAlgn="base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6pPr>
      <a:lvl7pPr marL="829406" algn="l" rtl="0" fontAlgn="base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7pPr>
      <a:lvl8pPr marL="1244110" algn="l" rtl="0" fontAlgn="base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8pPr>
      <a:lvl9pPr marL="1658813" algn="l" rtl="0" fontAlgn="base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9pPr>
    </p:titleStyle>
    <p:bodyStyle>
      <a:lvl1pPr marL="311027" indent="-311027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177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893" indent="-25919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181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758" indent="-207352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462" indent="-207352" algn="l" rtl="0" eaLnBrk="0" fontAlgn="base" hangingPunct="0">
        <a:spcBef>
          <a:spcPct val="20000"/>
        </a:spcBef>
        <a:spcAft>
          <a:spcPct val="0"/>
        </a:spcAft>
        <a:buChar char="–"/>
        <a:defRPr kumimoji="1" sz="1814">
          <a:solidFill>
            <a:schemeClr val="tx1"/>
          </a:solidFill>
          <a:latin typeface="+mn-lt"/>
          <a:ea typeface="新細明體" pitchFamily="18" charset="-120"/>
        </a:defRPr>
      </a:lvl4pPr>
      <a:lvl5pPr marL="1866165" indent="-207352" algn="l" rtl="0" eaLnBrk="0" fontAlgn="base" hangingPunct="0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5pPr>
      <a:lvl6pPr marL="2280868" indent="-207352" algn="l" rtl="0" fontAlgn="base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6pPr>
      <a:lvl7pPr marL="2695571" indent="-207352" algn="l" rtl="0" fontAlgn="base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7pPr>
      <a:lvl8pPr marL="3110275" indent="-207352" algn="l" rtl="0" fontAlgn="base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8pPr>
      <a:lvl9pPr marL="3524978" indent="-207352" algn="l" rtl="0" fontAlgn="base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04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40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11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881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51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22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292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762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itchFamily="65" charset="-120"/>
              </a:rPr>
              <a:t>誠信  承諾  創新  合作</a:t>
            </a: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148839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itchFamily="34" charset="0"/>
          <a:ea typeface="標楷體" pitchFamily="65" charset="-120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400" b="1">
          <a:solidFill>
            <a:schemeClr val="tx1"/>
          </a:solidFill>
          <a:latin typeface="Arial" pitchFamily="34" charset="0"/>
          <a:ea typeface="標楷體" pitchFamily="65" charset="-120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000" b="1">
          <a:solidFill>
            <a:schemeClr val="tx1"/>
          </a:solidFill>
          <a:latin typeface="Arial" pitchFamily="34" charset="0"/>
          <a:ea typeface="標楷體" pitchFamily="65" charset="-120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b="1">
          <a:solidFill>
            <a:schemeClr val="tx1"/>
          </a:solidFill>
          <a:latin typeface="Arial" pitchFamily="34" charset="0"/>
          <a:ea typeface="標楷體" pitchFamily="65" charset="-120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406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  <a:pPr defTabSz="829406">
                <a:defRPr/>
              </a:pPr>
              <a:t>‹#›</a:t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633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pitchFamily="18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itchFamily="34" charset="-120"/>
                <a:ea typeface="微軟正黑體" pitchFamily="34" charset="-120"/>
              </a:rPr>
              <a:t>誠信  承諾  創新  合作</a:t>
            </a:r>
          </a:p>
        </p:txBody>
      </p:sp>
    </p:spTree>
    <p:extLst>
      <p:ext uri="{BB962C8B-B14F-4D97-AF65-F5344CB8AC3E}">
        <p14:creationId xmlns:p14="http://schemas.microsoft.com/office/powerpoint/2010/main" val="23473665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5pPr>
      <a:lvl6pPr marL="414704" algn="l" rtl="0" fontAlgn="base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6pPr>
      <a:lvl7pPr marL="829406" algn="l" rtl="0" fontAlgn="base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7pPr>
      <a:lvl8pPr marL="1244110" algn="l" rtl="0" fontAlgn="base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8pPr>
      <a:lvl9pPr marL="1658813" algn="l" rtl="0" fontAlgn="base">
        <a:spcBef>
          <a:spcPct val="0"/>
        </a:spcBef>
        <a:spcAft>
          <a:spcPct val="0"/>
        </a:spcAft>
        <a:defRPr kumimoji="1" sz="2721" b="1">
          <a:solidFill>
            <a:schemeClr val="tx2"/>
          </a:solidFill>
          <a:latin typeface="標楷體" pitchFamily="65" charset="-120"/>
          <a:ea typeface="標楷體" pitchFamily="65" charset="-120"/>
        </a:defRPr>
      </a:lvl9pPr>
    </p:titleStyle>
    <p:bodyStyle>
      <a:lvl1pPr marL="311027" indent="-311027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177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893" indent="-25919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1814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758" indent="-207352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462" indent="-207352" algn="l" rtl="0" eaLnBrk="0" fontAlgn="base" hangingPunct="0">
        <a:spcBef>
          <a:spcPct val="20000"/>
        </a:spcBef>
        <a:spcAft>
          <a:spcPct val="0"/>
        </a:spcAft>
        <a:buChar char="–"/>
        <a:defRPr kumimoji="1" sz="1814">
          <a:solidFill>
            <a:schemeClr val="tx1"/>
          </a:solidFill>
          <a:latin typeface="+mn-lt"/>
          <a:ea typeface="新細明體" pitchFamily="18" charset="-120"/>
        </a:defRPr>
      </a:lvl4pPr>
      <a:lvl5pPr marL="1866165" indent="-207352" algn="l" rtl="0" eaLnBrk="0" fontAlgn="base" hangingPunct="0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5pPr>
      <a:lvl6pPr marL="2280868" indent="-207352" algn="l" rtl="0" fontAlgn="base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6pPr>
      <a:lvl7pPr marL="2695571" indent="-207352" algn="l" rtl="0" fontAlgn="base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7pPr>
      <a:lvl8pPr marL="3110275" indent="-207352" algn="l" rtl="0" fontAlgn="base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8pPr>
      <a:lvl9pPr marL="3524978" indent="-207352" algn="l" rtl="0" fontAlgn="base">
        <a:spcBef>
          <a:spcPct val="20000"/>
        </a:spcBef>
        <a:spcAft>
          <a:spcPct val="0"/>
        </a:spcAft>
        <a:buChar char="»"/>
        <a:defRPr kumimoji="1" sz="1814">
          <a:solidFill>
            <a:schemeClr val="tx1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04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40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11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881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51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22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292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762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>
            <a:lvl1pPr algn="r">
              <a:spcBef>
                <a:spcPct val="0"/>
              </a:spcBef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  <a:t>‹#›</a:t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</a:rPr>
              <a:t>誠信  承諾  創新  合作</a:t>
            </a: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115685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798AF422-55C4-49D9-941D-1F98D0970E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itchFamily="65" charset="-120"/>
              </a:rPr>
              <a:t>誠信  承諾  創新  合作</a:t>
            </a: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033" name="Text Box 27"/>
          <p:cNvSpPr txBox="1">
            <a:spLocks noChangeArrowheads="1"/>
          </p:cNvSpPr>
          <p:nvPr/>
        </p:nvSpPr>
        <p:spPr bwMode="auto">
          <a:xfrm>
            <a:off x="7524328" y="692150"/>
            <a:ext cx="1297411" cy="246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1" tIns="45710" rIns="91421" bIns="45710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 dirty="0"/>
              <a:t>金融市場事業總處</a:t>
            </a:r>
          </a:p>
        </p:txBody>
      </p:sp>
    </p:spTree>
    <p:extLst>
      <p:ext uri="{BB962C8B-B14F-4D97-AF65-F5344CB8AC3E}">
        <p14:creationId xmlns:p14="http://schemas.microsoft.com/office/powerpoint/2010/main" val="273034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400" b="1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sz="2000" b="1">
          <a:solidFill>
            <a:schemeClr val="tx1"/>
          </a:solidFill>
          <a:latin typeface="微軟正黑體" pitchFamily="34" charset="-120"/>
          <a:ea typeface="微軟正黑體" pitchFamily="34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n"/>
        <a:defRPr kumimoji="1" b="1">
          <a:solidFill>
            <a:schemeClr val="tx1"/>
          </a:solidFill>
          <a:latin typeface="微軟正黑體" pitchFamily="34" charset="-120"/>
          <a:ea typeface="微軟正黑體" pitchFamily="34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7175" y="205979"/>
            <a:ext cx="462915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175" y="1200151"/>
            <a:ext cx="462915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7175" y="4767263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57363" y="4767263"/>
            <a:ext cx="16287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86175" y="4767263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</p:sldLayoutIdLst>
  <p:txStyles>
    <p:titleStyle>
      <a:lvl1pPr algn="ctr" defTabSz="514350" rtl="0" eaLnBrk="1" latinLnBrk="0" hangingPunct="1"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09" indent="-160734" algn="l" defTabSz="51435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–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»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64224"/>
            <a:ext cx="457200" cy="3048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b="0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98930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98"/>
        </a:spcBef>
        <a:buFont typeface="Arial" panose="020B0604020202020204" pitchFamily="34" charset="0"/>
        <a:buChar char="•"/>
        <a:defRPr sz="320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98"/>
        </a:spcBef>
        <a:buFont typeface="Arial" panose="020B0604020202020204" pitchFamily="34" charset="0"/>
        <a:buChar char="–"/>
        <a:defRPr sz="280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98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98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98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98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98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98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98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22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1.xml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auto">
          <a:xfrm>
            <a:off x="1564353" y="2760540"/>
            <a:ext cx="6460152" cy="1676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sz="24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sz="20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8996C"/>
              </a:buClr>
              <a:buSzTx/>
              <a:buFont typeface="Wingdings" pitchFamily="2" charset="2"/>
              <a:buNone/>
              <a:tabLst/>
              <a:defRPr/>
            </a:pPr>
            <a:endParaRPr kumimoji="1" lang="en-US" altLang="zh-TW" sz="16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標楷體" pitchFamily="65" charset="-120"/>
              <a:cs typeface="+mn-cs"/>
            </a:endParaRPr>
          </a:p>
        </p:txBody>
      </p:sp>
      <p:sp>
        <p:nvSpPr>
          <p:cNvPr id="2051" name="Rectangle 6"/>
          <p:cNvSpPr>
            <a:spLocks noChangeArrowheads="1"/>
          </p:cNvSpPr>
          <p:nvPr/>
        </p:nvSpPr>
        <p:spPr bwMode="auto">
          <a:xfrm>
            <a:off x="468314" y="1940985"/>
            <a:ext cx="755967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sz="24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sz="2000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FF3300"/>
              </a:buClr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Arial" charset="0"/>
                <a:ea typeface="標楷體" pitchFamily="65" charset="-12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1" lang="zh-TW" altLang="en-US" sz="3266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</a:br>
            <a:endParaRPr kumimoji="1" lang="zh-TW" altLang="en-US" sz="3266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pic>
        <p:nvPicPr>
          <p:cNvPr id="2052" name="Picture 11" descr="銀行弧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947710"/>
            <a:ext cx="9144000" cy="767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611188" y="2363259"/>
            <a:ext cx="77771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14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20160" y="935548"/>
            <a:ext cx="7303680" cy="150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66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微軟正黑體" pitchFamily="34" charset="-120"/>
                <a:cs typeface="Arial" charset="0"/>
              </a:rPr>
              <a:t>金融交易處交易</a:t>
            </a:r>
            <a:r>
              <a:rPr kumimoji="1" lang="en-US" altLang="zh-TW" sz="3266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微軟正黑體" pitchFamily="34" charset="-120"/>
                <a:cs typeface="Arial" charset="0"/>
              </a:rPr>
              <a:t>/</a:t>
            </a:r>
            <a:r>
              <a:rPr kumimoji="1" lang="zh-TW" altLang="en-US" sz="3266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微軟正黑體" pitchFamily="34" charset="-120"/>
                <a:cs typeface="Arial" charset="0"/>
              </a:rPr>
              <a:t>市場報告</a:t>
            </a:r>
            <a:endParaRPr kumimoji="1" lang="en-US" altLang="zh-TW" sz="3266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微軟正黑體" pitchFamily="34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808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56931" y="1042988"/>
            <a:ext cx="6809065" cy="539710"/>
          </a:xfrm>
        </p:spPr>
        <p:txBody>
          <a:bodyPr>
            <a:noAutofit/>
          </a:bodyPr>
          <a:lstStyle/>
          <a:p>
            <a:pPr marL="553641" indent="-553641"/>
            <a:r>
              <a:rPr lang="zh-TW" altLang="en-US" sz="1969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交易策略：</a:t>
            </a:r>
            <a:r>
              <a:rPr lang="en-US" altLang="zh-TW" sz="1969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 EUR ESTR 5Y vs Pay USD SOFR 5Y IRS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4122" y="1910165"/>
            <a:ext cx="6056709" cy="2376264"/>
          </a:xfrm>
        </p:spPr>
        <p:txBody>
          <a:bodyPr/>
          <a:lstStyle/>
          <a:p>
            <a:endParaRPr lang="zh-TW" altLang="zh-TW" sz="1499" dirty="0"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1499" dirty="0"/>
          </a:p>
          <a:p>
            <a:endParaRPr lang="zh-TW" altLang="en-US" sz="1499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1156931" y="1575554"/>
            <a:ext cx="6809065" cy="271096"/>
          </a:xfrm>
          <a:prstGeom prst="roundRect">
            <a:avLst/>
          </a:prstGeom>
          <a:solidFill>
            <a:srgbClr val="2E75B6"/>
          </a:solidFill>
        </p:spPr>
        <p:txBody>
          <a:bodyPr wrap="square" tIns="27000" bIns="27000" rtlCol="0">
            <a:spAutoFit/>
          </a:bodyPr>
          <a:lstStyle/>
          <a:p>
            <a:pPr algn="ctr" defTabSz="51435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TW" altLang="en-US" sz="1238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預計法國財政危機將使</a:t>
            </a:r>
            <a:r>
              <a:rPr kumimoji="0" lang="en-US" altLang="zh-TW" sz="1238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ECB</a:t>
            </a:r>
            <a:r>
              <a:rPr kumimoji="0" lang="zh-TW" altLang="en-US" sz="1238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減緩升息或將暫停</a:t>
            </a:r>
            <a:r>
              <a:rPr kumimoji="0" lang="en-US" altLang="zh-TW" sz="1238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QT</a:t>
            </a: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1312545" y="1859757"/>
            <a:ext cx="6653689" cy="34070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68565" tIns="34282" rIns="68565" bIns="34282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pPr marL="192881" indent="-192881" defTabSz="514350"/>
            <a:endParaRPr lang="en-US" altLang="zh-TW" sz="1499" dirty="0">
              <a:solidFill>
                <a:prstClr val="black"/>
              </a:solidFill>
              <a:latin typeface="新細明體" panose="02020500000000000000" pitchFamily="18" charset="-120"/>
              <a:ea typeface="新細明體" panose="02020500000000000000" pitchFamily="18" charset="-120"/>
              <a:sym typeface="+mn-ea"/>
            </a:endParaRPr>
          </a:p>
          <a:p>
            <a:pPr marL="0" indent="0" defTabSz="514350">
              <a:buNone/>
            </a:pPr>
            <a:endParaRPr lang="en-US" altLang="zh-TW" sz="1201" dirty="0">
              <a:solidFill>
                <a:prstClr val="black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257175" lvl="1" indent="0" defTabSz="514350">
              <a:buNone/>
            </a:pPr>
            <a:r>
              <a:rPr lang="en-US" altLang="zh-TW" sz="1201" dirty="0">
                <a:solidFill>
                  <a:prstClr val="black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     </a:t>
            </a:r>
          </a:p>
          <a:p>
            <a:pPr marL="417909" lvl="1" indent="-160734" defTabSz="514350"/>
            <a:endParaRPr lang="en-US" altLang="zh-TW" sz="1201" dirty="0">
              <a:solidFill>
                <a:prstClr val="black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417909" lvl="1" indent="-160734" defTabSz="514350"/>
            <a:endParaRPr lang="en-US" altLang="zh-TW" sz="1201" dirty="0">
              <a:solidFill>
                <a:prstClr val="black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0" indent="0" defTabSz="514350">
              <a:buNone/>
            </a:pPr>
            <a:endParaRPr lang="en-US" altLang="zh-TW" sz="1201" dirty="0">
              <a:solidFill>
                <a:prstClr val="black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 marL="192881" indent="-192881" defTabSz="514350"/>
            <a:endParaRPr lang="en-US" altLang="zh-TW" sz="1499" dirty="0">
              <a:solidFill>
                <a:prstClr val="black"/>
              </a:solidFill>
            </a:endParaRPr>
          </a:p>
          <a:p>
            <a:pPr marL="192881" indent="-192881" defTabSz="514350"/>
            <a:endParaRPr lang="zh-TW" altLang="en-US" sz="1499" dirty="0">
              <a:solidFill>
                <a:prstClr val="black"/>
              </a:solidFill>
            </a:endParaRP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31" y="1910239"/>
            <a:ext cx="6829901" cy="4085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241298"/>
            <a:ext cx="8229600" cy="56692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zh-TW" b="1" dirty="0">
                <a:solidFill>
                  <a:schemeClr val="accent1"/>
                </a:solidFill>
              </a:rPr>
              <a:t>赤字仍逾 5%，債務比率持續攀升</a:t>
            </a:r>
            <a:endParaRPr lang="zh-TW" dirty="0"/>
          </a:p>
        </p:txBody>
      </p:sp>
      <p:sp>
        <p:nvSpPr>
          <p:cNvPr id="6" name="section-label"/>
          <p:cNvSpPr txBox="1"/>
          <p:nvPr/>
        </p:nvSpPr>
        <p:spPr>
          <a:xfrm>
            <a:off x="786384" y="99441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zh-TW" alt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000250"/>
          <a:ext cx="3977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709160" y="2000250"/>
          <a:ext cx="39776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5630418"/>
            <a:ext cx="457200" cy="228600"/>
          </a:xfrm>
          <a:prstGeom prst="rect">
            <a:avLst/>
          </a:prstGeom>
        </p:spPr>
        <p:txBody>
          <a:bodyPr/>
          <a:lstStyle>
            <a:lvl1pPr>
              <a:defRPr sz="506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altLang="zh-TW" sz="900"/>
              <a:t>3</a:t>
            </a:fld>
            <a:endParaRPr lang="zh-TW" altLang="en-US" sz="90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038" y="5413534"/>
            <a:ext cx="4015145" cy="445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8681"/>
            <a:ext cx="9144000" cy="51006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252"/>
            <a:ext cx="9144000" cy="513957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30" y="1580555"/>
            <a:ext cx="4283750" cy="36965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供給面危機__2027年初的發債洪峰_去右框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" y="862965"/>
            <a:ext cx="9137928" cy="5137428"/>
          </a:xfrm>
          <a:prstGeom prst="rect">
            <a:avLst/>
          </a:prstGeom>
        </p:spPr>
      </p:pic>
      <p:graphicFrame>
        <p:nvGraphicFramePr>
          <p:cNvPr id="6" name="圓桌 5"/>
          <p:cNvGraphicFramePr/>
          <p:nvPr/>
        </p:nvGraphicFramePr>
        <p:xfrm>
          <a:off x="5975390" y="1926670"/>
          <a:ext cx="3019663" cy="2297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2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2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400" b="0" u="none">
                          <a:solidFill>
                            <a:srgbClr val="000000"/>
                          </a:solidFill>
                          <a:highlight>
                            <a:srgbClr val="FCE4D6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機構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400" b="0" u="none">
                          <a:solidFill>
                            <a:srgbClr val="000000"/>
                          </a:solidFill>
                          <a:highlight>
                            <a:srgbClr val="FCE4D6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暫緩</a:t>
                      </a: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highlight>
                            <a:srgbClr val="FCE4D6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QT</a:t>
                      </a:r>
                      <a:r>
                        <a:rPr lang="zh-TW" altLang="en-US" sz="1400" b="0" u="none">
                          <a:solidFill>
                            <a:srgbClr val="000000"/>
                          </a:solidFill>
                          <a:highlight>
                            <a:srgbClr val="FCE4D6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可能性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Citi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BNP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2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MS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O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2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GS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需看到更多主權債壓力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2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JPM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TW" altLang="en-US" sz="1400" b="0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僅極端尾部情境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2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UBS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400" b="0" u="none" dirty="0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9036"/>
            <a:ext cx="9142928" cy="5151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241227"/>
            <a:ext cx="8506420" cy="5668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altLang="en-US" sz="2531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交易策略：</a:t>
            </a:r>
            <a:r>
              <a:rPr lang="en-US" altLang="zh-TW" sz="2531"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Rec EUR ESTR 5Y vs Pay USD SOFR 5Y IRS</a:t>
            </a:r>
            <a:endParaRPr lang="zh-TW" altLang="en-US" sz="2531" dirty="0"/>
          </a:p>
        </p:txBody>
      </p:sp>
      <p:sp>
        <p:nvSpPr>
          <p:cNvPr id="6" name="section-label"/>
          <p:cNvSpPr txBox="1"/>
          <p:nvPr/>
        </p:nvSpPr>
        <p:spPr>
          <a:xfrm>
            <a:off x="786384" y="99441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defTabSz="514350"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 sz="1100" dirty="0">
              <a:solidFill>
                <a:srgbClr val="3A4050"/>
              </a:solidFill>
              <a:latin typeface="Microsoft JhengHei"/>
              <a:ea typeface="Microsoft JhengHei" panose="020B0604030504040204" pitchFamily="34" charset="-12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38" y="5413534"/>
            <a:ext cx="4015145" cy="445413"/>
          </a:xfrm>
          <a:prstGeom prst="rect">
            <a:avLst/>
          </a:prstGeom>
        </p:spPr>
      </p:pic>
      <p:pic>
        <p:nvPicPr>
          <p:cNvPr id="5" name="圖片 4" descr="WIRP-U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447" y="1808083"/>
            <a:ext cx="1436251" cy="1961317"/>
          </a:xfrm>
          <a:prstGeom prst="rect">
            <a:avLst/>
          </a:prstGeom>
        </p:spPr>
      </p:pic>
      <p:pic>
        <p:nvPicPr>
          <p:cNvPr id="7" name="圖片 6" descr="WIRP-EU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447" y="3978712"/>
            <a:ext cx="1436251" cy="1859875"/>
          </a:xfrm>
          <a:prstGeom prst="rect">
            <a:avLst/>
          </a:prstGeom>
        </p:spPr>
      </p:pic>
      <p:grpSp>
        <p:nvGrpSpPr>
          <p:cNvPr id="12" name="群組 11"/>
          <p:cNvGrpSpPr/>
          <p:nvPr/>
        </p:nvGrpSpPr>
        <p:grpSpPr>
          <a:xfrm>
            <a:off x="457200" y="1807726"/>
            <a:ext cx="5902166" cy="4030504"/>
            <a:chOff x="1280" y="2661"/>
            <a:chExt cx="16524" cy="11284"/>
          </a:xfrm>
        </p:grpSpPr>
        <p:pic>
          <p:nvPicPr>
            <p:cNvPr id="4" name="圖片 3" descr="ECB vs Fed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80" y="2661"/>
              <a:ext cx="16525" cy="11285"/>
            </a:xfrm>
            <a:prstGeom prst="rect">
              <a:avLst/>
            </a:prstGeom>
          </p:spPr>
        </p:pic>
        <p:sp>
          <p:nvSpPr>
            <p:cNvPr id="10" name="向右箭號 9"/>
            <p:cNvSpPr/>
            <p:nvPr/>
          </p:nvSpPr>
          <p:spPr>
            <a:xfrm rot="1620000">
              <a:off x="14490" y="11381"/>
              <a:ext cx="1560" cy="352"/>
            </a:xfrm>
            <a:prstGeom prst="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514350" fontAlgn="auto">
                <a:spcBef>
                  <a:spcPts val="0"/>
                </a:spcBef>
                <a:spcAft>
                  <a:spcPts val="0"/>
                </a:spcAft>
              </a:pPr>
              <a:endParaRPr kumimoji="0" lang="zh-TW" altLang="en-US" sz="1013">
                <a:solidFill>
                  <a:srgbClr val="FFFFFF"/>
                </a:solidFill>
                <a:latin typeface="Microsoft JhengHei"/>
                <a:ea typeface="Microsoft JhengHei" panose="020B0604030504040204" pitchFamily="34" charset="-12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 txBox="1"/>
          <p:nvPr/>
        </p:nvSpPr>
        <p:spPr>
          <a:xfrm>
            <a:off x="657225" y="1014412"/>
            <a:ext cx="8072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10月下旬到12月中是預算與評級密集期，2027年5月決選是最大風險點</a:t>
            </a:r>
            <a:endParaRPr kumimoji="0" lang="en-US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5" name="key"/>
          <p:cNvSpPr txBox="1"/>
          <p:nvPr/>
        </p:nvSpPr>
        <p:spPr>
          <a:xfrm>
            <a:off x="414338" y="1414463"/>
            <a:ext cx="83153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預算表決與評級公布集中在10/20至12/10，任一關鍵節點失利，利差都有機會從140bps附近擴大到150bps以上</a:t>
            </a:r>
            <a:endParaRPr kumimoji="0" lang="en-US" sz="1200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0062" y="3857625"/>
            <a:ext cx="6072188" cy="0"/>
          </a:xfrm>
          <a:prstGeom prst="line">
            <a:avLst/>
          </a:prstGeom>
          <a:noFill/>
          <a:ln w="25400">
            <a:solidFill>
              <a:srgbClr val="8C8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72313" y="3857625"/>
            <a:ext cx="1657350" cy="0"/>
          </a:xfrm>
          <a:prstGeom prst="line">
            <a:avLst/>
          </a:prstGeom>
          <a:noFill/>
          <a:ln w="25400">
            <a:solidFill>
              <a:srgbClr val="8C8C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6643687" y="3786188"/>
            <a:ext cx="71438" cy="142875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743700" y="3786188"/>
            <a:ext cx="71438" cy="142875"/>
          </a:xfrm>
          <a:prstGeom prst="line">
            <a:avLst/>
          </a:prstGeom>
          <a:noFill/>
          <a:ln w="19050">
            <a:solidFill>
              <a:srgbClr val="8C8C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3900487"/>
            <a:ext cx="2857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750" b="1" dirty="0">
                <a:solidFill>
                  <a:srgbClr val="6565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</a:t>
            </a:r>
            <a:endParaRPr kumimoji="0" lang="en-US" sz="750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50106" y="3821906"/>
            <a:ext cx="71438" cy="7143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5656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2950" y="3914775"/>
            <a:ext cx="285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75" dirty="0">
                <a:solidFill>
                  <a:srgbClr val="6565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</a:t>
            </a:r>
            <a:endParaRPr kumimoji="0" lang="en-US" sz="6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1500" y="3743326"/>
            <a:ext cx="0" cy="78581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5781" y="3821906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6E9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8637" y="2171700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3B6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10/9~10、16~17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社會黨與Place Publique初選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決定中間偏左候選人，觀察陣營能否整合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93006" y="3893344"/>
            <a:ext cx="0" cy="78581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7287" y="3821906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C18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71575" y="3964781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CC18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10/15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預算草案送EC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進入EC評估程序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807369" y="3743326"/>
            <a:ext cx="0" cy="50006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43075" y="3793331"/>
            <a:ext cx="128588" cy="128588"/>
          </a:xfrm>
          <a:prstGeom prst="ellipse">
            <a:avLst/>
          </a:prstGeom>
          <a:solidFill>
            <a:srgbClr val="CC181D"/>
          </a:solidFill>
          <a:ln w="25400">
            <a:solidFill>
              <a:srgbClr val="CC181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764506" y="2171700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CC18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10/20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國會表決預算收入部分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若過關，base case成立，利差有機會守在140bps附近；若失敗，代表政府沒有可用多數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28875" y="3921919"/>
            <a:ext cx="0" cy="50006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64581" y="3793331"/>
            <a:ext cx="128588" cy="128588"/>
          </a:xfrm>
          <a:prstGeom prst="ellipse">
            <a:avLst/>
          </a:prstGeom>
          <a:solidFill>
            <a:srgbClr val="3B6E9E"/>
          </a:solidFill>
          <a:ln w="25400">
            <a:solidFill>
              <a:srgbClr val="3B6E9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86012" y="3971925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3B6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10/23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Moody's評級（Aa3／負向）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若降評利差有機會再走寬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050381" y="3743326"/>
            <a:ext cx="0" cy="78581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14662" y="3821906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6E9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07519" y="2171700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3B6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10/24~25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RN黨代表大會、發布政綱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檢驗Le Pen的財政承諾是否寫進政綱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64744" y="3893344"/>
            <a:ext cx="0" cy="78581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29025" y="3821906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C181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21881" y="3971925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CC18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10/27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國會表決社會安全預算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再次檢驗政府是否有可用多數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86250" y="3743326"/>
            <a:ext cx="0" cy="78581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50531" y="3821906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C181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43387" y="2171700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CC18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11/17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國會表決完整預算，送參議院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總理可動用憲法49(3)不經表決通過，關鍵在RN是否棄權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907756" y="3893344"/>
            <a:ext cx="0" cy="78581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2037" y="3821906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6E9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64894" y="3971925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3B6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11/27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S&amp;P評級（A+／穩定）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22119" y="3743326"/>
            <a:ext cx="0" cy="78581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3821906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C181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79256" y="2171700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CC18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11/30前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EC完成預算評估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影響法國能否維持TPI適用資格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143625" y="3921919"/>
            <a:ext cx="0" cy="50006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79331" y="3793331"/>
            <a:ext cx="128588" cy="128588"/>
          </a:xfrm>
          <a:prstGeom prst="ellipse">
            <a:avLst/>
          </a:prstGeom>
          <a:solidFill>
            <a:srgbClr val="CC181D"/>
          </a:solidFill>
          <a:ln w="25400">
            <a:solidFill>
              <a:srgbClr val="CC181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00762" y="3971925"/>
            <a:ext cx="1185863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CC18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12/10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70天審議期限到期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未表決可依47(3)</a:t>
            </a:r>
            <a:r>
              <a:rPr kumimoji="0" lang="en-US" sz="825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以ordinance生效；若走loi</a:t>
            </a:r>
            <a:r>
              <a:rPr kumimoji="0" lang="en-US" sz="825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kumimoji="0" lang="en-US" sz="825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spéciale</a:t>
            </a:r>
            <a:r>
              <a:rPr kumimoji="0" lang="zh-TW" altLang="en-US" sz="825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特別法，等於緊縮計畫全落空</a:t>
            </a:r>
            <a:r>
              <a:rPr kumimoji="0" lang="en-US" sz="825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，2027年赤字有機會超過6%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215188" y="3743326"/>
            <a:ext cx="0" cy="78581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79469" y="3821906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6E9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172325" y="2171700"/>
            <a:ext cx="155733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3B6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2027/4/18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總統大選首輪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中間派分散，RN與LFI進入決選的機率上升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500938" y="3921919"/>
            <a:ext cx="0" cy="50006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36644" y="3793331"/>
            <a:ext cx="128588" cy="128588"/>
          </a:xfrm>
          <a:prstGeom prst="ellipse">
            <a:avLst/>
          </a:prstGeom>
          <a:solidFill>
            <a:srgbClr val="3B6E9E"/>
          </a:solidFill>
          <a:ln w="25400">
            <a:solidFill>
              <a:srgbClr val="3B6E9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458075" y="3971925"/>
            <a:ext cx="127158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975" b="1" dirty="0">
                <a:solidFill>
                  <a:srgbClr val="3B6E9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2027/5/2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150"/>
              </a:spcBef>
              <a:spcAft>
                <a:spcPts val="0"/>
              </a:spcAft>
              <a:defRPr/>
            </a:pPr>
            <a:r>
              <a:rPr kumimoji="0" lang="en-US" sz="9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總統大選決選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  <a:p>
            <a:pPr defTabSz="685800" fontAlgn="auto">
              <a:spcBef>
                <a:spcPts val="225"/>
              </a:spcBef>
              <a:spcAft>
                <a:spcPts val="0"/>
              </a:spcAft>
              <a:defRPr/>
            </a:pPr>
            <a:r>
              <a:rPr kumimoji="0" lang="en-US" sz="825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若RN勝選且放寬財政承諾，利差有機會上探150bps以上；新總統若解散國會，6月</a:t>
            </a:r>
            <a:r>
              <a:rPr kumimoji="0" lang="zh-TW" altLang="en-US" sz="825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</a:t>
            </a:r>
            <a:r>
              <a:rPr kumimoji="0" lang="en-US" sz="825" dirty="0" err="1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改選</a:t>
            </a:r>
            <a:endParaRPr kumimoji="0" lang="en-US" sz="9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4572000" y="5457825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C181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714875" y="5429250"/>
            <a:ext cx="12144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750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預算／國會</a:t>
            </a:r>
            <a:endParaRPr kumimoji="0" lang="en-US" sz="750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643562" y="5457825"/>
            <a:ext cx="71438" cy="7143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6E9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786437" y="5429250"/>
            <a:ext cx="12144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750" dirty="0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政治／評級</a:t>
            </a:r>
            <a:endParaRPr kumimoji="0" lang="en-US" sz="750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715125" y="5443537"/>
            <a:ext cx="100013" cy="100013"/>
          </a:xfrm>
          <a:prstGeom prst="ellipse">
            <a:avLst/>
          </a:prstGeom>
          <a:solidFill>
            <a:srgbClr val="464444"/>
          </a:solidFill>
          <a:ln w="25400">
            <a:solidFill>
              <a:srgbClr val="46444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58000" y="5429250"/>
            <a:ext cx="121443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750" dirty="0" err="1">
                <a:solidFill>
                  <a:srgbClr val="4644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關鍵節點</a:t>
            </a:r>
            <a:endParaRPr kumimoji="0" lang="en-US" sz="750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  <p:sp>
        <p:nvSpPr>
          <p:cNvPr id="56" name="Text 54"/>
          <p:cNvSpPr txBox="1"/>
          <p:nvPr/>
        </p:nvSpPr>
        <p:spPr>
          <a:xfrm>
            <a:off x="8072438" y="5729287"/>
            <a:ext cx="6572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675" dirty="0">
                <a:solidFill>
                  <a:srgbClr val="65656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kumimoji="0" lang="en-US" sz="675" dirty="0">
              <a:solidFill>
                <a:srgbClr val="000000"/>
              </a:solidFill>
              <a:latin typeface="Microsoft JhengHei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4938F9-6F34-40ED-9B4A-89A114F9D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利率交易部損益及部位概況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82EB34C-063C-B1E1-C91D-E3EAF9807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910271"/>
              </p:ext>
            </p:extLst>
          </p:nvPr>
        </p:nvGraphicFramePr>
        <p:xfrm>
          <a:off x="515756" y="1185972"/>
          <a:ext cx="8075611" cy="1411992"/>
        </p:xfrm>
        <a:graphic>
          <a:graphicData uri="http://schemas.openxmlformats.org/drawingml/2006/table">
            <a:tbl>
              <a:tblPr firstRow="1" firstCol="1" bandRow="1"/>
              <a:tblGrid>
                <a:gridCol w="1226205">
                  <a:extLst>
                    <a:ext uri="{9D8B030D-6E8A-4147-A177-3AD203B41FA5}">
                      <a16:colId xmlns:a16="http://schemas.microsoft.com/office/drawing/2014/main" val="3832503677"/>
                    </a:ext>
                  </a:extLst>
                </a:gridCol>
                <a:gridCol w="1164275">
                  <a:extLst>
                    <a:ext uri="{9D8B030D-6E8A-4147-A177-3AD203B41FA5}">
                      <a16:colId xmlns:a16="http://schemas.microsoft.com/office/drawing/2014/main" val="1076074564"/>
                    </a:ext>
                  </a:extLst>
                </a:gridCol>
                <a:gridCol w="743154">
                  <a:extLst>
                    <a:ext uri="{9D8B030D-6E8A-4147-A177-3AD203B41FA5}">
                      <a16:colId xmlns:a16="http://schemas.microsoft.com/office/drawing/2014/main" val="2118424234"/>
                    </a:ext>
                  </a:extLst>
                </a:gridCol>
                <a:gridCol w="767926">
                  <a:extLst>
                    <a:ext uri="{9D8B030D-6E8A-4147-A177-3AD203B41FA5}">
                      <a16:colId xmlns:a16="http://schemas.microsoft.com/office/drawing/2014/main" val="388400673"/>
                    </a:ext>
                  </a:extLst>
                </a:gridCol>
                <a:gridCol w="1164275">
                  <a:extLst>
                    <a:ext uri="{9D8B030D-6E8A-4147-A177-3AD203B41FA5}">
                      <a16:colId xmlns:a16="http://schemas.microsoft.com/office/drawing/2014/main" val="2899377296"/>
                    </a:ext>
                  </a:extLst>
                </a:gridCol>
                <a:gridCol w="705997">
                  <a:extLst>
                    <a:ext uri="{9D8B030D-6E8A-4147-A177-3AD203B41FA5}">
                      <a16:colId xmlns:a16="http://schemas.microsoft.com/office/drawing/2014/main" val="2547919104"/>
                    </a:ext>
                  </a:extLst>
                </a:gridCol>
                <a:gridCol w="668839">
                  <a:extLst>
                    <a:ext uri="{9D8B030D-6E8A-4147-A177-3AD203B41FA5}">
                      <a16:colId xmlns:a16="http://schemas.microsoft.com/office/drawing/2014/main" val="933212044"/>
                    </a:ext>
                  </a:extLst>
                </a:gridCol>
                <a:gridCol w="966101">
                  <a:extLst>
                    <a:ext uri="{9D8B030D-6E8A-4147-A177-3AD203B41FA5}">
                      <a16:colId xmlns:a16="http://schemas.microsoft.com/office/drawing/2014/main" val="275350258"/>
                    </a:ext>
                  </a:extLst>
                </a:gridCol>
                <a:gridCol w="668839">
                  <a:extLst>
                    <a:ext uri="{9D8B030D-6E8A-4147-A177-3AD203B41FA5}">
                      <a16:colId xmlns:a16="http://schemas.microsoft.com/office/drawing/2014/main" val="2678863987"/>
                    </a:ext>
                  </a:extLst>
                </a:gridCol>
              </a:tblGrid>
              <a:tr h="204367"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10</a:t>
                      </a: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月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2026/10 </a:t>
                      </a: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累計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全年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167516"/>
                  </a:ext>
                </a:extLst>
              </a:tr>
              <a:tr h="371577"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部門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10/1~10/15 </a:t>
                      </a: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收入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預算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達成率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1/1~10/15 </a:t>
                      </a:r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收入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預算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達成率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預算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達成率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90573"/>
                  </a:ext>
                </a:extLst>
              </a:tr>
              <a:tr h="204367"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利率交易部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Bill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49,136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34,397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142.8%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718,255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337,315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212.9%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405,000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177.3%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128372"/>
                  </a:ext>
                </a:extLst>
              </a:tr>
              <a:tr h="204367"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利率交易部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IRD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54,993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23,750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231.5%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-67,862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237,500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-28.6%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285,000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-23.8%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403307"/>
                  </a:ext>
                </a:extLst>
              </a:tr>
              <a:tr h="213657"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利率交易部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CRD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-7,786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31,250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-24.9%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63,923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312,500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20.5%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375,000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17.0%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749568"/>
                  </a:ext>
                </a:extLst>
              </a:tr>
              <a:tr h="213657"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微軟正黑體" panose="020B0604030504040204" pitchFamily="34" charset="-120"/>
                          <a:cs typeface="新細明體" panose="02020500000000000000" pitchFamily="18" charset="-120"/>
                        </a:rPr>
                        <a:t>利率交易部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96,343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89,397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107.8%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714,316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887,315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80.5%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1,065,000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67.1%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289" marR="9289" marT="92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380197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ABFC99A-3E52-A28B-2A1A-F71E359A0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819998"/>
              </p:ext>
            </p:extLst>
          </p:nvPr>
        </p:nvGraphicFramePr>
        <p:xfrm>
          <a:off x="514232" y="3068960"/>
          <a:ext cx="3924300" cy="2933700"/>
        </p:xfrm>
        <a:graphic>
          <a:graphicData uri="http://schemas.openxmlformats.org/drawingml/2006/table">
            <a:tbl>
              <a:tblPr firstRow="1" firstCol="1" bandRow="1"/>
              <a:tblGrid>
                <a:gridCol w="1168400">
                  <a:extLst>
                    <a:ext uri="{9D8B030D-6E8A-4147-A177-3AD203B41FA5}">
                      <a16:colId xmlns:a16="http://schemas.microsoft.com/office/drawing/2014/main" val="232924408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9103875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10482940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314883236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By Product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Daily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MTD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YTD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8158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zh-TW" sz="11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票券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9,807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49,136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718,255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3331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TWD Bond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8,563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10,783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-134,734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94756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TWD IRS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7,364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9,830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-43,258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8136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USD IRS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-4,558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-37,786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330,259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3350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Other IRS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66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-65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-3,344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569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CCS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39,470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328,486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8683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FX Swap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-16,684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-10,410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-622,956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9138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FCY Bond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1,106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-485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0616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Futures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20,912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39,312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-45,374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85683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ASW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-1,441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7,405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176,445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28365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ETF/ETF Future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-14,313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-12,463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7,311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9451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CDS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3,712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804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Total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9,746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96,343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714,316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899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45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06B25C-5C7E-479D-9484-26D0D1BD3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Trader PL</a:t>
            </a:r>
            <a:endParaRPr lang="zh-TW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C013DF2-2481-E06E-A244-0D1F349F2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400109"/>
              </p:ext>
            </p:extLst>
          </p:nvPr>
        </p:nvGraphicFramePr>
        <p:xfrm>
          <a:off x="323528" y="1340768"/>
          <a:ext cx="6019304" cy="3219324"/>
        </p:xfrm>
        <a:graphic>
          <a:graphicData uri="http://schemas.openxmlformats.org/drawingml/2006/table">
            <a:tbl>
              <a:tblPr firstRow="1" firstCol="1" bandRow="1"/>
              <a:tblGrid>
                <a:gridCol w="1128679">
                  <a:extLst>
                    <a:ext uri="{9D8B030D-6E8A-4147-A177-3AD203B41FA5}">
                      <a16:colId xmlns:a16="http://schemas.microsoft.com/office/drawing/2014/main" val="3426113434"/>
                    </a:ext>
                  </a:extLst>
                </a:gridCol>
                <a:gridCol w="1218217">
                  <a:extLst>
                    <a:ext uri="{9D8B030D-6E8A-4147-A177-3AD203B41FA5}">
                      <a16:colId xmlns:a16="http://schemas.microsoft.com/office/drawing/2014/main" val="162911771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94923380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573953444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861857836"/>
                    </a:ext>
                  </a:extLst>
                </a:gridCol>
              </a:tblGrid>
              <a:tr h="142816">
                <a:tc>
                  <a:txBody>
                    <a:bodyPr/>
                    <a:lstStyle/>
                    <a:p>
                      <a:r>
                        <a:rPr lang="zh-TW" sz="1200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交易員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Daily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MTD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YTD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Budget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945073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執行長</a:t>
                      </a: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22,050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18,755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-38,193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20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1202097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周伯彥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(Jesse)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-15,905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-4,997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-12,506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sz="1200">
                          <a:solidFill>
                            <a:srgbClr val="FF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　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606130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簡嘉宏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(Aaron)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-42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-53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-103,327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110,000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097892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吳丕雄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(Pete)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-8,814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18,230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19,924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125,000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065698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吳文祺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(Gary)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124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49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-24,758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55,000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033087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王信閎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(Mark)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1,735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4,940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3,759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55,000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077275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徐嘉蔚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(Warren)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401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1,151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15,756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07025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周志曄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(Mark)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1,852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1,746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-37,298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85,000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028655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高子淇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(Tillie)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-21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-21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-5,289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10,000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447938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林燈媒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(Roger)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12,047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50,000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00896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魏大凱</a:t>
                      </a: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-1,441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7,405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176,445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120,000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848108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陳仁義</a:t>
                      </a: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43,962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23,000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697038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吳翠敏</a:t>
                      </a: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2,026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12,173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158,800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82,000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277073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張宗傅</a:t>
                      </a: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4,047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12,596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203,975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99,000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477784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張明瑜</a:t>
                      </a: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2,932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14,331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172,924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110,000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431329"/>
                  </a:ext>
                </a:extLst>
              </a:tr>
              <a:tr h="142816">
                <a:tc>
                  <a:txBody>
                    <a:bodyPr/>
                    <a:lstStyle/>
                    <a:p>
                      <a:r>
                        <a:rPr lang="zh-TW" sz="1200"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陳雅玫</a:t>
                      </a:r>
                      <a:r>
                        <a:rPr lang="en-US" sz="1200"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(May)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802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10,036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128,096 </a:t>
                      </a:r>
                      <a:endParaRPr lang="zh-TW" sz="120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dirty="0">
                          <a:solidFill>
                            <a:srgbClr val="FF0000"/>
                          </a:solidFill>
                          <a:effectLst/>
                          <a:latin typeface="外黑體" panose="020B0604030504040204" pitchFamily="34" charset="-120"/>
                          <a:ea typeface="新細明體" panose="02020500000000000000" pitchFamily="18" charset="-120"/>
                          <a:cs typeface="新細明體" panose="02020500000000000000" pitchFamily="18" charset="-120"/>
                        </a:rPr>
                        <a:t>47,000 </a:t>
                      </a:r>
                      <a:endParaRPr lang="zh-TW" sz="1200" dirty="0"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新細明體" panose="02020500000000000000" pitchFamily="18" charset="-120"/>
                      </a:endParaRPr>
                    </a:p>
                  </a:txBody>
                  <a:tcPr marL="6492" marR="6492" marT="649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519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043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FA426E-ECFD-4EE6-9A5D-CC210FC1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台幣利率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C73795-8474-4A37-9C78-4D0B92157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61105"/>
            <a:ext cx="4788904" cy="2798675"/>
          </a:xfrm>
        </p:spPr>
        <p:txBody>
          <a:bodyPr/>
          <a:lstStyle/>
          <a:p>
            <a:r>
              <a:rPr lang="en-US" altLang="zh-TW" sz="1400" dirty="0"/>
              <a:t>2Y yield</a:t>
            </a:r>
            <a:r>
              <a:rPr lang="zh-TW" altLang="en-US" sz="1400" dirty="0"/>
              <a:t> </a:t>
            </a:r>
            <a:r>
              <a:rPr lang="en-US" altLang="zh-TW" sz="1400" dirty="0"/>
              <a:t>-0bp</a:t>
            </a:r>
            <a:r>
              <a:rPr lang="zh-TW" altLang="en-US" sz="1400" dirty="0"/>
              <a:t>至</a:t>
            </a:r>
            <a:r>
              <a:rPr lang="en-US" altLang="zh-TW" sz="1400" dirty="0"/>
              <a:t>1.65</a:t>
            </a:r>
            <a:r>
              <a:rPr lang="zh-TW" altLang="en-US" sz="1400" dirty="0"/>
              <a:t>， </a:t>
            </a:r>
            <a:r>
              <a:rPr lang="en-US" altLang="zh-TW" sz="1400" dirty="0"/>
              <a:t>5Y yield</a:t>
            </a:r>
            <a:r>
              <a:rPr lang="zh-TW" altLang="en-US" sz="1400" dirty="0"/>
              <a:t> </a:t>
            </a:r>
            <a:r>
              <a:rPr lang="en-US" altLang="zh-TW" sz="1400" dirty="0"/>
              <a:t>-2bp</a:t>
            </a:r>
            <a:r>
              <a:rPr lang="zh-TW" altLang="en-US" sz="1400" dirty="0"/>
              <a:t>至</a:t>
            </a:r>
            <a:r>
              <a:rPr lang="en-US" altLang="zh-TW" sz="1400" dirty="0"/>
              <a:t>1.87</a:t>
            </a:r>
            <a:r>
              <a:rPr lang="zh-TW" altLang="en-US" sz="1400" dirty="0"/>
              <a:t>，</a:t>
            </a:r>
            <a:r>
              <a:rPr lang="en-US" altLang="zh-TW" sz="1400" dirty="0"/>
              <a:t>10Y yield</a:t>
            </a:r>
            <a:r>
              <a:rPr lang="zh-TW" altLang="en-US" sz="1400" dirty="0"/>
              <a:t> </a:t>
            </a:r>
            <a:r>
              <a:rPr lang="en-US" altLang="zh-TW" sz="1400" dirty="0"/>
              <a:t> -3bp</a:t>
            </a:r>
            <a:r>
              <a:rPr lang="zh-TW" altLang="en-US" sz="1400" dirty="0"/>
              <a:t>至</a:t>
            </a:r>
            <a:r>
              <a:rPr lang="en-US" altLang="zh-TW" sz="1400" dirty="0"/>
              <a:t>2.02</a:t>
            </a:r>
            <a:r>
              <a:rPr lang="zh-TW" altLang="en-US" sz="1400" dirty="0"/>
              <a:t>，</a:t>
            </a:r>
            <a:r>
              <a:rPr lang="en-US" altLang="zh-TW" sz="1400" dirty="0"/>
              <a:t>30Y yield</a:t>
            </a:r>
            <a:r>
              <a:rPr lang="zh-TW" altLang="en-US" sz="1400" dirty="0"/>
              <a:t> </a:t>
            </a:r>
            <a:r>
              <a:rPr lang="en-US" altLang="zh-TW" sz="1400" dirty="0"/>
              <a:t>+0bp</a:t>
            </a:r>
            <a:r>
              <a:rPr lang="zh-TW" altLang="en-US" sz="1400" dirty="0"/>
              <a:t>至</a:t>
            </a:r>
            <a:r>
              <a:rPr lang="en-US" altLang="zh-TW" sz="1400" dirty="0"/>
              <a:t>2.3</a:t>
            </a:r>
            <a:r>
              <a:rPr lang="zh-TW" altLang="en-US" sz="1400" dirty="0"/>
              <a:t>。</a:t>
            </a:r>
            <a:endParaRPr lang="en-US" altLang="zh-TW" sz="1400" dirty="0"/>
          </a:p>
          <a:p>
            <a:r>
              <a:rPr lang="en-US" altLang="zh-TW" sz="1400" dirty="0"/>
              <a:t>5Y IRS</a:t>
            </a:r>
            <a:r>
              <a:rPr lang="zh-TW" altLang="en-US" sz="1400" dirty="0"/>
              <a:t> </a:t>
            </a:r>
            <a:r>
              <a:rPr lang="en-US" altLang="zh-TW" sz="1400" dirty="0"/>
              <a:t>-6bp@2.37</a:t>
            </a:r>
            <a:r>
              <a:rPr lang="zh-TW" altLang="en-US" sz="1400" dirty="0"/>
              <a:t>， </a:t>
            </a:r>
            <a:r>
              <a:rPr lang="en-US" altLang="zh-TW" sz="1400" dirty="0"/>
              <a:t>5X10</a:t>
            </a:r>
            <a:r>
              <a:rPr lang="zh-TW" altLang="en-US" sz="1400" dirty="0"/>
              <a:t> </a:t>
            </a:r>
            <a:r>
              <a:rPr lang="en-US" altLang="zh-TW" sz="1400" dirty="0"/>
              <a:t>+1bp @35bp</a:t>
            </a:r>
            <a:r>
              <a:rPr lang="zh-TW" altLang="en-US" sz="1400" dirty="0"/>
              <a:t>，</a:t>
            </a:r>
            <a:r>
              <a:rPr lang="en-US" altLang="zh-TW" sz="1400" dirty="0"/>
              <a:t>10Y </a:t>
            </a:r>
            <a:r>
              <a:rPr lang="zh-TW" altLang="en-US" sz="1400" dirty="0"/>
              <a:t>中價</a:t>
            </a:r>
            <a:r>
              <a:rPr lang="en-US" altLang="zh-TW" sz="1400" dirty="0"/>
              <a:t>level -5bp @2.72</a:t>
            </a:r>
          </a:p>
          <a:p>
            <a:r>
              <a:rPr lang="zh-TW" altLang="en-US" sz="1400" dirty="0"/>
              <a:t>市場</a:t>
            </a:r>
            <a:r>
              <a:rPr lang="en-US" altLang="zh-TW" sz="1400" dirty="0"/>
              <a:t>:</a:t>
            </a:r>
            <a:r>
              <a:rPr lang="zh-TW" altLang="en-US" sz="1400" dirty="0"/>
              <a:t>上週</a:t>
            </a:r>
            <a:r>
              <a:rPr lang="en-US" altLang="zh-TW" sz="1400" dirty="0"/>
              <a:t>2</a:t>
            </a:r>
            <a:r>
              <a:rPr lang="zh-TW" altLang="en-US" sz="1400" dirty="0"/>
              <a:t>年台債標在</a:t>
            </a:r>
            <a:r>
              <a:rPr lang="en-US" altLang="zh-TW" sz="1400" dirty="0"/>
              <a:t>1.65</a:t>
            </a:r>
            <a:r>
              <a:rPr lang="zh-TW" altLang="en-US" sz="1400" dirty="0"/>
              <a:t>，為市場預估區間下緣，而</a:t>
            </a:r>
            <a:r>
              <a:rPr lang="en-US" altLang="zh-TW" sz="1400" dirty="0"/>
              <a:t>2Y</a:t>
            </a:r>
            <a:r>
              <a:rPr lang="zh-TW" altLang="en-US" sz="1400" dirty="0"/>
              <a:t> </a:t>
            </a:r>
            <a:r>
              <a:rPr lang="en-US" altLang="zh-TW" sz="1400" dirty="0"/>
              <a:t>NCD</a:t>
            </a:r>
            <a:r>
              <a:rPr lang="zh-TW" altLang="en-US" sz="1400" dirty="0"/>
              <a:t>標在</a:t>
            </a:r>
            <a:r>
              <a:rPr lang="en-US" altLang="zh-TW" sz="1400" dirty="0"/>
              <a:t>1.58%</a:t>
            </a:r>
            <a:r>
              <a:rPr lang="zh-TW" altLang="en-US" sz="1400" dirty="0"/>
              <a:t>且投標倍數達</a:t>
            </a:r>
            <a:r>
              <a:rPr lang="en-US" altLang="zh-TW" sz="1400" dirty="0"/>
              <a:t>3.31</a:t>
            </a:r>
            <a:r>
              <a:rPr lang="zh-TW" altLang="en-US" sz="1400" dirty="0"/>
              <a:t>倍，顯示台幣短期流動性充裕，然長短年期利差擴大。</a:t>
            </a:r>
            <a:r>
              <a:rPr lang="en-US" altLang="zh-TW" sz="1400" dirty="0"/>
              <a:t>IRS</a:t>
            </a:r>
            <a:r>
              <a:rPr lang="zh-TW" altLang="en-US" sz="1400" dirty="0"/>
              <a:t>市場利率偏下行，</a:t>
            </a:r>
            <a:r>
              <a:rPr lang="en-US" altLang="zh-TW" sz="1400" dirty="0"/>
              <a:t>5Y IRS</a:t>
            </a:r>
            <a:r>
              <a:rPr lang="zh-TW" altLang="en-US" sz="1400" dirty="0"/>
              <a:t>壓低至</a:t>
            </a:r>
            <a:r>
              <a:rPr lang="en-US" altLang="zh-TW" sz="1400" dirty="0"/>
              <a:t>2.37</a:t>
            </a:r>
            <a:r>
              <a:rPr lang="zh-TW" altLang="en-US" sz="1400" dirty="0"/>
              <a:t>左右。下周關注十年債標債狀況，</a:t>
            </a:r>
            <a:r>
              <a:rPr lang="en-US" altLang="zh-TW" sz="1400" dirty="0"/>
              <a:t>IRS</a:t>
            </a:r>
            <a:r>
              <a:rPr lang="zh-TW" altLang="en-US" sz="1400" dirty="0"/>
              <a:t>市場則關注</a:t>
            </a:r>
            <a:r>
              <a:rPr lang="en-US" altLang="zh-TW" sz="1400" dirty="0"/>
              <a:t>5X10 bid</a:t>
            </a:r>
            <a:r>
              <a:rPr lang="zh-TW" altLang="en-US" sz="1400" dirty="0"/>
              <a:t> </a:t>
            </a:r>
            <a:r>
              <a:rPr lang="en-US" altLang="zh-TW" sz="1400" dirty="0"/>
              <a:t>side</a:t>
            </a:r>
            <a:r>
              <a:rPr lang="zh-TW" altLang="en-US" sz="1400" dirty="0"/>
              <a:t>力道。目前盤勢以高檔盤整看待。</a:t>
            </a:r>
          </a:p>
          <a:p>
            <a:r>
              <a:rPr lang="en-US" altLang="zh-TW" sz="1400" dirty="0"/>
              <a:t>Flow:</a:t>
            </a:r>
            <a:r>
              <a:rPr lang="zh-TW" altLang="en-US" sz="1400" dirty="0"/>
              <a:t> </a:t>
            </a:r>
            <a:r>
              <a:rPr lang="en-US" altLang="zh-TW" sz="1400" dirty="0"/>
              <a:t>1.TMU</a:t>
            </a:r>
            <a:r>
              <a:rPr lang="zh-TW" altLang="en-US" sz="1400" dirty="0"/>
              <a:t>客戶 </a:t>
            </a:r>
            <a:r>
              <a:rPr lang="en-US" altLang="zh-TW" sz="1400" dirty="0"/>
              <a:t>unwind</a:t>
            </a:r>
            <a:r>
              <a:rPr lang="zh-TW" altLang="en-US" sz="1400" dirty="0"/>
              <a:t> </a:t>
            </a:r>
            <a:r>
              <a:rPr lang="en-US" altLang="zh-TW" sz="1400" dirty="0"/>
              <a:t>SI</a:t>
            </a:r>
            <a:r>
              <a:rPr lang="zh-TW" altLang="en-US" sz="1400" dirty="0"/>
              <a:t>部位，到期日</a:t>
            </a:r>
            <a:r>
              <a:rPr lang="en-US" altLang="zh-TW" sz="1400" dirty="0"/>
              <a:t>2031/5</a:t>
            </a:r>
            <a:r>
              <a:rPr lang="zh-TW" altLang="en-US" sz="1400" dirty="0"/>
              <a:t>，</a:t>
            </a:r>
            <a:r>
              <a:rPr lang="en-US" altLang="zh-TW" sz="1400" dirty="0"/>
              <a:t>2.</a:t>
            </a:r>
            <a:r>
              <a:rPr lang="zh-TW" altLang="en-US" sz="1400" dirty="0"/>
              <a:t>海盛風電案可能於年底訂價，</a:t>
            </a:r>
            <a:r>
              <a:rPr lang="zh-TW" altLang="en-US" sz="1400"/>
              <a:t>台新將</a:t>
            </a:r>
            <a:r>
              <a:rPr lang="zh-TW" altLang="en-US" sz="1400" dirty="0"/>
              <a:t>不參與聯貸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59C3BE-AD0E-4E84-9DCB-DC766AC3F339}"/>
              </a:ext>
            </a:extLst>
          </p:cNvPr>
          <p:cNvSpPr txBox="1"/>
          <p:nvPr/>
        </p:nvSpPr>
        <p:spPr bwMode="auto">
          <a:xfrm>
            <a:off x="179512" y="966732"/>
            <a:ext cx="122413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台債走勢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40ACF46-F1EC-4184-9318-1CEFC84E6081}"/>
              </a:ext>
            </a:extLst>
          </p:cNvPr>
          <p:cNvSpPr txBox="1"/>
          <p:nvPr/>
        </p:nvSpPr>
        <p:spPr bwMode="auto">
          <a:xfrm>
            <a:off x="4711874" y="979753"/>
            <a:ext cx="144430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台債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IRS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走勢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FD87BE2-B12E-4DDE-9015-80D0EAE059DA}"/>
              </a:ext>
            </a:extLst>
          </p:cNvPr>
          <p:cNvSpPr txBox="1"/>
          <p:nvPr/>
        </p:nvSpPr>
        <p:spPr bwMode="auto">
          <a:xfrm>
            <a:off x="4711874" y="3743287"/>
            <a:ext cx="19262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台債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IRS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 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5X10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走勢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EDF81F0-8F68-26E1-B244-D641C7F2D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305286"/>
            <a:ext cx="3911198" cy="22992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BA991AF-0C89-51E6-DD7E-FEAA6DD38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312" y="4186055"/>
            <a:ext cx="3911198" cy="229925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17DC8EF-A8D2-FFDA-67AC-122FB2B3D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1741" y="1305287"/>
            <a:ext cx="3911198" cy="229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6090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C7C1BB-1DD7-4AF8-8840-7A80C3FAF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USDTWD Swap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32579E-73EC-4934-A426-0FC04BC24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365104"/>
            <a:ext cx="8892480" cy="1631062"/>
          </a:xfrm>
        </p:spPr>
        <p:txBody>
          <a:bodyPr/>
          <a:lstStyle/>
          <a:p>
            <a:r>
              <a:rPr lang="zh-TW" altLang="en-US" sz="1400" dirty="0"/>
              <a:t>美金</a:t>
            </a:r>
            <a:r>
              <a:rPr lang="en-US" altLang="zh-TW" sz="1400" dirty="0"/>
              <a:t>1Y</a:t>
            </a:r>
            <a:r>
              <a:rPr lang="zh-TW" altLang="en-US" sz="1400" dirty="0"/>
              <a:t> </a:t>
            </a:r>
            <a:r>
              <a:rPr lang="en-US" altLang="zh-TW" sz="1400" dirty="0"/>
              <a:t>IRS</a:t>
            </a:r>
            <a:r>
              <a:rPr lang="zh-TW" altLang="en-US" sz="1400" dirty="0"/>
              <a:t>目前約在</a:t>
            </a:r>
            <a:r>
              <a:rPr lang="en-US" altLang="zh-TW" sz="1400" dirty="0"/>
              <a:t>4.46%</a:t>
            </a:r>
            <a:r>
              <a:rPr lang="zh-TW" altLang="en-US" sz="1400" dirty="0"/>
              <a:t>，利率較上週</a:t>
            </a:r>
            <a:r>
              <a:rPr lang="en-US" altLang="zh-TW" sz="1400" dirty="0"/>
              <a:t> -2bp</a:t>
            </a:r>
            <a:r>
              <a:rPr lang="zh-TW" altLang="en-US" sz="1400" dirty="0"/>
              <a:t>，</a:t>
            </a:r>
            <a:r>
              <a:rPr lang="en-US" altLang="zh-TW" sz="1400" dirty="0"/>
              <a:t>1Y USDTWD</a:t>
            </a:r>
            <a:r>
              <a:rPr lang="zh-TW" altLang="en-US" sz="1400" dirty="0"/>
              <a:t> </a:t>
            </a:r>
            <a:r>
              <a:rPr lang="en-US" altLang="zh-TW" sz="1400" dirty="0"/>
              <a:t>swap point</a:t>
            </a:r>
            <a:r>
              <a:rPr lang="zh-TW" altLang="en-US" sz="1400" dirty="0"/>
              <a:t> 約在</a:t>
            </a:r>
            <a:r>
              <a:rPr lang="en-US" altLang="zh-TW" sz="1400" dirty="0"/>
              <a:t>-870</a:t>
            </a:r>
            <a:r>
              <a:rPr lang="zh-TW" altLang="en-US" sz="1400" dirty="0"/>
              <a:t>，左偏</a:t>
            </a:r>
            <a:r>
              <a:rPr lang="en-US" altLang="zh-TW" sz="1400" dirty="0"/>
              <a:t>25</a:t>
            </a:r>
            <a:r>
              <a:rPr lang="zh-TW" altLang="en-US" sz="1400" dirty="0"/>
              <a:t>點，</a:t>
            </a:r>
            <a:r>
              <a:rPr lang="en-US" altLang="zh-TW" sz="1400" dirty="0"/>
              <a:t>implied</a:t>
            </a:r>
            <a:r>
              <a:rPr lang="zh-TW" altLang="en-US" sz="1400" dirty="0"/>
              <a:t>台幣利率</a:t>
            </a:r>
            <a:r>
              <a:rPr lang="en-US" altLang="zh-TW" sz="1400" dirty="0"/>
              <a:t>curve</a:t>
            </a:r>
            <a:r>
              <a:rPr lang="zh-TW" altLang="en-US" sz="1400" dirty="0"/>
              <a:t>，</a:t>
            </a:r>
            <a:r>
              <a:rPr lang="en-US" altLang="zh-TW" sz="1400" dirty="0"/>
              <a:t>1-3M</a:t>
            </a:r>
            <a:r>
              <a:rPr lang="zh-TW" altLang="en-US" sz="1400" dirty="0"/>
              <a:t>約</a:t>
            </a:r>
            <a:r>
              <a:rPr lang="en-US" altLang="zh-TW" sz="1400" dirty="0"/>
              <a:t>1.1-1.3%</a:t>
            </a:r>
            <a:r>
              <a:rPr lang="zh-TW" altLang="en-US" sz="1400" dirty="0"/>
              <a:t>，</a:t>
            </a:r>
            <a:r>
              <a:rPr lang="en-US" altLang="zh-TW" sz="1400" dirty="0"/>
              <a:t>3-6M</a:t>
            </a:r>
            <a:r>
              <a:rPr lang="zh-TW" altLang="en-US" sz="1400" dirty="0"/>
              <a:t>約</a:t>
            </a:r>
            <a:r>
              <a:rPr lang="en-US" altLang="zh-TW" sz="1400" dirty="0"/>
              <a:t>1.3-1.5%</a:t>
            </a:r>
            <a:r>
              <a:rPr lang="zh-TW" altLang="en-US" sz="1400" dirty="0"/>
              <a:t>，</a:t>
            </a:r>
            <a:r>
              <a:rPr lang="en-US" altLang="zh-TW" sz="1400" dirty="0"/>
              <a:t>9-12</a:t>
            </a:r>
            <a:r>
              <a:rPr lang="zh-TW" altLang="en-US" sz="1400" dirty="0"/>
              <a:t>月 </a:t>
            </a:r>
            <a:r>
              <a:rPr lang="en-US" altLang="zh-TW" sz="1400" dirty="0"/>
              <a:t>1.6%-1.8%</a:t>
            </a:r>
            <a:r>
              <a:rPr lang="zh-TW" altLang="en-US" sz="1400" dirty="0"/>
              <a:t>。</a:t>
            </a:r>
            <a:r>
              <a:rPr lang="en-US" altLang="zh-TW" sz="1400" dirty="0"/>
              <a:t>Implied</a:t>
            </a:r>
            <a:r>
              <a:rPr lang="zh-TW" altLang="en-US" sz="1400" dirty="0"/>
              <a:t>台幣利率下跌。</a:t>
            </a:r>
            <a:endParaRPr lang="en-US" altLang="zh-TW" sz="1400" dirty="0"/>
          </a:p>
          <a:p>
            <a:r>
              <a:rPr lang="zh-TW" altLang="en-US" sz="1400" dirty="0"/>
              <a:t>央行減發</a:t>
            </a:r>
            <a:r>
              <a:rPr lang="en-US" altLang="zh-TW" sz="1400" dirty="0"/>
              <a:t>NCD</a:t>
            </a:r>
            <a:r>
              <a:rPr lang="zh-TW" altLang="en-US" sz="1400" dirty="0"/>
              <a:t>，使短天期</a:t>
            </a:r>
            <a:r>
              <a:rPr lang="en-US" altLang="zh-TW" sz="1400" dirty="0"/>
              <a:t>implied</a:t>
            </a:r>
            <a:r>
              <a:rPr lang="zh-TW" altLang="en-US" sz="1400" dirty="0"/>
              <a:t>台幣變動跌幅較大，然若近期台幣貶幅持續加大，則可能促使央行逐步收緊台幣流動性，且若央行後續有升息規劃，應該不會讓</a:t>
            </a:r>
            <a:r>
              <a:rPr lang="en-US" altLang="zh-TW" sz="1400" dirty="0"/>
              <a:t>implied</a:t>
            </a:r>
            <a:r>
              <a:rPr lang="zh-TW" altLang="en-US" sz="1400" dirty="0"/>
              <a:t>台幣利率維持在低位，因此短期偏</a:t>
            </a:r>
            <a:r>
              <a:rPr lang="en-US" altLang="zh-TW" sz="1400" dirty="0"/>
              <a:t>S/B</a:t>
            </a:r>
            <a:r>
              <a:rPr lang="zh-TW" altLang="en-US" sz="1400" dirty="0"/>
              <a:t>短天期</a:t>
            </a:r>
            <a:r>
              <a:rPr lang="en-US" altLang="zh-TW" sz="1400" dirty="0"/>
              <a:t>swap</a:t>
            </a:r>
            <a:r>
              <a:rPr lang="zh-TW" altLang="en-US" sz="1400" dirty="0"/>
              <a:t>為主。</a:t>
            </a:r>
          </a:p>
          <a:p>
            <a:pPr marL="0" indent="0">
              <a:buNone/>
            </a:pPr>
            <a:endParaRPr lang="zh-TW" altLang="en-US" sz="14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FB3AB80-FA3E-4ACC-A33E-CD00FDDCD235}"/>
              </a:ext>
            </a:extLst>
          </p:cNvPr>
          <p:cNvSpPr txBox="1"/>
          <p:nvPr/>
        </p:nvSpPr>
        <p:spPr bwMode="auto">
          <a:xfrm>
            <a:off x="4716016" y="969787"/>
            <a:ext cx="33843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Implied TWD 1Y vs 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央行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NCD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1Y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87D0D42-3385-44FA-A33C-CF81E2379E40}"/>
              </a:ext>
            </a:extLst>
          </p:cNvPr>
          <p:cNvSpPr txBox="1"/>
          <p:nvPr/>
        </p:nvSpPr>
        <p:spPr bwMode="auto">
          <a:xfrm>
            <a:off x="0" y="990932"/>
            <a:ext cx="457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USDTWD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swap point 1Y vs  USDTWD CCS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1Y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CAD00FF-A296-5C16-7902-313C85DFB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359435"/>
            <a:ext cx="3956254" cy="281980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12B78FD-AB92-4EDF-7F0A-FCFFE9291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624" y="1370078"/>
            <a:ext cx="3953316" cy="280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57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C7965D-F437-4850-B026-B74A189E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USD</a:t>
            </a:r>
            <a:r>
              <a:rPr lang="zh-TW" altLang="en-US" dirty="0"/>
              <a:t> </a:t>
            </a:r>
            <a:r>
              <a:rPr lang="en-US" altLang="zh-TW" dirty="0"/>
              <a:t>Rate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D7A7E2-9C4F-4897-9105-F08C2691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1423" y="3691541"/>
            <a:ext cx="4803583" cy="2993334"/>
          </a:xfrm>
        </p:spPr>
        <p:txBody>
          <a:bodyPr/>
          <a:lstStyle/>
          <a:p>
            <a:r>
              <a:rPr lang="zh-TW" altLang="en-US" sz="1300" dirty="0"/>
              <a:t>上週美債 </a:t>
            </a:r>
            <a:r>
              <a:rPr lang="en-US" altLang="zh-TW" sz="1300" dirty="0"/>
              <a:t>-8~</a:t>
            </a:r>
            <a:r>
              <a:rPr lang="zh-TW" altLang="en-US" sz="1300" dirty="0"/>
              <a:t> </a:t>
            </a:r>
            <a:r>
              <a:rPr lang="en-US" altLang="zh-TW" sz="1300" dirty="0"/>
              <a:t>-17bp</a:t>
            </a:r>
            <a:r>
              <a:rPr lang="zh-TW" altLang="en-US" sz="1300" dirty="0"/>
              <a:t>，</a:t>
            </a:r>
            <a:r>
              <a:rPr lang="en-US" altLang="zh-TW" sz="1300" dirty="0"/>
              <a:t>curve bull flatten</a:t>
            </a:r>
          </a:p>
          <a:p>
            <a:r>
              <a:rPr lang="zh-TW" altLang="en-US" sz="1300" dirty="0"/>
              <a:t>上週眾所矚目的</a:t>
            </a:r>
            <a:r>
              <a:rPr lang="en-US" altLang="zh-TW" sz="1300" dirty="0"/>
              <a:t>CPI</a:t>
            </a:r>
            <a:r>
              <a:rPr lang="zh-TW" altLang="en-US" sz="1300" dirty="0"/>
              <a:t>及</a:t>
            </a:r>
            <a:r>
              <a:rPr lang="en-US" altLang="zh-TW" sz="1300" dirty="0"/>
              <a:t>PPI</a:t>
            </a:r>
            <a:r>
              <a:rPr lang="zh-TW" altLang="en-US" sz="1300" dirty="0"/>
              <a:t>數字均高於預期，而零售銷售數字及紐約州製造業指數也大幅優於預期，然而在</a:t>
            </a:r>
            <a:r>
              <a:rPr lang="en-US" altLang="zh-TW" sz="1300" dirty="0"/>
              <a:t>CPI</a:t>
            </a:r>
            <a:r>
              <a:rPr lang="zh-TW" altLang="en-US" sz="1300" dirty="0"/>
              <a:t>數字後，美債殖利率卻大幅反轉向下，</a:t>
            </a:r>
            <a:r>
              <a:rPr lang="en-US" altLang="zh-TW" sz="1300" dirty="0"/>
              <a:t>10Y</a:t>
            </a:r>
            <a:r>
              <a:rPr lang="zh-TW" altLang="en-US" sz="1300" dirty="0"/>
              <a:t>美債周五最終收在</a:t>
            </a:r>
            <a:r>
              <a:rPr lang="en-US" altLang="zh-TW" sz="1300" dirty="0"/>
              <a:t>5.07</a:t>
            </a:r>
            <a:r>
              <a:rPr lang="zh-TW" altLang="en-US" sz="1300" dirty="0"/>
              <a:t>較前周大幅下跌</a:t>
            </a:r>
            <a:r>
              <a:rPr lang="en-US" altLang="zh-TW" sz="1300" dirty="0"/>
              <a:t>16bp</a:t>
            </a:r>
            <a:r>
              <a:rPr lang="zh-TW" altLang="en-US" sz="1300" dirty="0"/>
              <a:t>，主要因為市場對</a:t>
            </a:r>
            <a:r>
              <a:rPr lang="en-US" altLang="zh-TW" sz="1300" dirty="0"/>
              <a:t>AI</a:t>
            </a:r>
            <a:r>
              <a:rPr lang="zh-TW" altLang="en-US" sz="1300" dirty="0"/>
              <a:t>相關投資疑慮上升，使美債避險需求上升，及美債</a:t>
            </a:r>
            <a:r>
              <a:rPr lang="en-US" altLang="zh-TW" sz="1300" dirty="0"/>
              <a:t>CTA</a:t>
            </a:r>
            <a:r>
              <a:rPr lang="zh-TW" altLang="en-US" sz="1300" dirty="0"/>
              <a:t>空單回補的影響。</a:t>
            </a:r>
            <a:endParaRPr lang="en-US" altLang="zh-TW" sz="1300" dirty="0"/>
          </a:p>
          <a:p>
            <a:r>
              <a:rPr lang="zh-TW" altLang="en-US" sz="1300" dirty="0"/>
              <a:t>上周五市場普遍關注財政部的一級交易商問卷，是否明確釋出減少長天期公債發行的訊號，然問卷並未直接詢問縮減長天期公債供給相關問題，因此長債近期偏多走勢或將受影響。此外，近期經濟數據面的利空因素已大致反映，短期美債走勢主要將受股市走勢而定，短期</a:t>
            </a:r>
            <a:r>
              <a:rPr lang="en-US" altLang="zh-TW" sz="1300" dirty="0"/>
              <a:t>10Y</a:t>
            </a:r>
            <a:r>
              <a:rPr lang="zh-TW" altLang="en-US" sz="1300" dirty="0"/>
              <a:t>美債偏</a:t>
            </a:r>
            <a:r>
              <a:rPr lang="en-US" altLang="zh-TW" sz="1300" dirty="0"/>
              <a:t>5-5.2</a:t>
            </a:r>
            <a:r>
              <a:rPr lang="zh-TW" altLang="en-US" sz="1300" dirty="0"/>
              <a:t>區間偏多操作為主。</a:t>
            </a:r>
            <a:endParaRPr lang="en-US" altLang="zh-TW" sz="13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B8BA604-D8B8-4B32-A931-F13B3E001EC2}"/>
              </a:ext>
            </a:extLst>
          </p:cNvPr>
          <p:cNvSpPr txBox="1"/>
          <p:nvPr/>
        </p:nvSpPr>
        <p:spPr bwMode="auto">
          <a:xfrm>
            <a:off x="179512" y="980728"/>
            <a:ext cx="33843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FOMC</a:t>
            </a:r>
            <a:r>
              <a:rPr kumimoji="1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Decision Expectations 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2D209F-9D52-46CA-BE2B-F72048633720}"/>
              </a:ext>
            </a:extLst>
          </p:cNvPr>
          <p:cNvSpPr txBox="1"/>
          <p:nvPr/>
        </p:nvSpPr>
        <p:spPr bwMode="auto">
          <a:xfrm>
            <a:off x="4657029" y="968860"/>
            <a:ext cx="33843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US 10Y yield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D88C592-5016-4598-88EA-877D1865EF9B}"/>
              </a:ext>
            </a:extLst>
          </p:cNvPr>
          <p:cNvSpPr txBox="1"/>
          <p:nvPr/>
        </p:nvSpPr>
        <p:spPr bwMode="auto">
          <a:xfrm>
            <a:off x="4659620" y="3832628"/>
            <a:ext cx="338437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Term Premium</a:t>
            </a:r>
            <a:endParaRPr kumimoji="1" lang="zh-TW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924D1A-6BC6-FF7D-5718-7D5A9EF19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368224"/>
            <a:ext cx="3770105" cy="22768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CB9EDF8-DC91-A9D1-A29D-2134E3461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161" y="1369738"/>
            <a:ext cx="3766508" cy="22768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61FD106C-FDF8-C7E1-06D5-91DEDCE4A8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811" y="4171182"/>
            <a:ext cx="3749858" cy="22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79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328F0C-C950-64D0-AA2C-8F494486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Oracle 5y CDS</a:t>
            </a:r>
            <a:endParaRPr lang="zh-TW" altLang="en-US" dirty="0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03D889A-B18B-C937-0687-C17C5E384412}"/>
              </a:ext>
            </a:extLst>
          </p:cNvPr>
          <p:cNvSpPr txBox="1">
            <a:spLocks/>
          </p:cNvSpPr>
          <p:nvPr/>
        </p:nvSpPr>
        <p:spPr bwMode="auto">
          <a:xfrm>
            <a:off x="125760" y="5102511"/>
            <a:ext cx="8892480" cy="728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buChar char="n"/>
              <a:defRPr kumimoji="1" sz="2400" b="1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buChar char="n"/>
              <a:defRPr kumimoji="1" sz="2000" b="1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itchFamily="2" charset="2"/>
              <a:buChar char="n"/>
              <a:defRPr kumimoji="1" b="1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Arial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itchFamily="18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itchFamily="18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itchFamily="18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itchFamily="18" charset="-120"/>
              </a:defRPr>
            </a:lvl9pPr>
          </a:lstStyle>
          <a:p>
            <a:r>
              <a:rPr lang="en-US" altLang="zh-TW" sz="1400" kern="0" dirty="0"/>
              <a:t>CDS</a:t>
            </a:r>
            <a:r>
              <a:rPr lang="zh-TW" altLang="en-US" sz="1400" kern="0" dirty="0"/>
              <a:t> </a:t>
            </a:r>
            <a:r>
              <a:rPr lang="en-US" altLang="zh-TW" sz="1400" kern="0" dirty="0"/>
              <a:t>Weekly </a:t>
            </a:r>
            <a:r>
              <a:rPr lang="en-US" altLang="zh-TW" sz="1400" kern="0" dirty="0" err="1"/>
              <a:t>Chg</a:t>
            </a:r>
            <a:r>
              <a:rPr lang="en-US" altLang="zh-TW" sz="1400" kern="0" dirty="0"/>
              <a:t>: 256</a:t>
            </a:r>
            <a:r>
              <a:rPr lang="en-US" altLang="zh-TW" sz="1400" kern="0" dirty="0">
                <a:sym typeface="Wingdings" panose="05000000000000000000" pitchFamily="2" charset="2"/>
              </a:rPr>
              <a:t></a:t>
            </a:r>
            <a:r>
              <a:rPr lang="zh-TW" altLang="en-US" sz="1400" kern="0" dirty="0">
                <a:sym typeface="Wingdings" panose="05000000000000000000" pitchFamily="2" charset="2"/>
              </a:rPr>
              <a:t> </a:t>
            </a:r>
            <a:r>
              <a:rPr lang="en-US" altLang="zh-TW" sz="1400" kern="0" dirty="0">
                <a:sym typeface="Wingdings" panose="05000000000000000000" pitchFamily="2" charset="2"/>
              </a:rPr>
              <a:t>300 (+44bp)</a:t>
            </a:r>
          </a:p>
          <a:p>
            <a:r>
              <a:rPr lang="en-US" altLang="zh-TW" sz="1400" kern="0" dirty="0"/>
              <a:t>Stock Weekly </a:t>
            </a:r>
            <a:r>
              <a:rPr lang="en-US" altLang="zh-TW" sz="1400" kern="0" dirty="0" err="1"/>
              <a:t>Chg</a:t>
            </a:r>
            <a:r>
              <a:rPr lang="en-US" altLang="zh-TW" sz="1400" kern="0" dirty="0"/>
              <a:t> :  141.4</a:t>
            </a:r>
            <a:r>
              <a:rPr lang="en-US" altLang="zh-TW" sz="1400" kern="0" dirty="0">
                <a:sym typeface="Wingdings" panose="05000000000000000000" pitchFamily="2" charset="2"/>
              </a:rPr>
              <a:t>128.23 (-9.31%)</a:t>
            </a:r>
          </a:p>
          <a:p>
            <a:endParaRPr lang="zh-TW" altLang="en-US" sz="1600" kern="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C29139C-0C9D-8138-CD62-9C2812DA4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24744"/>
            <a:ext cx="8403893" cy="38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9685"/>
      </p:ext>
    </p:extLst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4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lnDef>
    <a:txDef>
      <a:spPr bwMode="auto">
        <a:noFill/>
        <a:ln>
          <a:noFill/>
        </a:ln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3_自訂設計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00FF"/>
          </a:solidFill>
          <a:prstDash val="sysDot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00FF"/>
          </a:solidFill>
          <a:prstDash val="sysDot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France Tricolore">
  <a:themeElements>
    <a:clrScheme name="France Tricolore">
      <a:dk1>
        <a:srgbClr val="3A4050"/>
      </a:dk1>
      <a:lt1>
        <a:srgbClr val="FFFFFF"/>
      </a:lt1>
      <a:dk2>
        <a:srgbClr val="34507E"/>
      </a:dk2>
      <a:lt2>
        <a:srgbClr val="EEF1F6"/>
      </a:lt2>
      <a:accent1>
        <a:srgbClr val="34507E"/>
      </a:accent1>
      <a:accent2>
        <a:srgbClr val="B65A5E"/>
      </a:accent2>
      <a:accent3>
        <a:srgbClr val="93A9CB"/>
      </a:accent3>
      <a:accent4>
        <a:srgbClr val="A9AEB8"/>
      </a:accent4>
      <a:accent5>
        <a:srgbClr val="E2BDBD"/>
      </a:accent5>
      <a:accent6>
        <a:srgbClr val="7E5258"/>
      </a:accent6>
      <a:hlink>
        <a:srgbClr val="34507E"/>
      </a:hlink>
      <a:folHlink>
        <a:srgbClr val="93A9CB"/>
      </a:folHlink>
    </a:clrScheme>
    <a:fontScheme name="France Tricolore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Taishin">
  <a:themeElements>
    <a:clrScheme name="Taishin">
      <a:dk1>
        <a:srgbClr val="000000"/>
      </a:dk1>
      <a:lt1>
        <a:srgbClr val="FFFFFF"/>
      </a:lt1>
      <a:dk2>
        <a:srgbClr val="464444"/>
      </a:dk2>
      <a:lt2>
        <a:srgbClr val="F5F5F5"/>
      </a:lt2>
      <a:accent1>
        <a:srgbClr val="C00000"/>
      </a:accent1>
      <a:accent2>
        <a:srgbClr val="CC181D"/>
      </a:accent2>
      <a:accent3>
        <a:srgbClr val="7A0E12"/>
      </a:accent3>
      <a:accent4>
        <a:srgbClr val="3B6E9E"/>
      </a:accent4>
      <a:accent5>
        <a:srgbClr val="8C8C8C"/>
      </a:accent5>
      <a:accent6>
        <a:srgbClr val="D8D8D8"/>
      </a:accent6>
      <a:hlink>
        <a:srgbClr val="3B6E9E"/>
      </a:hlink>
      <a:folHlink>
        <a:srgbClr val="656565"/>
      </a:folHlink>
    </a:clrScheme>
    <a:fontScheme name="Taishin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163066</TotalTime>
  <Words>1204</Words>
  <Application>Microsoft Office PowerPoint</Application>
  <PresentationFormat>如螢幕大小 (4:3)</PresentationFormat>
  <Paragraphs>300</Paragraphs>
  <Slides>15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12</vt:i4>
      </vt:variant>
      <vt:variant>
        <vt:lpstr>投影片標題</vt:lpstr>
      </vt:variant>
      <vt:variant>
        <vt:i4>15</vt:i4>
      </vt:variant>
    </vt:vector>
  </HeadingPairs>
  <TitlesOfParts>
    <vt:vector size="36" baseType="lpstr">
      <vt:lpstr>外黑體</vt:lpstr>
      <vt:lpstr>Microsoft JhengHei</vt:lpstr>
      <vt:lpstr>Microsoft JhengHei</vt:lpstr>
      <vt:lpstr>新細明體</vt:lpstr>
      <vt:lpstr>標楷體</vt:lpstr>
      <vt:lpstr>Arial</vt:lpstr>
      <vt:lpstr>Calibri</vt:lpstr>
      <vt:lpstr>Perpetua</vt:lpstr>
      <vt:lpstr>Wingdings</vt:lpstr>
      <vt:lpstr>3_自訂設計</vt:lpstr>
      <vt:lpstr>4_自訂設計</vt:lpstr>
      <vt:lpstr>自訂設計</vt:lpstr>
      <vt:lpstr>6_自訂設計</vt:lpstr>
      <vt:lpstr>7_自訂設計</vt:lpstr>
      <vt:lpstr>5_自訂設計</vt:lpstr>
      <vt:lpstr>8_自訂設計</vt:lpstr>
      <vt:lpstr>14_自訂設計</vt:lpstr>
      <vt:lpstr>18_自訂設計</vt:lpstr>
      <vt:lpstr>Office Theme</vt:lpstr>
      <vt:lpstr>France Tricolore</vt:lpstr>
      <vt:lpstr>1_Taishin</vt:lpstr>
      <vt:lpstr>PowerPoint 簡報</vt:lpstr>
      <vt:lpstr>交易策略：Rec EUR ESTR 5Y vs Pay USD SOFR 5Y IRS</vt:lpstr>
      <vt:lpstr>赤字仍逾 5%，債務比率持續攀升</vt:lpstr>
      <vt:lpstr>PowerPoint 簡報</vt:lpstr>
      <vt:lpstr>PowerPoint 簡報</vt:lpstr>
      <vt:lpstr>PowerPoint 簡報</vt:lpstr>
      <vt:lpstr>PowerPoint 簡報</vt:lpstr>
      <vt:lpstr>交易策略：Rec EUR ESTR 5Y vs Pay USD SOFR 5Y IRS</vt:lpstr>
      <vt:lpstr>PowerPoint 簡報</vt:lpstr>
      <vt:lpstr>利率交易部損益及部位概況</vt:lpstr>
      <vt:lpstr>Trader PL</vt:lpstr>
      <vt:lpstr>台幣利率</vt:lpstr>
      <vt:lpstr>USDTWD Swap</vt:lpstr>
      <vt:lpstr>USD Rate</vt:lpstr>
      <vt:lpstr>Oracle 5y CDS</vt:lpstr>
    </vt:vector>
  </TitlesOfParts>
  <Company>tsb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870705</dc:creator>
  <cp:lastModifiedBy>周伯彥</cp:lastModifiedBy>
  <cp:revision>6261</cp:revision>
  <cp:lastPrinted>2018-03-22T00:06:27Z</cp:lastPrinted>
  <dcterms:created xsi:type="dcterms:W3CDTF">2004-04-09T03:27:04Z</dcterms:created>
  <dcterms:modified xsi:type="dcterms:W3CDTF">2026-10-19T02:17:41Z</dcterms:modified>
</cp:coreProperties>
</file>