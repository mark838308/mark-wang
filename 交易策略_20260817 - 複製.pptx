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09" r:id="rId8"/>
    <p:sldMasterId id="2147483722" r:id="rId9"/>
    <p:sldMasterId id="2147483723" r:id="rId10"/>
    <p:sldMasterId id="2147483724" r:id="rId11"/>
    <p:sldMasterId id="2147483725" r:id="rId12"/>
  </p:sldMasterIdLst>
  <p:notesMasterIdLst>
    <p:notesMasterId r:id="rId15"/>
  </p:notesMasterIdLst>
  <p:handoutMasterIdLst>
    <p:handoutMasterId r:id="rId16"/>
  </p:handoutMasterIdLst>
  <p:sldIdLst>
    <p:sldId id="3951" r:id="rId13"/>
    <p:sldId id="3955" r:id="rId14"/>
  </p:sldIdLst>
  <p:sldSz cx="9144000" cy="6858000" type="screen4x3"/>
  <p:notesSz cx="6797675" cy="992632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55"/>
            <p14:sldId id="395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96"/>
      </p:cViewPr>
      <p:guideLst>
        <p:guide orient="horz" pos="2160"/>
        <p:guide pos="2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26"/>
        <p:guide pos="208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  <a:endParaRPr lang="zh-TW" altLang="en-US" noProof="0"/>
          </a:p>
          <a:p>
            <a:pPr lvl="1"/>
            <a:r>
              <a:rPr lang="zh-TW" altLang="en-US" noProof="0"/>
              <a:t>第二層</a:t>
            </a:r>
            <a:endParaRPr lang="zh-TW" altLang="en-US" noProof="0"/>
          </a:p>
          <a:p>
            <a:pPr lvl="2"/>
            <a:r>
              <a:rPr lang="zh-TW" altLang="en-US" noProof="0"/>
              <a:t>第三層</a:t>
            </a:r>
            <a:endParaRPr lang="zh-TW" altLang="en-US" noProof="0"/>
          </a:p>
          <a:p>
            <a:pPr lvl="3"/>
            <a:r>
              <a:rPr lang="zh-TW" altLang="en-US" noProof="0"/>
              <a:t>第四層</a:t>
            </a:r>
            <a:endParaRPr lang="zh-TW" altLang="en-US" noProof="0"/>
          </a:p>
          <a:p>
            <a:pPr lvl="4"/>
            <a:r>
              <a:rPr lang="zh-TW" altLang="en-US" noProof="0"/>
              <a:t>第五層</a:t>
            </a:r>
            <a:endParaRPr lang="zh-TW" altLang="en-US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7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Pay JPY TONA 3Y IRS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0388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69443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BNP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報告指出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當前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日本央行持續落後於曲線</a:t>
            </a:r>
            <a:endParaRPr kumimoji="0"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26060" y="1336675"/>
            <a:ext cx="8871585" cy="45427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  <a:sym typeface="+mn-ea"/>
              </a:rPr>
              <a:t>《日本銀行法》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:BOJ</a:t>
            </a:r>
            <a:r>
              <a:rPr lang="zh-TW" altLang="en-US" sz="2000" dirty="0">
                <a:latin typeface="+mj-ea"/>
                <a:ea typeface="+mj-ea"/>
              </a:rPr>
              <a:t>過去受限高市政府抑制升息態度 </a:t>
            </a:r>
            <a:r>
              <a:rPr lang="en-US" altLang="zh-TW" sz="2000" dirty="0">
                <a:latin typeface="+mj-ea"/>
                <a:ea typeface="+mj-ea"/>
              </a:rPr>
              <a:t>&amp; </a:t>
            </a:r>
            <a:r>
              <a:rPr lang="zh-TW" altLang="en-US" sz="2000" dirty="0">
                <a:latin typeface="+mj-ea"/>
                <a:ea typeface="+mj-ea"/>
              </a:rPr>
              <a:t>內部</a:t>
            </a:r>
            <a:r>
              <a:rPr lang="zh-TW" altLang="en-US" sz="2000" dirty="0">
                <a:latin typeface="+mj-ea"/>
                <a:ea typeface="+mj-ea"/>
              </a:rPr>
              <a:t>低通膨預估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      </a:t>
            </a:r>
            <a:r>
              <a:rPr lang="zh-TW" altLang="en-US" sz="2000" dirty="0">
                <a:latin typeface="+mj-ea"/>
                <a:ea typeface="+mj-ea"/>
              </a:rPr>
              <a:t>→約每</a:t>
            </a:r>
            <a:r>
              <a:rPr lang="en-US" altLang="zh-TW" sz="2000" dirty="0">
                <a:latin typeface="+mj-ea"/>
                <a:ea typeface="+mj-ea"/>
              </a:rPr>
              <a:t>6~7</a:t>
            </a:r>
            <a:r>
              <a:rPr lang="zh-TW" altLang="en-US" sz="2000" dirty="0">
                <a:latin typeface="+mj-ea"/>
                <a:ea typeface="+mj-ea"/>
              </a:rPr>
              <a:t>個月升息一次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→當前政策利率</a:t>
            </a:r>
            <a:r>
              <a:rPr lang="en-US" altLang="zh-TW" sz="2000" dirty="0">
                <a:latin typeface="+mj-ea"/>
                <a:ea typeface="+mj-ea"/>
              </a:rPr>
              <a:t>1%</a:t>
            </a:r>
            <a:r>
              <a:rPr lang="zh-TW" altLang="en-US" sz="2000" dirty="0">
                <a:latin typeface="+mj-ea"/>
                <a:ea typeface="+mj-ea"/>
              </a:rPr>
              <a:t>，低於泰勒法則推算出的</a:t>
            </a:r>
            <a:r>
              <a:rPr lang="en-US" altLang="zh-TW" sz="2000" dirty="0">
                <a:latin typeface="+mj-ea"/>
                <a:ea typeface="+mj-ea"/>
              </a:rPr>
              <a:t>1.5%</a:t>
            </a:r>
            <a:r>
              <a:rPr lang="zh-TW" altLang="en-US" sz="2000" dirty="0">
                <a:latin typeface="+mj-ea"/>
                <a:ea typeface="+mj-ea"/>
              </a:rPr>
              <a:t>，落後</a:t>
            </a:r>
            <a:r>
              <a:rPr lang="en-US" altLang="zh-TW" sz="2000" dirty="0">
                <a:latin typeface="+mj-ea"/>
                <a:ea typeface="+mj-ea"/>
              </a:rPr>
              <a:t>50bps</a:t>
            </a:r>
            <a:endParaRPr lang="en-US" altLang="zh-TW" sz="20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近期來自高市政府的政治壓力</a:t>
            </a:r>
            <a:r>
              <a:rPr lang="zh-TW" altLang="en-US" sz="2000" dirty="0">
                <a:latin typeface="+mj-ea"/>
                <a:ea typeface="+mj-ea"/>
              </a:rPr>
              <a:t>下降</a:t>
            </a:r>
            <a:r>
              <a:rPr lang="en-US" altLang="zh-TW" sz="2000" dirty="0">
                <a:latin typeface="+mj-ea"/>
                <a:ea typeface="+mj-ea"/>
              </a:rPr>
              <a:t> &amp; </a:t>
            </a:r>
            <a:r>
              <a:rPr lang="zh-TW" altLang="en-US" sz="2000" dirty="0">
                <a:latin typeface="+mj-ea"/>
                <a:ea typeface="+mj-ea"/>
              </a:rPr>
              <a:t>下半年</a:t>
            </a:r>
            <a:r>
              <a:rPr lang="zh-TW" altLang="en-US" sz="2000" dirty="0">
                <a:latin typeface="+mj-ea"/>
                <a:ea typeface="+mj-ea"/>
              </a:rPr>
              <a:t>央行通膨立場轉變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  <a:sym typeface="+mn-ea"/>
              </a:rPr>
              <a:t>      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→預估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約每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3~6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個月升息一次</a:t>
            </a:r>
            <a:endParaRPr lang="en-US" altLang="zh-TW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終端利率預測從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2%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上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調至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2.5%(2028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年中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)</a:t>
            </a: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pic>
        <p:nvPicPr>
          <p:cNvPr id="18" name="圖片 17" descr="S__65675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3741420"/>
            <a:ext cx="4324985" cy="2968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圖片 19" descr="S__656752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45" y="3741420"/>
            <a:ext cx="4634865" cy="29698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Pay JPY TONA 3Y IRS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0388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69443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BNP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報告指出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當前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日本央行持續落後於曲線</a:t>
            </a:r>
            <a:endParaRPr kumimoji="0"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26060" y="1336675"/>
            <a:ext cx="8930640" cy="4816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近期已</a:t>
            </a:r>
            <a:r>
              <a:rPr lang="zh-TW" altLang="en-US" sz="2000" dirty="0">
                <a:latin typeface="+mj-ea"/>
                <a:ea typeface="+mj-ea"/>
              </a:rPr>
              <a:t>較不受</a:t>
            </a:r>
            <a:r>
              <a:rPr lang="zh-TW" altLang="en-US" sz="2000" dirty="0">
                <a:latin typeface="+mj-ea"/>
                <a:ea typeface="+mj-ea"/>
              </a:rPr>
              <a:t>美國短率</a:t>
            </a:r>
            <a:r>
              <a:rPr lang="zh-TW" altLang="en-US" sz="2000" dirty="0">
                <a:latin typeface="+mj-ea"/>
                <a:ea typeface="+mj-ea"/>
              </a:rPr>
              <a:t>影響</a:t>
            </a:r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對沖</a:t>
            </a:r>
            <a:r>
              <a:rPr lang="zh-TW" altLang="en-US" sz="2000" dirty="0">
                <a:latin typeface="+mj-ea"/>
                <a:ea typeface="+mj-ea"/>
              </a:rPr>
              <a:t>目前已有的</a:t>
            </a:r>
            <a:r>
              <a:rPr lang="zh-TW" altLang="en-US" sz="2000" dirty="0">
                <a:latin typeface="+mj-ea"/>
                <a:ea typeface="+mj-ea"/>
              </a:rPr>
              <a:t>收</a:t>
            </a:r>
            <a:r>
              <a:rPr lang="en-US" altLang="zh-TW" sz="2000" dirty="0">
                <a:latin typeface="+mj-ea"/>
                <a:ea typeface="+mj-ea"/>
              </a:rPr>
              <a:t>TWD IRS</a:t>
            </a:r>
            <a:r>
              <a:rPr lang="zh-TW" altLang="en-US" sz="2000" dirty="0">
                <a:latin typeface="+mj-ea"/>
                <a:ea typeface="+mj-ea"/>
              </a:rPr>
              <a:t>部位的上行風險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endParaRPr lang="en-US" altLang="zh-TW" sz="1000" dirty="0">
              <a:latin typeface="+mj-ea"/>
              <a:ea typeface="+mj-ea"/>
            </a:endParaRPr>
          </a:p>
          <a:p>
            <a:r>
              <a:rPr lang="en-US" altLang="zh-TW" sz="2000" dirty="0">
                <a:latin typeface="+mj-ea"/>
                <a:ea typeface="+mj-ea"/>
                <a:sym typeface="+mn-ea"/>
              </a:rPr>
              <a:t>JPY IRS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目前各年期利率</a:t>
            </a:r>
            <a:endParaRPr lang="zh-TW" altLang="en-US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TONA O/N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0.98%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1Y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1.43%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2Y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1.70%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3Y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1.88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% (BNP: 2%~2.05%)</a:t>
            </a: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0" name="圓桌 -1"/>
          <p:cNvGraphicFramePr/>
          <p:nvPr/>
        </p:nvGraphicFramePr>
        <p:xfrm>
          <a:off x="534670" y="1757045"/>
          <a:ext cx="1257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066800"/>
                <a:gridCol w="762000"/>
                <a:gridCol w="762000"/>
              </a:tblGrid>
              <a:tr h="177800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市場</a:t>
                      </a: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隱含</a:t>
                      </a: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升息次數</a:t>
                      </a:r>
                      <a:endParaRPr lang="zh-TW" altLang="en-US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會議日期</a:t>
                      </a:r>
                      <a:endParaRPr lang="zh-TW" altLang="en-US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7/28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8/7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8/14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</a:tr>
              <a:tr h="19685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2026/9/18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0.33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0.65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2026/10/30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0.95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1.08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2026/12/18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1.41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1.58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2027/1/22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1.79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2.03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2027/3/18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2.11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2.31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2027/4/28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2.46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2.70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2027/6/11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2.60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2.94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2027/7/22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3.15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3.15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物件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86630" y="6071870"/>
          <a:ext cx="164846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1648460" imgH="438150" progId="Package">
                  <p:embed/>
                </p:oleObj>
              </mc:Choice>
              <mc:Fallback>
                <p:oleObj name="" r:id="rId1" imgW="1648460" imgH="438150" progId="Package">
                  <p:embed/>
                  <p:pic>
                    <p:nvPicPr>
                      <p:cNvPr id="0" name="圖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6630" y="6071870"/>
                        <a:ext cx="164846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向右箭號 7"/>
          <p:cNvSpPr/>
          <p:nvPr/>
        </p:nvSpPr>
        <p:spPr>
          <a:xfrm>
            <a:off x="2564130" y="2334260"/>
            <a:ext cx="432435" cy="21590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TW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向右箭號 8"/>
          <p:cNvSpPr/>
          <p:nvPr/>
        </p:nvSpPr>
        <p:spPr>
          <a:xfrm>
            <a:off x="3430270" y="2821940"/>
            <a:ext cx="354965" cy="21590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TW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WPS Presentation</Application>
  <PresentationFormat>如螢幕大小 (4:3)</PresentationFormat>
  <Paragraphs>136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6" baseType="lpstr">
      <vt:lpstr>Arial</vt:lpstr>
      <vt:lpstr>新細明體</vt:lpstr>
      <vt:lpstr>Wingdings</vt:lpstr>
      <vt:lpstr>新細明體</vt:lpstr>
      <vt:lpstr>標楷體</vt:lpstr>
      <vt:lpstr>微軟正黑體</vt:lpstr>
      <vt:lpstr>Calibri</vt:lpstr>
      <vt:lpstr>Microsoft YaHei</vt:lpstr>
      <vt:lpstr>SimSun</vt:lpstr>
      <vt:lpstr>Arial Unicode MS</vt:lpstr>
      <vt:lpstr>Perpetua</vt:lpstr>
      <vt:lpstr>Franklin Gothic Book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Package</vt:lpstr>
      <vt:lpstr>交易策略：TWD IRS pay 6s, rec 2y</vt:lpstr>
      <vt:lpstr>交易策略：Pay JPY TONA 3Y IRS</vt:lpstr>
    </vt:vector>
  </TitlesOfParts>
  <Company>tsb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user</cp:lastModifiedBy>
  <cp:revision>6208</cp:revision>
  <cp:lastPrinted>2025-07-21T05:27:00Z</cp:lastPrinted>
  <dcterms:created xsi:type="dcterms:W3CDTF">2004-04-09T03:27:00Z</dcterms:created>
  <dcterms:modified xsi:type="dcterms:W3CDTF">2026-08-16T13:58:42Z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