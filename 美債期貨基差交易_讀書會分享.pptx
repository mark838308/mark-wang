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303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4" r:id="rId46"/>
    <p:sldId id="302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7248" autoAdjust="0"/>
  </p:normalViewPr>
  <p:slideViewPr>
    <p:cSldViewPr snapToGrid="0" snapToObjects="1">
      <p:cViewPr varScale="1">
        <p:scale>
          <a:sx n="110" d="100"/>
          <a:sy n="110" d="100"/>
        </p:scale>
        <p:origin x="1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12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91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040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223760" y="-1828800"/>
            <a:ext cx="6766560" cy="6766560"/>
          </a:xfrm>
          <a:prstGeom prst="roundRect">
            <a:avLst>
              <a:gd name="adj" fmla="val 1351"/>
            </a:avLst>
          </a:prstGeom>
          <a:solidFill>
            <a:srgbClr val="24406E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9326880" y="237744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C87F1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READING GROUP · US RATES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</a:t>
            </a:r>
            <a:endParaRPr lang="en-US" sz="50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與基差交易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EB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從轉換因子、最便宜交割券到交割日的完整地圖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2926080" cy="18288"/>
          </a:xfrm>
          <a:prstGeom prst="rect">
            <a:avLst/>
          </a:prstGeom>
          <a:solidFill>
            <a:srgbClr val="36507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937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1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資料整理：BofA Global Research 基差 Primer (2025.07)、BofA Repo &amp; Bond Futures (2021)、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1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CME Understanding Treasury Futures (2017)、CME Delivery Options, Basis Spreads &amp; Delivery Tails (2016)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今天的五段路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465576" cy="2057400"/>
          </a:xfrm>
          <a:prstGeom prst="roundRect">
            <a:avLst>
              <a:gd name="adj" fmla="val 222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984248"/>
            <a:ext cx="502920" cy="502920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60604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59536" y="3044952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交割籃、轉換因子、CTD、基差定義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1691640"/>
            <a:ext cx="3465576" cy="2057400"/>
          </a:xfrm>
          <a:prstGeom prst="roundRect">
            <a:avLst>
              <a:gd name="adj" fmla="val 222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1984248"/>
            <a:ext cx="502920" cy="502920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3" name="Text 11"/>
          <p:cNvSpPr/>
          <p:nvPr/>
        </p:nvSpPr>
        <p:spPr>
          <a:xfrm>
            <a:off x="4608576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260604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元素與計算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08576" y="3044952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發票金額、carry、淨基差、IRR、避險口數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65008" y="1691640"/>
            <a:ext cx="3465576" cy="2057400"/>
          </a:xfrm>
          <a:prstGeom prst="roundRect">
            <a:avLst>
              <a:gd name="adj" fmla="val 222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1984248"/>
            <a:ext cx="502920" cy="502920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57616" y="260604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57616" y="3044952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選擇權觀點、Wild Card、交割尾、風險清單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4114800"/>
            <a:ext cx="3465576" cy="2057400"/>
          </a:xfrm>
          <a:prstGeom prst="roundRect">
            <a:avLst>
              <a:gd name="adj" fmla="val 222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" y="4407408"/>
            <a:ext cx="502920" cy="502920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9536" y="50292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其他重要觀念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59536" y="5468112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轉倉、發票價差、組合避險、現券常識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15968" y="4114800"/>
            <a:ext cx="3465576" cy="2057400"/>
          </a:xfrm>
          <a:prstGeom prst="roundRect">
            <a:avLst>
              <a:gd name="adj" fmla="val 222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4407408"/>
            <a:ext cx="502920" cy="50292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28" name="Text 26"/>
          <p:cNvSpPr/>
          <p:nvPr/>
        </p:nvSpPr>
        <p:spPr>
          <a:xfrm>
            <a:off x="4608576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08576" y="50292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主管會問什麼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4608576" y="5468112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六個問題與回答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65008" y="4114800"/>
            <a:ext cx="3465576" cy="2057400"/>
          </a:xfrm>
          <a:prstGeom prst="roundRect">
            <a:avLst>
              <a:gd name="adj" fmla="val 222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57616" y="4407408"/>
            <a:ext cx="502920" cy="502920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33" name="Text 31"/>
          <p:cNvSpPr/>
          <p:nvPr/>
        </p:nvSpPr>
        <p:spPr>
          <a:xfrm>
            <a:off x="8357616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57616" y="50292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合約條件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357616" y="5468112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規格、交割流程、關鍵日期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72400" y="-1280160"/>
            <a:ext cx="6035040" cy="6035040"/>
          </a:xfrm>
          <a:prstGeom prst="roundRect">
            <a:avLst>
              <a:gd name="adj" fmla="val 1818"/>
            </a:avLst>
          </a:prstGeom>
          <a:solidFill>
            <a:srgbClr val="244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6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基差交易的核心概念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先統一語言，數字才有意義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4572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期貨與現金公債，本質不同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轉換因子與最便宜交割券（CTD）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基差的定義與買賣方向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基差的定義：所有計算的起點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73384" cy="114300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73936"/>
            <a:ext cx="10616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</a:t>
            </a:r>
            <a:r>
              <a:rPr lang="en-US" sz="2600" b="1" dirty="0" err="1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</a:t>
            </a:r>
            <a:r>
              <a:rPr lang="en-US" altLang="zh-TW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(Gross Basis)</a:t>
            </a:r>
            <a:r>
              <a:rPr 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＝ B － c × F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95528" y="222199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現券乾淨價　c 轉換因子　F 期貨價格　｜　報價單位 1／32 點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5349240" cy="1737360"/>
          </a:xfrm>
          <a:prstGeom prst="roundRect">
            <a:avLst>
              <a:gd name="adj" fmla="val 263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246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 Long Basis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3675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買現券 ＋ 賣 c 加權期貨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40965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買下交割選擇權，等基差擴大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91072" y="3063240"/>
            <a:ext cx="5349240" cy="1737360"/>
          </a:xfrm>
          <a:prstGeom prst="roundRect">
            <a:avLst>
              <a:gd name="adj" fmla="val 263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3246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賣基差 Short Basis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11112" y="3675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賣現券 ＋ 買 c 加權期貨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11112" y="40965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賣出選擇權，賺 carry 與時間價值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5029200"/>
            <a:ext cx="11073384" cy="960120"/>
          </a:xfrm>
          <a:prstGeom prst="roundRect">
            <a:avLst>
              <a:gd name="adj" fmla="val 4762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7492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改用其他權重 W：B － W×F ＝ 基差 ＋ (c－W)×F ⇒ 多了一層期貨曝險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1967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轉換因子：拉到同一條起跑線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73384" cy="1051560"/>
          </a:xfrm>
          <a:prstGeom prst="roundRect">
            <a:avLst>
              <a:gd name="adj" fmla="val 4348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73936"/>
            <a:ext cx="106161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＝ 該債券在殖利率 6% 下的每 1 元面額乾淨價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" y="213055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交易所事前公布，合約存續期間固定不變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308152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30358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票息 6% ⇒ c =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30358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今天多數美債票息低於 6% ⇒ c ＜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3657600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385876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813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設計目的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3813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抹平票息差異，讓每一檔接近等值可交割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434840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463600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636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07008" y="4590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高價債不吃虧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459028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買進貴，但交割時靠較高的 c 拿回更多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" y="5212080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541324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5413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5367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但它不完美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53675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只在 6% 成立，一離開就有偏差 ⇒ CTD 由此而生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最便宜交割券：空方手上的選擇權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交割時由空方挑券，多方只能接受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挑交割損失最小的那一檔 ＝ CTD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兩個判準：淨基差最低 ＝ IRR 最高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會隨殖利率移動 ⇒ 選擇權價值來源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416552" cy="2926080"/>
          </a:xfrm>
          <a:prstGeom prst="roundRect">
            <a:avLst>
              <a:gd name="adj" fmla="val 15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  <a:effectLst>
            <a:outerShdw blurRad="101600" dist="25400" dir="5400000" algn="bl" rotWithShape="0">
              <a:srgbClr val="8A97A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CME 範例：誰比較便宜？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2331720"/>
          <a:ext cx="3977640" cy="18288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2-3/8% 8/24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1-7/8% 8/24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轉換因子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0.8072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0.7807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發票金額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$101,114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$97,795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現券價格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$101,234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$98,031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交割損益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A551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－$120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－$236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4937760"/>
            <a:ext cx="11073384" cy="1051560"/>
          </a:xfrm>
          <a:prstGeom prst="roundRect">
            <a:avLst>
              <a:gd name="adj" fmla="val 4348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5065776"/>
            <a:ext cx="106161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長基差 ＝ 買下交割選擇權，那一點虧損就是權利金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95528" y="542239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 1 檔淨基差、放到最適交割日，通常就是虧 1 檔；換成非 CTD 只會虧更多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誰在基差的兩邊？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349240" cy="2926080"/>
          </a:xfrm>
          <a:prstGeom prst="roundRect">
            <a:avLst>
              <a:gd name="adj" fmla="val 15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槓桿型基金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2395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多半是「買基差」的一方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278892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買現券、賣期貨，買下便宜的選擇權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需要券商的附買回融資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官方高度關注其規模與槓桿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1072" y="1737360"/>
            <a:ext cx="5349240" cy="2926080"/>
          </a:xfrm>
          <a:prstGeom prst="roundRect">
            <a:avLst>
              <a:gd name="adj" fmla="val 1563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資產管理機構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多半是「賣基差」的一方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11112" y="278892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用期貨取代指數內的現券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取得槓桿又不必動用附買回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轉倉再早，仍暴露於基差風險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937760"/>
            <a:ext cx="11073384" cy="1051560"/>
          </a:xfrm>
          <a:prstGeom prst="roundRect">
            <a:avLst>
              <a:gd name="adj" fmla="val 4348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983480"/>
            <a:ext cx="10469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有多就有空：兩邊規模其實相當。現券總得有人買，附買回融資就成了部位規模的天然上限。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72400" y="-1280160"/>
            <a:ext cx="6035040" cy="6035040"/>
          </a:xfrm>
          <a:prstGeom prst="roundRect">
            <a:avLst>
              <a:gd name="adj" fmla="val 1818"/>
            </a:avLst>
          </a:prstGeom>
          <a:solidFill>
            <a:srgbClr val="244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6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必要元素與計算方式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把名詞換成可以按計算機的數字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4572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發票金額 ＝ 合約規模 × F × c ＋ 應計利息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毛基差 ＝ 淨基差 ＋ carry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隱含附買回利率（IRR）與避險口數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交割發票金額：多方付多少錢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73384" cy="1097280"/>
          </a:xfrm>
          <a:prstGeom prst="roundRect">
            <a:avLst>
              <a:gd name="adj" fmla="val 4167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73936"/>
            <a:ext cx="10616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發票金額 ＝ 合約規模 × F × c ＋ AI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95528" y="217627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申報日期貨結算價　c 轉換因子　AI 應計利息（actual／actual）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3044952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合約規模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ZN・ZF・ZB・UB・TN 每點 $1,000　｜　ZT・Z3N 每點 $2,000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3703320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07008" y="3675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轉換後期貨價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36758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等同現券的乾淨價；先算到每口、再乘口數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" y="436168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07008" y="4334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應計利息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77640" y="433425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上次付息日到交割日，算法與現券交易相同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11073384" cy="960120"/>
          </a:xfrm>
          <a:prstGeom prst="roundRect">
            <a:avLst>
              <a:gd name="adj" fmla="val 476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07492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ZNM6：129.640625 × 0.7939 × $1,000 ＝ 每口 $102,921.69；794 口 ＝ $81,719,822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毛基差、carry、淨基差：三個一組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73384" cy="960120"/>
          </a:xfrm>
          <a:prstGeom prst="roundRect">
            <a:avLst>
              <a:gd name="adj" fmla="val 476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73936"/>
            <a:ext cx="10616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</a:t>
            </a:r>
            <a:r>
              <a:rPr lang="en-US" sz="2600" b="1" dirty="0" err="1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</a:t>
            </a:r>
            <a:r>
              <a:rPr 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＝ </a:t>
            </a:r>
            <a:r>
              <a:rPr lang="en-US" sz="2600" b="1" dirty="0" err="1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淨基差</a:t>
            </a:r>
            <a:r>
              <a:rPr lang="en-US" altLang="zh-TW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(Net Basis)</a:t>
            </a:r>
            <a:r>
              <a:rPr 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＋ carry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66928" y="2880360"/>
            <a:ext cx="3465576" cy="1920240"/>
          </a:xfrm>
          <a:prstGeom prst="roundRect">
            <a:avLst>
              <a:gd name="adj" fmla="val 238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</a:t>
            </a:r>
            <a:r>
              <a:rPr lang="en-US" sz="2200" b="1" dirty="0" err="1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用即期現券價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4069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螢幕上真正成交的市場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15968" y="2880360"/>
            <a:ext cx="3465576" cy="1920240"/>
          </a:xfrm>
          <a:prstGeom prst="roundRect">
            <a:avLst>
              <a:gd name="adj" fmla="val 238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0288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票息 － 融資成本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0288" y="4069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即期價與遠期價的差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65008" y="2880360"/>
            <a:ext cx="3465576" cy="1920240"/>
          </a:xfrm>
          <a:prstGeom prst="roundRect">
            <a:avLst>
              <a:gd name="adj" fmla="val 2381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淨基差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39328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用遠期現券價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9328" y="4069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交割選擇權的價值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983480"/>
            <a:ext cx="11073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今天毛基差絕大部分來自 carry，淨基差只剩幾檔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利率接近 6% 的年代，淨基差常在 10 檔以上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時間到期，兩者收斂，最終 CTD 基差歸零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Carry 怎麼算：TNU6 範例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4846320" cy="3794760"/>
          </a:xfrm>
          <a:prstGeom prst="roundRect">
            <a:avLst>
              <a:gd name="adj" fmla="val 120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前提設定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1-5/8% 2026/2/15，$10mm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乾淨價 102-037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附買回 0.475%（Act／360）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到第一交割日 55 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5971032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四個步驟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89320" y="2450592"/>
            <a:ext cx="384048" cy="384048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4323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買進全價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01000" y="243230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$10,211,719 ＋ $64,286 ＝ $10,276,004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3163824"/>
            <a:ext cx="384048" cy="384048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1455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融資成本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314553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55／360 × 0.475% ＝ $7,457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3877056"/>
            <a:ext cx="384048" cy="384048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38587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票息收入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01000" y="38587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同期間累積 ＝ $24,471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9320" y="4590288"/>
            <a:ext cx="384048" cy="384048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4572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01000" y="4572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$24,471 － $7,457 ＝ ＋$17,014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5623560"/>
            <a:ext cx="11073384" cy="566928"/>
          </a:xfrm>
          <a:prstGeom prst="roundRect">
            <a:avLst>
              <a:gd name="adj" fmla="val 8065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5751576"/>
            <a:ext cx="1061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 carry ⇒ 撐到最後交割日（84 天可到 ＋$25,888）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接著算淨基差：選擇權值多少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73384" cy="548640"/>
          </a:xfrm>
          <a:prstGeom prst="roundRect">
            <a:avLst>
              <a:gd name="adj" fmla="val 8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 F（TNU6）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147-00+ ＝ 147.015625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1107338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957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乾淨價 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3957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102-037 ＝ 102.1171875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054096"/>
            <a:ext cx="11073384" cy="548640"/>
          </a:xfrm>
          <a:prstGeom prst="roundRect">
            <a:avLst>
              <a:gd name="adj" fmla="val 8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540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轉換因子 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05409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0.6928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1107338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124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毛基差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371246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0.2647625 點 ≈ 8.47／32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370832"/>
            <a:ext cx="11073384" cy="548640"/>
          </a:xfrm>
          <a:prstGeom prst="roundRect">
            <a:avLst>
              <a:gd name="adj" fmla="val 8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708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3708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0.2588755 點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11073384" cy="548640"/>
          </a:xfrm>
          <a:prstGeom prst="roundRect">
            <a:avLst>
              <a:gd name="adj" fmla="val 8333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029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淨基差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5029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0.005887 點 ≈ 0.19／32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" y="5760720"/>
            <a:ext cx="11073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8.47 檔裡有 8.28 檔是 carry ⇒ 市場只給選擇權不到 1／5 檔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隱含附買回利率 IRR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73384" cy="114300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73936"/>
            <a:ext cx="10616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IRR ＝ (發票金額 － 現券全價) ／ 現券全價 × 年化天數 ／ 天數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" y="222199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年化慣例：CME 用 Act／360，部分報表用 365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317296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31272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它在講什麼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31272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買券、融資、交割進期貨的年化報酬率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3730752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3922776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8770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等價定義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51960" y="387705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讓現券遠期價剛好等於 c × F 的附買回利率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480560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4672584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672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07008" y="46268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越高越便宜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51960" y="462686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期貨相對現券越貴、carry 補償越少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" y="5230368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5422392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5376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實務落差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51960" y="53766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IRR 幾乎不等於實際 repo，差在資產負債表成本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 CTD 的兩把尺：FVU5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73384" cy="2743200"/>
        </p:xfrm>
        <a:graphic>
          <a:graphicData uri="http://schemas.openxmlformats.org/drawingml/2006/table">
            <a:tbl>
              <a:tblPr/>
              <a:tblGrid>
                <a:gridCol w="3392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可交割券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轉換因子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毛基差(32)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隱含 repo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淨基差(32)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8A551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4-1/8 11/30/29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8A551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0.9317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8A551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-2.250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8A551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4.456%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8A551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-0.586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4-3/8 12/31/29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0.9397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1.584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3.890%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2.282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4-1/4 01/31/30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0.9340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5.074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3.105%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6.240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4 02/28/30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0.9234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9.660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1.943%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12.130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3-7/8 06/30/30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0.9132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24.360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-1.107%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27.025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（實際 repo 皆為 4.340%）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4892040"/>
            <a:ext cx="11073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最低淨基差與最高隱含 repo 指向同一檔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淨基差可以是負的 ＝ 被付錢拿走選擇權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前提是撐得到交割：資金與資產負債表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交割日假設：看 carry 的正負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349240" cy="2834640"/>
          </a:xfrm>
          <a:prstGeom prst="roundRect">
            <a:avLst>
              <a:gd name="adj" fmla="val 161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 carry（repo ＜ 殖利率）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24505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⇒ 假設最後交割日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29260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持有現券每天賺錢，拖到最後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例：目前的 WN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1072" y="1737360"/>
            <a:ext cx="5349240" cy="2834640"/>
          </a:xfrm>
          <a:prstGeom prst="roundRect">
            <a:avLst>
              <a:gd name="adj" fmla="val 1613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 carry（repo ＞ 殖利率）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11112" y="24505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⇒ 假設第一交割日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1112" y="29260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每多一天多虧一天，盡早脫手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例：目前的 ZF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892040"/>
            <a:ext cx="11073384" cy="1097280"/>
          </a:xfrm>
          <a:prstGeom prst="roundRect">
            <a:avLst>
              <a:gd name="adj" fmla="val 4167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937760"/>
            <a:ext cx="10469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市場只取單一「最適交割日」評價；計算 carry 一律用 T+2 的節奏。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要配幾口期貨？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349240" cy="2377440"/>
          </a:xfrm>
          <a:prstGeom prst="roundRect">
            <a:avLst>
              <a:gd name="adj" fmla="val 192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CF 加權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口數 ＝ 面額 ／ $100,000 × 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5292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$10mm、c＝0.8072 ⇒ 賣 81 口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市場報價基差用的就是這個權重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1072" y="1737360"/>
            <a:ext cx="5349240" cy="2377440"/>
          </a:xfrm>
          <a:prstGeom prst="roundRect">
            <a:avLst>
              <a:gd name="adj" fmla="val 1923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BPV 加權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23957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＝ c × BPV(標的) ／ BPV(CTD)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85292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0.8072 × (8,558 ／ 63.78) ＝ 108 口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避險非 CTD 時一定要用這個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343400"/>
            <a:ext cx="11073384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為什麼差到 81 vs 108 口？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4983480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期貨追蹤 CTD（存續 6.44 年），被避險的券卻有 8.66 年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期貨反應較鈍 ⇒ 需要更多口數；殖利率動 20~25bp 就要重算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72400" y="-1280160"/>
            <a:ext cx="6035040" cy="6035040"/>
          </a:xfrm>
          <a:prstGeom prst="roundRect">
            <a:avLst>
              <a:gd name="adj" fmla="val 1818"/>
            </a:avLst>
          </a:prstGeom>
          <a:solidFill>
            <a:srgbClr val="244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6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評估交易獲利與風險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買基差就是買選擇權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4572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損益不對稱：有限風險、無限上檔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6% 這條線決定它像 put、call 還是跨式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會出事的往往是融資與流動性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 ＝ 買選擇權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349240" cy="2834640"/>
          </a:xfrm>
          <a:prstGeom prst="roundRect">
            <a:avLst>
              <a:gd name="adj" fmla="val 161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6968" y="256032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最壞：基差收斂到 0，鎖住 IRR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上檔：CTD 切換、基差擴大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有限風險 ＋ 無限上檔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1072" y="1737360"/>
            <a:ext cx="5349240" cy="2834640"/>
          </a:xfrm>
          <a:prstGeom prst="roundRect">
            <a:avLst>
              <a:gd name="adj" fmla="val 1613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9659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賣基差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11112" y="256032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最好：基差收斂到 0，賺 carry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波動放大時損失無上限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有限獲利 ＋ 無限風險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92040"/>
            <a:ext cx="11073384" cy="1097280"/>
          </a:xfrm>
          <a:prstGeom prst="roundRect">
            <a:avLst>
              <a:gd name="adj" fmla="val 4167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5020056"/>
            <a:ext cx="10616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CTD 的 IRR 通常略低於同天期短期利率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5528" y="542239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那一小段差額，就是長基差方付出的選擇權權利金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空方手上其實有四張牌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73384" cy="932688"/>
          </a:xfrm>
          <a:prstGeom prst="roundRect">
            <a:avLst>
              <a:gd name="adj" fmla="val 4902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93392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品質（切換）選擇權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6675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籃子裡挑券。合約掛牌就有價值，不必等交割月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761488"/>
            <a:ext cx="11073384" cy="932688"/>
          </a:xfrm>
          <a:prstGeom prst="roundRect">
            <a:avLst>
              <a:gd name="adj" fmla="val 4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017520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761488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時機（carry）選擇權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2761488"/>
            <a:ext cx="6675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交割窗口一個月，何時交割由空方決定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785616"/>
            <a:ext cx="11073384" cy="932688"/>
          </a:xfrm>
          <a:prstGeom prst="roundRect">
            <a:avLst>
              <a:gd name="adj" fmla="val 4902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041648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785616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月末選擇權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54880" y="3785616"/>
            <a:ext cx="6675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最後交易日後期貨凍結、現券續動（長天期 6 天、短天期 2 天）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4809744"/>
            <a:ext cx="11073384" cy="932688"/>
          </a:xfrm>
          <a:prstGeom prst="roundRect">
            <a:avLst>
              <a:gd name="adj" fmla="val 4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5065776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4809744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萬用牌 Wild Card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54880" y="4809744"/>
            <a:ext cx="6675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每日結算後到申報截止，發票金額已知、現券還在動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5897880"/>
            <a:ext cx="1107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市場交易的「淨基差」＝ 這四張牌加總的公允價值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6% 這條線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465576" cy="2834640"/>
          </a:xfrm>
          <a:prstGeom prst="roundRect">
            <a:avLst>
              <a:gd name="adj" fmla="val 161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殖利率 ＜ 6%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在短存續期券，只有殖利率上升才換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3794760"/>
            <a:ext cx="2971800" cy="548640"/>
          </a:xfrm>
          <a:prstGeom prst="roundRect">
            <a:avLst>
              <a:gd name="adj" fmla="val 41667"/>
            </a:avLst>
          </a:prstGeom>
          <a:solidFill>
            <a:srgbClr val="12234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794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 ≈ 買 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1737360"/>
            <a:ext cx="3465576" cy="2834640"/>
          </a:xfrm>
          <a:prstGeom prst="roundRect">
            <a:avLst>
              <a:gd name="adj" fmla="val 1613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殖利率 ≈ 6%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90288" y="2514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漲跌都可能換 CTD，兩邊都有機會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90288" y="3794760"/>
            <a:ext cx="2971800" cy="548640"/>
          </a:xfrm>
          <a:prstGeom prst="roundRect">
            <a:avLst>
              <a:gd name="adj" fmla="val 41667"/>
            </a:avLst>
          </a:prstGeom>
          <a:solidFill>
            <a:srgbClr val="12234B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3794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 ≈ 買跨式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65008" y="1737360"/>
            <a:ext cx="3465576" cy="2834640"/>
          </a:xfrm>
          <a:prstGeom prst="roundRect">
            <a:avLst>
              <a:gd name="adj" fmla="val 161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殖利率 ＞ 6%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39328" y="2514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在長存續期券，只有殖利率下降才換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39328" y="3794760"/>
            <a:ext cx="2971800" cy="548640"/>
          </a:xfrm>
          <a:prstGeom prst="roundRect">
            <a:avLst>
              <a:gd name="adj" fmla="val 41667"/>
            </a:avLst>
          </a:prstGeom>
          <a:solidFill>
            <a:srgbClr val="12234B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328" y="3794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 ≈ 買 call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4846320"/>
            <a:ext cx="11073384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9204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期貨永遠追蹤表現最差的那一檔 ⇒ 上漲變短、下跌拉長，凸性低於現券。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Wild Card 實例：WNU5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4846320" cy="22860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 $100mm T 4.75% 11/15/53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 734 口（c＝0.7342）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毛基差 5 檔；收盤後現券漲 1 點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1737360"/>
            <a:ext cx="597103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9385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377440"/>
          <a:ext cx="5349240" cy="13716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交割 $73.4mm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734 × 5 × $31.25 ＝ －$114,688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賣掉 $26.6mm 尾巴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$26.6mm × 1% ＝ ＋$266,000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8A551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淨結果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8A551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＋$151,312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4251960"/>
            <a:ext cx="11073384" cy="1005840"/>
          </a:xfrm>
          <a:prstGeom prst="roundRect">
            <a:avLst>
              <a:gd name="adj" fmla="val 4545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4379976"/>
            <a:ext cx="10616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拇指法則：毛基差 × c ／ (1 － c) ＜ 收盤後現券漲幅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95528" y="469087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本質是一張約 3 小時、標的為 (1－c) 部位現券的買權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5486400"/>
            <a:ext cx="1107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轉換因子越低、尾巴越大 ⇒ 選擇權越值錢，但進場的淨基差也會被喊高。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交割尾：那一刻規則變了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73384" cy="1005840"/>
          </a:xfrm>
          <a:prstGeom prst="roundRect">
            <a:avLst>
              <a:gd name="adj" fmla="val 4545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65376"/>
            <a:ext cx="1061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交割前 CF 加權（DV01 中性）　→　宣告交割起 面額 1 : 1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66928" y="297180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 ZNM6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$100mm 現券 vs 794 口（c＝0.7939）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只交割 $79.4mm ⇒ 裸多 $20.6mm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1072" y="297180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尾巴長在哪邊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6118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＜ 1 ⇒ 多出現券（今天多數）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＞ 1 ⇒ 多出期貨空單，須補券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73384" cy="1005840"/>
          </a:xfrm>
          <a:prstGeom prst="roundRect">
            <a:avLst>
              <a:gd name="adj" fmla="val 4545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029200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處理：市場賣掉／加賣期貨一起交割／保留並用次季合約避險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情境分析：基差像一組跨式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11073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假設交割日的各種殖利率，令 F ＝ 籃子裡最低的 B／c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USU5 現行 CTD 11/43：＋50bp 換 11/44、＋100bp 換 8/50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殖利率下滑 50bp 以上，CTD 往 2/41 移動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不論漲跌，原 CTD 基差都擴大 ⇒ 損益像利率跨式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34840"/>
            <a:ext cx="5349240" cy="1554480"/>
          </a:xfrm>
          <a:prstGeom prst="roundRect">
            <a:avLst>
              <a:gd name="adj" fmla="val 294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公允價值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50749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各情境損益的機率加權總和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1072" y="4434840"/>
            <a:ext cx="5349240" cy="1554480"/>
          </a:xfrm>
          <a:prstGeom prst="roundRect">
            <a:avLst>
              <a:gd name="adj" fmla="val 2941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 PV01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50749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各券的 CTD 機率 × 遠期 PV01 加總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真正會出事的風險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465576" cy="1965960"/>
          </a:xfrm>
          <a:prstGeom prst="roundRect">
            <a:avLst>
              <a:gd name="adj" fmla="val 23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93392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融資風險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2926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附買回每天展期；利率一跳、額度一縮就垮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1737360"/>
            <a:ext cx="3465576" cy="1965960"/>
          </a:xfrm>
          <a:prstGeom prst="roundRect">
            <a:avLst>
              <a:gd name="adj" fmla="val 2326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1993392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0288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90288" y="2926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交割月前後或市場緊縮，出場成本吃掉損益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65008" y="1737360"/>
            <a:ext cx="3465576" cy="1965960"/>
          </a:xfrm>
          <a:prstGeom prst="roundRect">
            <a:avLst>
              <a:gd name="adj" fmla="val 23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993392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資產負債表成本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39328" y="2926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券商額度與槓桿限制，IRR 與 repo 的落差來源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3465576" cy="1965960"/>
          </a:xfrm>
          <a:prstGeom prst="roundRect">
            <a:avLst>
              <a:gd name="adj" fmla="val 2326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4096512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切換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1248" y="5029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避險比率跟著跳，短基差是承擔者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15968" y="3840480"/>
            <a:ext cx="3465576" cy="1965960"/>
          </a:xfrm>
          <a:prstGeom prst="roundRect">
            <a:avLst>
              <a:gd name="adj" fmla="val 23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0288" y="4096512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8" name="Text 26"/>
          <p:cNvSpPr/>
          <p:nvPr/>
        </p:nvSpPr>
        <p:spPr>
          <a:xfrm>
            <a:off x="4590288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90288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交割作業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90288" y="5029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尾巴管理、券源調度，避免交割失敗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65008" y="3840480"/>
            <a:ext cx="3465576" cy="1965960"/>
          </a:xfrm>
          <a:prstGeom prst="roundRect">
            <a:avLst>
              <a:gd name="adj" fmla="val 2326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9328" y="4096512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33" name="Text 31"/>
          <p:cNvSpPr/>
          <p:nvPr/>
        </p:nvSpPr>
        <p:spPr>
          <a:xfrm>
            <a:off x="8339328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39328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監管關注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339328" y="5029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官方緊盯槓桿型基金的基差部位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6928" y="5943600"/>
            <a:ext cx="11073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模型算得再準，出事的是融資、流動性與作業。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交割日到了，三條路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465576" cy="2743200"/>
          </a:xfrm>
          <a:prstGeom prst="roundRect">
            <a:avLst>
              <a:gd name="adj" fmla="val 1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11680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實物交割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1248" y="3108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口數與面額 1:1 對上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事前調整尾巴、備妥券源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1783080"/>
            <a:ext cx="3465576" cy="2743200"/>
          </a:xfrm>
          <a:prstGeom prst="roundRect">
            <a:avLst>
              <a:gd name="adj" fmla="val 1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011680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0288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轉倉下一季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90288" y="3108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相同 ⇒ 新的一段附買回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不同 ⇒ 變成曲線交易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65008" y="1783080"/>
            <a:ext cx="3465576" cy="2743200"/>
          </a:xfrm>
          <a:prstGeom prst="roundRect">
            <a:avLst>
              <a:gd name="adj" fmla="val 1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2011680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市場平倉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39328" y="3108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找對手承接，最直接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流動性與成本不保證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4846320"/>
            <a:ext cx="11073384" cy="114300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9204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實際走到交割的比率不到 3%，近年約 1%；但交割月開始時仍有約 1／6 的未平倉量在場內。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72400" y="-1280160"/>
            <a:ext cx="6035040" cy="6035040"/>
          </a:xfrm>
          <a:prstGeom prst="roundRect">
            <a:avLst>
              <a:gd name="adj" fmla="val 1818"/>
            </a:avLst>
          </a:prstGeom>
          <a:solidFill>
            <a:srgbClr val="244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6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其餘重要觀念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四份資料還提到、但前面沒展開的部分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4572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期貨的 carry 與 rolldown、換月價差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發票價差、非 CTD 基差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組合避險與現券市場常識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其他觀念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期貨也有 carry，只是沒有現金流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11073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期貨不付票息，但價格會隨遠期日接近而規律移動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這在經濟上等同 carry，只是不產生實際現金流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期貨也有 rolldown：因為它追蹤的 CTD 會沿曲線下滑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一個月的期貨 rolldown ≈ CTD 的一個月 rolldown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80560"/>
            <a:ext cx="11073384" cy="1508760"/>
          </a:xfrm>
          <a:prstGeom prst="roundRect">
            <a:avLst>
              <a:gd name="adj" fmla="val 303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基差部位的現金流來自現券那一腳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512064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 carry 環境：長基差每天賺 carry　｜　負 carry 環境：每天燒錢，等選擇權價內的代價很高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其他觀念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換月價差與轉倉季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110733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換月價差 ＝ 前月合約價 － 次月合約價（同天期）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轉倉季約在交割月的前一個月，成交最集中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資產管理者賣出轉倉、槓桿基金買進轉倉，方向天生相反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3931920"/>
            <a:ext cx="5349240" cy="2057400"/>
          </a:xfrm>
          <a:prstGeom prst="roundRect">
            <a:avLst>
              <a:gd name="adj" fmla="val 222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160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相同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86968" y="46634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主要由 Sep→Dec 的 carry 差決定，也就是尾段附買回利率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91072" y="3931920"/>
            <a:ext cx="5349240" cy="2057400"/>
          </a:xfrm>
          <a:prstGeom prst="roundRect">
            <a:avLst>
              <a:gd name="adj" fmla="val 222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4160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不同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11112" y="46634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兩檔 CTD 的殖利率利差成為關鍵，曲線變陡會讓價差擴大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其他觀念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發票價差：用期貨做交換價差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73384" cy="1051560"/>
          </a:xfrm>
          <a:prstGeom prst="roundRect">
            <a:avLst>
              <a:gd name="adj" fmla="val 4348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11096"/>
            <a:ext cx="106161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發票價差 ＝ 公債期貨 vs 利率交換（取代現券那一腳）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66928" y="3154680"/>
            <a:ext cx="11073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好處：避開現券市場與附買回的資金作業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期貨是遠期交割，交換那一腳通常也設定同一個遠期起息日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例：買 9 月 ZF ＋ 支付一筆到期日對齊 CTD 的交換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用期貨選擇權對交換選擇權，可做出有條件的價差部位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其他觀念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 CTD 的基差、非 CF 的權重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349240" cy="2194560"/>
          </a:xfrm>
          <a:prstGeom prst="roundRect">
            <a:avLst>
              <a:gd name="adj" fmla="val 208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拿非 CTD 去做基差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期貨追短端、你做中後段券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損益主要由兩點的曲線斜率決定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本質是「曲線交易 ＋ 期貨」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91072" y="1783080"/>
            <a:ext cx="5349240" cy="2194560"/>
          </a:xfrm>
          <a:prstGeom prst="roundRect">
            <a:avLst>
              <a:gd name="adj" fmla="val 2083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相對價值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 CTD ⇒ 通常相對變貴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掉出可交割籃 ⇒ 相對變便宜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常用「債券 vs 交換」提前布局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251960"/>
            <a:ext cx="11073384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權重不是 c 會怎樣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98348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－ W×F ＝ 基差 ＋ (c － W)×F　⇒　等於標準基差再疊一層方向性期貨曝險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其他觀念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用期貨調整組合存續期間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73384" cy="1097280"/>
          </a:xfrm>
          <a:prstGeom prst="roundRect">
            <a:avLst>
              <a:gd name="adj" fmla="val 4167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11096"/>
            <a:ext cx="10616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口數 ＝ (目標存續 － 現有存續) ／ 現有存續 × 組合 BPV ／ (BPV(CTD) ／ c)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3154680"/>
            <a:ext cx="110733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$100mm、BPV $80,000、存續 8 年，要降到 6 年 ⇒ 賣 253 口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全額避險則約 1,012 口，但實務上很少把風險降到零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子彈型組合：直接押單一天期合約即可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074920"/>
            <a:ext cx="11073384" cy="91440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12064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啞鈴型組合：分成 2／5／10／30 年幾個桶，各自算 BPV 避險比率，才不會被曲線變形咬到。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其他觀念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現券市場的基本常識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73384" cy="932688"/>
          </a:xfrm>
          <a:prstGeom prst="roundRect">
            <a:avLst>
              <a:gd name="adj" fmla="val 4902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39112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報價慣例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1783080"/>
            <a:ext cx="7040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97-18 ＝ 97 又 18／32；「＋」是再加 1／64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807208"/>
            <a:ext cx="11073384" cy="932688"/>
          </a:xfrm>
          <a:prstGeom prst="roundRect">
            <a:avLst>
              <a:gd name="adj" fmla="val 4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063240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807208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交割慣例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2807208"/>
            <a:ext cx="7040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現券多為 T+1，可談 skip date，等同短天期遠期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831336"/>
            <a:ext cx="11073384" cy="932688"/>
          </a:xfrm>
          <a:prstGeom prst="roundRect">
            <a:avLst>
              <a:gd name="adj" fmla="val 4902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087368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831336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新券與舊券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89120" y="3831336"/>
            <a:ext cx="7040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on-the-run 最活絡、殖利率偏低；老券流動性差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4855464"/>
            <a:ext cx="11073384" cy="932688"/>
          </a:xfrm>
          <a:prstGeom prst="roundRect">
            <a:avLst>
              <a:gd name="adj" fmla="val 4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5111496"/>
            <a:ext cx="420624" cy="420624"/>
          </a:xfrm>
          <a:prstGeom prst="ellipse">
            <a:avLst/>
          </a:prstGeom>
          <a:solidFill>
            <a:srgbClr val="12234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4855464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附買回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9120" y="4855464"/>
            <a:ext cx="7040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一般擔保品為 GC；搶手的券會 on special，利率更低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5897880"/>
            <a:ext cx="1107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 special 會壓低融資成本 ⇒ 直接推高該券的 carry 與基差。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其他觀念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長期報酬：現券 vs 期貨＋附買回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349240" cy="2651760"/>
          </a:xfrm>
          <a:prstGeom prst="roundRect">
            <a:avLst>
              <a:gd name="adj" fmla="val 172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22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4.71%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持有 CTD 現券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（2005–2017，48 季平均年化）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91072" y="1828800"/>
            <a:ext cx="5349240" cy="2651760"/>
          </a:xfrm>
          <a:prstGeom prst="roundRect">
            <a:avLst>
              <a:gd name="adj" fmla="val 1724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48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A55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4.85%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賣掉現券、資金放隔夜附買回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買進等額期貨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754880"/>
            <a:ext cx="1107338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00600"/>
            <a:ext cx="10469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期貨組合多出約 14bp／年，且享有表外、集中部位、淨額保證金等作業效益。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72400" y="-1280160"/>
            <a:ext cx="6035040" cy="6035040"/>
          </a:xfrm>
          <a:prstGeom prst="roundRect">
            <a:avLst>
              <a:gd name="adj" fmla="val 1818"/>
            </a:avLst>
          </a:prstGeom>
          <a:solidFill>
            <a:srgbClr val="244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6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主管會問什麼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六個常見提問與回答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4572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值不值得做？風險上限在哪？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避險比率、交割作業扛不扛得住？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負淨基差算不算套利？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1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11073384" cy="1234440"/>
          </a:xfrm>
          <a:prstGeom prst="roundRect">
            <a:avLst>
              <a:gd name="adj" fmla="val 3704"/>
            </a:avLst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43000"/>
            <a:ext cx="502920" cy="50292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713232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只賺幾檔基差，這筆交易到底值不值得做？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219456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報酬來源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carry ＋ 基差變動，單位報酬本來就薄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20040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200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靠槓桿放大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期貨只要保證金，現券靠附買回，規模才是關鍵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20624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先扣成本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資產負債表、保證金、作業成本要先算進去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5349240"/>
            <a:ext cx="10497312" cy="777240"/>
          </a:xfrm>
          <a:prstGeom prst="roundRect">
            <a:avLst>
              <a:gd name="adj" fmla="val 588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5349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結論：報酬薄、槓桿高 ⇒ 規模與融資條件決定成敗，不是看單筆檔數。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2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11073384" cy="1234440"/>
          </a:xfrm>
          <a:prstGeom prst="roundRect">
            <a:avLst>
              <a:gd name="adj" fmla="val 3704"/>
            </a:avLst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43000"/>
            <a:ext cx="502920" cy="50292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713232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 2020 年 3 月那種行情，我們會怎樣？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219456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兩頭夾擊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期貨被追繳保證金，同時附買回額度縮手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20040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200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出場也難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現券流動性最差時，平倉成本可能吃掉全部損益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20624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要先設限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壓力情境下的保證金與展期缺口要事先試算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5349240"/>
            <a:ext cx="10497312" cy="777240"/>
          </a:xfrm>
          <a:prstGeom prst="roundRect">
            <a:avLst>
              <a:gd name="adj" fmla="val 588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5349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結論：這是流動性與融資風險，不是利率風險，要用現金流壓力測試管。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11073384" cy="1234440"/>
          </a:xfrm>
          <a:prstGeom prst="roundRect">
            <a:avLst>
              <a:gd name="adj" fmla="val 3704"/>
            </a:avLst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43000"/>
            <a:ext cx="502920" cy="50292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713232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那我們直接用期貨取代現券部位就好了？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219456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等於賣基差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不買指數內現券、改買期貨 ＝ 賣出交割選擇權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20040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200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追蹤誤差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淨基差擴大時，期貨表現會落後現券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20624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好處也真實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省下附買回、釋出現金、表外且保證金可淨額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5349240"/>
            <a:ext cx="10497312" cy="777240"/>
          </a:xfrm>
          <a:prstGeom prst="roundRect">
            <a:avLst>
              <a:gd name="adj" fmla="val 588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5349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結論：可以，但要清楚知道自己在賣選擇權，並納入績效歸因。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11073384" cy="1234440"/>
          </a:xfrm>
          <a:prstGeom prst="roundRect">
            <a:avLst>
              <a:gd name="adj" fmla="val 3704"/>
            </a:avLst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43000"/>
            <a:ext cx="502920" cy="50292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713232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淨基差是負的，那不就是無風險套利？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219456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帳面上是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等於被付錢拿走交割選擇權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20040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200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前提很硬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必須撐到交割：融資不斷、額度夠、能備券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20624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為何存在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資產管理者的期貨需求把合約買貴所致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5349240"/>
            <a:ext cx="10497312" cy="777240"/>
          </a:xfrm>
          <a:prstGeom prst="roundRect">
            <a:avLst>
              <a:gd name="adj" fmla="val 588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5349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結論：是「有條件的套利」，條件就是資金能力，不是無風險。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11073384" cy="1234440"/>
          </a:xfrm>
          <a:prstGeom prst="roundRect">
            <a:avLst>
              <a:gd name="adj" fmla="val 3704"/>
            </a:avLst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43000"/>
            <a:ext cx="502920" cy="50292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713232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避險比率要用哪一個？多久調一次？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219456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避險 CTD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CF 加權即可，與 DV01 加權結果接近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20040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200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避險非 CTD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一律用 BPV 加權，差距可達三成以上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20624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調整頻率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殖利率移動 20~25bp、或 CTD 換人時重算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5349240"/>
            <a:ext cx="10497312" cy="777240"/>
          </a:xfrm>
          <a:prstGeom prst="roundRect">
            <a:avLst>
              <a:gd name="adj" fmla="val 588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5349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結論：預設用 BPV 加權，並把 CTD 切換列為必檢事件。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11073384" cy="1234440"/>
          </a:xfrm>
          <a:prstGeom prst="roundRect">
            <a:avLst>
              <a:gd name="adj" fmla="val 3704"/>
            </a:avLst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43000"/>
            <a:ext cx="502920" cy="50292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713232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萬一真的走到交割，作業扛得住嗎？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219456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三日流程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 → 通知 → 交割，時間點以芝加哥時間為準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20040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200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尾巴管理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宣告交割起改為面額 1:1，差額要事先處理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4206240"/>
            <a:ext cx="10497312" cy="868680"/>
          </a:xfrm>
          <a:prstGeom prst="roundRect">
            <a:avLst>
              <a:gd name="adj" fmla="val 5263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券源準備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先備妥債券避免交割失敗，短天期合約還會跨月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5349240"/>
            <a:ext cx="10497312" cy="777240"/>
          </a:xfrm>
          <a:prstGeom prst="roundRect">
            <a:avLst>
              <a:gd name="adj" fmla="val 588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5349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結論：多數部位在交割前就出場，但流程與券源必須事前演練過。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72400" y="-1280160"/>
            <a:ext cx="6035040" cy="6035040"/>
          </a:xfrm>
          <a:prstGeom prst="roundRect">
            <a:avLst>
              <a:gd name="adj" fmla="val 1818"/>
            </a:avLst>
          </a:prstGeom>
          <a:solidFill>
            <a:srgbClr val="244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0" b="1" dirty="0">
                <a:solidFill>
                  <a:srgbClr val="C87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</a:t>
            </a:r>
            <a:endParaRPr lang="en-US" sz="116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美債期貨合約條件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EB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查表用：規格、流程與關鍵日期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4572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七大合約規格與跳動值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交割三日流程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長天期與短天期的關鍵日期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附註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合約規格速查表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73384" cy="32186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8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CME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BofA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合約面額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可交割年期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每跳動值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ZT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TU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$200,000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1¾ ~ 2 年（原始 ≤ 5¼ 年）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$7.8125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Z3N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$200,000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2¾ ~ 3 年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$15.625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ZF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FV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$100,000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4⅙ ~ 5¼ 年（原始 ≤ 5¼ 年）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$7.8125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ZN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TY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$100,000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6½ ~ 8 年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$15.625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TN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UXY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$100,000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 5/12 ~ 10 年（原始 ≤ 10 年）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$15.625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ZB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$100,000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 ~ 未滿 25 年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$31.25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UB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234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WN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$100,000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 ~ 30 年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$31.25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212080"/>
            <a:ext cx="11073384" cy="822960"/>
          </a:xfrm>
          <a:prstGeom prst="roundRect">
            <a:avLst>
              <a:gd name="adj" fmla="val 5556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21208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交割月 3／6／9／12，同時掛牌最近三個季月；實物交割，轉換因子掛牌前算定並固定。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附註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交割的三日流程（芝加哥時間）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465576" cy="3017520"/>
          </a:xfrm>
          <a:prstGeom prst="roundRect">
            <a:avLst>
              <a:gd name="adj" fmla="val 151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11680"/>
            <a:ext cx="1234440" cy="502920"/>
          </a:xfrm>
          <a:prstGeom prst="roundRect">
            <a:avLst>
              <a:gd name="adj" fmla="val 45455"/>
            </a:avLst>
          </a:prstGeom>
          <a:solidFill>
            <a:srgbClr val="12234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11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6334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申報日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1248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18:00 前空方通知 CME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20:00 CME 依最舊持有日配對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宣告後不可撤回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1783080"/>
            <a:ext cx="3465576" cy="3017520"/>
          </a:xfrm>
          <a:prstGeom prst="roundRect">
            <a:avLst>
              <a:gd name="adj" fmla="val 1515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011680"/>
            <a:ext cx="1234440" cy="502920"/>
          </a:xfrm>
          <a:prstGeom prst="roundRect">
            <a:avLst>
              <a:gd name="adj" fmla="val 45455"/>
            </a:avLst>
          </a:prstGeom>
          <a:solidFill>
            <a:srgbClr val="12234B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011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0288" y="26334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通知日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90288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空方以申報日結算價備妥發票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14:00 前確認金額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16:00 CME 轉交多方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65008" y="1783080"/>
            <a:ext cx="3465576" cy="3017520"/>
          </a:xfrm>
          <a:prstGeom prst="roundRect">
            <a:avLst>
              <a:gd name="adj" fmla="val 151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2011680"/>
            <a:ext cx="1234440" cy="502920"/>
          </a:xfrm>
          <a:prstGeom prst="roundRect">
            <a:avLst>
              <a:gd name="adj" fmla="val 45455"/>
            </a:avLst>
          </a:prstGeom>
          <a:solidFill>
            <a:srgbClr val="12234B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2011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26334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交割日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39328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09:30 前解決差異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10:00 前券入帳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13:00 前券款兩訖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11073384" cy="868680"/>
          </a:xfrm>
          <a:prstGeom prst="roundRect">
            <a:avLst>
              <a:gd name="adj" fmla="val 5263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16636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所以計算交割期間的 carry 一律用 T+2 —— 少算兩天，淨基差就系統性偏低。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附註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關鍵日期：長天期 vs 短天期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73384" cy="822960"/>
          </a:xfrm>
          <a:prstGeom prst="roundRect">
            <a:avLst>
              <a:gd name="adj" fmla="val 5556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共通：第一申報日 ＝ 交割月首個營業日的前兩個營業日；第一交割日 ＝ 交割月首個營業日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349240" cy="2743200"/>
          </a:xfrm>
          <a:prstGeom prst="roundRect">
            <a:avLst>
              <a:gd name="adj" fmla="val 1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971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UB · ZB · TN · ZN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86968" y="352044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最後交易日：往前第 7 個營業日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最後申報日：倒數第 2 個營業日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最後交割日：交割月最後營業日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⇒ 月末選擇權有 6 個營業日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1072" y="2743200"/>
            <a:ext cx="5349240" cy="2743200"/>
          </a:xfrm>
          <a:prstGeom prst="roundRect">
            <a:avLst>
              <a:gd name="adj" fmla="val 1667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71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ZF · Z3N · ZT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11112" y="352044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最後交易日：交割月最後營業日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最後申報日：次月第 1 個營業日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最後交割日：次月第 3 個營業日</a:t>
            </a:r>
            <a:endParaRPr lang="en-US" sz="14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⇒ 月末選擇權只有 2 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5669280"/>
            <a:ext cx="11073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長天期合約最後交易日後，期貨凍結、現券續動 ⇒ 月末選擇權的空間。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期貨與現金公債：兩種不同的東西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349240" cy="3291840"/>
          </a:xfrm>
          <a:prstGeom prst="roundRect">
            <a:avLst>
              <a:gd name="adj" fmla="val 138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91072" y="1645920"/>
            <a:ext cx="5349240" cy="3291840"/>
          </a:xfrm>
          <a:prstGeom prst="roundRect">
            <a:avLst>
              <a:gd name="adj" fmla="val 1389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現金公債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38544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公債期貨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是資產，也是政府的負債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佔用資產負債表與資本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領票息，槓桿靠附買回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可持有到期或市場賣出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38544" y="24231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衍生品，每日結算市值歸零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只需保證金，可跨資產淨額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無票息，但價格規律收斂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損益每日由保證金收付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5257800"/>
            <a:ext cx="11073384" cy="777240"/>
          </a:xfrm>
          <a:prstGeom prst="roundRect">
            <a:avLst>
              <a:gd name="adj" fmla="val 588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5385816"/>
            <a:ext cx="106161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一句話：現券是「錢」，期貨是「價格的記號」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1544714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595360" y="-1645920"/>
            <a:ext cx="5852160" cy="5852160"/>
          </a:xfrm>
          <a:prstGeom prst="roundRect">
            <a:avLst>
              <a:gd name="adj" fmla="val 1875"/>
            </a:avLst>
          </a:prstGeom>
          <a:solidFill>
            <a:srgbClr val="244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五句話帶走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411480" cy="41148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6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 ＝ B － c × F，源頭是轉換因子只在 6% 公平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11480" cy="41148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6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毛基差 ＝ 淨基差 ＋ carry，淨基差才是選擇權的價格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355848"/>
            <a:ext cx="411480" cy="41148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3284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6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 CTD：最低淨基差 ＝ 最高隱含附買回利率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4105656"/>
            <a:ext cx="411480" cy="41148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05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0782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6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買基差就是買選擇權，代價是 carry 與資金成本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855464"/>
            <a:ext cx="411480" cy="411480"/>
          </a:xfrm>
          <a:prstGeom prst="ellipse">
            <a:avLst/>
          </a:prstGeom>
          <a:solidFill>
            <a:srgbClr val="C87F1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55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828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6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會出事的是融資、流動性與交割作業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715000"/>
            <a:ext cx="10561320" cy="9144"/>
          </a:xfrm>
          <a:prstGeom prst="rect">
            <a:avLst/>
          </a:prstGeom>
          <a:solidFill>
            <a:srgbClr val="36507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1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BofA 基差 Primer (2025.07)｜BofA Repo &amp; Bond Futures (2021)｜CME Understanding Treasury Futures (2017)｜CME Delivery Options &amp; Tails (2016)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2446</Words>
  <Application>Microsoft Office PowerPoint</Application>
  <PresentationFormat>寬螢幕</PresentationFormat>
  <Paragraphs>749</Paragraphs>
  <Slides>46</Slides>
  <Notes>46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0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徐嘉蔚</cp:lastModifiedBy>
  <cp:revision>3</cp:revision>
  <dcterms:created xsi:type="dcterms:W3CDTF">2026-07-27T07:18:55Z</dcterms:created>
  <dcterms:modified xsi:type="dcterms:W3CDTF">2026-07-27T07:51:55Z</dcterms:modified>
</cp:coreProperties>
</file>