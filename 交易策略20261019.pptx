
<file path=[Content_Types].xml><?xml version="1.0" encoding="utf-8"?>
<Types xmlns="http://schemas.openxmlformats.org/package/2006/content-types">
  <Default Extension="jpeg" ContentType="image/jpe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sldIdLst>
    <p:sldId id="268" r:id="rId4"/>
    <p:sldId id="270" r:id="rId5"/>
    <p:sldId id="260" r:id="rId7"/>
    <p:sldId id="271" r:id="rId8"/>
    <p:sldId id="273" r:id="rId9"/>
    <p:sldId id="274" r:id="rId10"/>
    <p:sldId id="278" r:id="rId11"/>
    <p:sldId id="275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陳柏龍" initials="陳柏龍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TW" sz="2000" b="1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2000" b="1" i="0" u="none" strike="noStrike">
                <a:solidFill>
                  <a:srgbClr val="3A4050"/>
                </a:solidFill>
                <a:latin typeface="+mn-lt"/>
              </a:rPr>
              <a:t>公共赤字（</a:t>
            </a:r>
            <a:r>
              <a:rPr lang="en-US" altLang="zh-TW" sz="2000" b="1" i="0" u="none" strike="noStrike">
                <a:solidFill>
                  <a:srgbClr val="3A4050"/>
                </a:solidFill>
                <a:latin typeface="+mn-lt"/>
              </a:rPr>
              <a:t>% </a:t>
            </a:r>
            <a:r>
              <a:rPr lang="en-US" sz="2000" b="1" i="0" u="none" strike="noStrike">
                <a:solidFill>
                  <a:srgbClr val="3A4050"/>
                </a:solidFill>
                <a:latin typeface="+mn-lt"/>
              </a:rPr>
              <a:t>GDP）</a:t>
            </a:r>
            <a:endParaRPr lang="en-US" sz="2000" b="1" i="0" u="none" strike="noStrike">
              <a:solidFill>
                <a:srgbClr val="3A4050"/>
              </a:solidFill>
              <a:latin typeface="+mn-lt"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0359195402298851"/>
          <c:y val="0.0989216549295775"/>
          <c:w val="0.944324712643678"/>
          <c:h val="0.8259463028169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赤字／GDP</c:v>
                </c:pt>
              </c:strCache>
            </c:strRef>
          </c:tx>
          <c:spPr>
            <a:solidFill>
              <a:srgbClr val="B65A5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TW" sz="2000" b="1" i="0" u="none" strike="noStrike" kern="1200" baseline="0">
                    <a:solidFill>
                      <a:srgbClr val="3A405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2025 實際</c:v>
                </c:pt>
                <c:pt idx="1">
                  <c:v>2026 預估</c:v>
                </c:pt>
                <c:pt idx="2">
                  <c:v>2027 目標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 c:formatCode="General">
                  <c:v>5.1</c:v>
                </c:pt>
                <c:pt idx="1" c:formatCode="General">
                  <c:v>5.4</c:v>
                </c:pt>
                <c:pt idx="2" c:formatCode="General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2000" b="0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5"/>
          <c:min val="0"/>
        </c:scaling>
        <c:delete val="0"/>
        <c:axPos val="l"/>
        <c:majorGridlines>
          <c:spPr>
            <a:ln w="9525" cap="flat" cmpd="sng" algn="ctr">
              <a:solidFill>
                <a:srgbClr val="E7E9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1000" b="0" i="0" u="none" strike="noStrike" kern="1200" baseline="0">
                <a:solidFill>
                  <a:srgbClr val="6E7484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lang="zh-TW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TW" sz="2000" b="0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2000" b="0" i="0" u="none" strike="noStrike">
                <a:solidFill>
                  <a:srgbClr val="3A4050"/>
                </a:solidFill>
                <a:latin typeface="+mn-lt"/>
              </a:rPr>
              <a:t>公共債務（</a:t>
            </a:r>
            <a:r>
              <a:rPr lang="en-US" altLang="zh-TW" sz="2000" b="0" i="0" u="none" strike="noStrike">
                <a:solidFill>
                  <a:srgbClr val="3A4050"/>
                </a:solidFill>
                <a:latin typeface="+mn-lt"/>
              </a:rPr>
              <a:t>% GDP</a:t>
            </a:r>
            <a:r>
              <a:rPr lang="zh-TW" altLang="en-US" sz="2000" b="0" i="0" u="none" strike="noStrike">
                <a:solidFill>
                  <a:srgbClr val="3A4050"/>
                </a:solidFill>
                <a:latin typeface="+mn-lt"/>
              </a:rPr>
              <a:t>）</a:t>
            </a:r>
            <a:endParaRPr lang="zh-TW" altLang="en-US" sz="2000" b="0" i="0" u="none" strike="noStrike">
              <a:solidFill>
                <a:srgbClr val="3A4050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債務／GDP</c:v>
                </c:pt>
              </c:strCache>
            </c:strRef>
          </c:tx>
          <c:spPr>
            <a:ln w="38100" cap="flat" cmpd="sng" algn="ctr">
              <a:solidFill>
                <a:srgbClr val="34507E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34507E"/>
              </a:solidFill>
              <a:ln w="9525" cap="flat" cmpd="sng" algn="ctr">
                <a:solidFill>
                  <a:srgbClr val="34507E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TW" sz="2000" b="1" i="0" u="none" strike="noStrike" kern="1200" baseline="0">
                    <a:solidFill>
                      <a:srgbClr val="3A405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2025 實際</c:v>
                </c:pt>
                <c:pt idx="1">
                  <c:v>2026 預估</c:v>
                </c:pt>
                <c:pt idx="2">
                  <c:v>2027 預估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 c:formatCode="General">
                  <c:v>115.9</c:v>
                </c:pt>
                <c:pt idx="1" c:formatCode="General">
                  <c:v>119.3</c:v>
                </c:pt>
                <c:pt idx="2" c:formatCode="General">
                  <c:v>121.7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2000" b="0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  <c:min val="110"/>
        </c:scaling>
        <c:delete val="0"/>
        <c:axPos val="l"/>
        <c:majorGridlines>
          <c:spPr>
            <a:ln w="9525" cap="flat" cmpd="sng" algn="ctr">
              <a:solidFill>
                <a:srgbClr val="E7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1000" b="0" i="0" u="none" strike="noStrike" kern="1200" baseline="0">
                <a:solidFill>
                  <a:srgbClr val="6E7484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lang="zh-TW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6967E-542D-46BB-99C2-28920E914199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37628-B820-42EF-A241-CE9D2C9CD08B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來源：Kuwait Times/Reuters 2026/7（2025 年赤字 5.1%、債務 115.9%）；Hellenic Shipping News（2026 年 5.4%、債務 119.3%／121.7%）；Euronews（2027 年目標 5%）。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zh-TW"/>
            </a:fld>
            <a:endParaRPr 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來源：ABC Bourse 2026/9/16（1 月均值 3.53%、9/14 TEC10 4.48%）；Eco3min（2 月均值 3.40%、8 月均值 4.00%）；Trading Economics 2026/9/28（4.77%）。MNI 2025/11（穆迪展望負向，S&amp;P、Fitch 已降至 A 級區間）。2026 年評等行動無法判別。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zh-TW"/>
            </a:fld>
            <a:endParaRPr 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752"/>
            <a:ext cx="14630400" cy="1007872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498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sz="2800" dirty="0"/>
          </a:p>
        </p:txBody>
      </p:sp>
      <p:sp>
        <p:nvSpPr>
          <p:cNvPr id="3" name="Text 0"/>
          <p:cNvSpPr/>
          <p:nvPr/>
        </p:nvSpPr>
        <p:spPr>
          <a:xfrm>
            <a:off x="812800" y="8485632"/>
            <a:ext cx="1219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dirty="0">
                <a:solidFill>
                  <a:schemeClr val="accent4"/>
                </a:solidFill>
              </a:rPr>
              <a:t>法國公共財政簡報｜資料截至 2026/10/12｜角色設定：財政部首長簡報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</a:fld>
            <a:endParaRPr 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75360" y="2519680"/>
            <a:ext cx="14305280" cy="21132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64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75360" y="4795520"/>
            <a:ext cx="14305280" cy="1625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32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zh-TW" sz="18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752"/>
            <a:ext cx="14630400" cy="1007872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498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sz="2800" dirty="0"/>
          </a:p>
        </p:txBody>
      </p:sp>
      <p:sp>
        <p:nvSpPr>
          <p:cNvPr id="3" name="Text 0"/>
          <p:cNvSpPr/>
          <p:nvPr/>
        </p:nvSpPr>
        <p:spPr>
          <a:xfrm>
            <a:off x="812800" y="8485632"/>
            <a:ext cx="1219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dirty="0">
                <a:solidFill>
                  <a:schemeClr val="accent4"/>
                </a:solidFill>
              </a:rPr>
              <a:t>法國公共財政簡報｜資料截至 2026/10/12｜角色設定：財政部首長簡報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</a:fld>
            <a:endParaRPr lang="zh-TW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752"/>
            <a:ext cx="14630400" cy="1007872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498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 algn="ctr" defTabSz="1625600" rtl="0" eaLnBrk="1" latinLnBrk="0" hangingPunct="1">
        <a:spcBef>
          <a:spcPct val="0"/>
        </a:spcBef>
        <a:buNone/>
        <a:defRPr sz="78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0" indent="-6096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5690" kern="1200">
          <a:solidFill>
            <a:schemeClr val="tx1"/>
          </a:solidFill>
          <a:latin typeface="+mn-lt"/>
          <a:ea typeface="+mn-ea"/>
          <a:cs typeface="+mn-cs"/>
        </a:defRPr>
      </a:lvl1pPr>
      <a:lvl2pPr marL="1320800" indent="-508000" algn="l" defTabSz="1625600" rtl="0" eaLnBrk="1" latinLnBrk="0" hangingPunct="1">
        <a:spcBef>
          <a:spcPts val="175"/>
        </a:spcBef>
        <a:buFont typeface="Arial" panose="020B0604020202020204" pitchFamily="34" charset="0"/>
        <a:buChar char="–"/>
        <a:defRPr sz="4980" kern="1200">
          <a:solidFill>
            <a:schemeClr val="tx1"/>
          </a:solidFill>
          <a:latin typeface="+mn-lt"/>
          <a:ea typeface="+mn-ea"/>
          <a:cs typeface="+mn-cs"/>
        </a:defRPr>
      </a:lvl2pPr>
      <a:lvl3pPr marL="20320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3pPr>
      <a:lvl4pPr marL="28448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–"/>
        <a:defRPr sz="3555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»"/>
        <a:defRPr sz="3555" kern="1200">
          <a:solidFill>
            <a:schemeClr val="tx1"/>
          </a:solidFill>
          <a:latin typeface="+mn-lt"/>
          <a:ea typeface="+mn-ea"/>
          <a:cs typeface="+mn-cs"/>
        </a:defRPr>
      </a:lvl5pPr>
      <a:lvl6pPr marL="44704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6pPr>
      <a:lvl7pPr marL="52832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7pPr>
      <a:lvl8pPr marL="60960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8pPr>
      <a:lvl9pPr marL="69088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56765" y="330200"/>
            <a:ext cx="12105005" cy="959485"/>
          </a:xfrm>
        </p:spPr>
        <p:txBody>
          <a:bodyPr>
            <a:noAutofit/>
          </a:bodyPr>
          <a:lstStyle/>
          <a:p>
            <a:pPr marL="984250" indent="-984250"/>
            <a:r>
              <a:rPr lang="zh-TW" altLang="en-US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交易策略：</a:t>
            </a:r>
            <a:r>
              <a:rPr lang="en-US" altLang="zh-TW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 EUR ESTR 5Y vs Pay USD SOFR 5Y IRS</a:t>
            </a:r>
            <a:endParaRPr lang="en-US" altLang="zh-TW" sz="35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45105" y="1871848"/>
            <a:ext cx="10767483" cy="4224469"/>
          </a:xfrm>
        </p:spPr>
        <p:txBody>
          <a:bodyPr/>
          <a:lstStyle/>
          <a:p>
            <a:endParaRPr lang="zh-TW" altLang="zh-TW" sz="2665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665" dirty="0"/>
          </a:p>
          <a:p>
            <a:endParaRPr lang="zh-TW" altLang="en-US" sz="2665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056765" y="1276985"/>
            <a:ext cx="12105005" cy="505260"/>
          </a:xfrm>
          <a:prstGeom prst="roundRect">
            <a:avLst/>
          </a:prstGeom>
          <a:solidFill>
            <a:srgbClr val="2E75B6"/>
          </a:solidFill>
        </p:spPr>
        <p:txBody>
          <a:bodyPr wrap="square" tIns="48000" bIns="48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預計法國財政危機將使</a:t>
            </a:r>
            <a:r>
              <a:rPr kumimoji="0" lang="en-US" altLang="zh-TW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ECB</a:t>
            </a:r>
            <a:r>
              <a:rPr kumimoji="0"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減緩升息或將暫停</a:t>
            </a:r>
            <a:r>
              <a:rPr kumimoji="0" lang="en-US" altLang="zh-TW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QT</a:t>
            </a:r>
            <a:endParaRPr kumimoji="0" lang="en-US" altLang="zh-TW" sz="2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2333413" y="1782233"/>
            <a:ext cx="11828780" cy="60570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21894" tIns="60946" rIns="121894" bIns="60946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endParaRPr lang="en-US" altLang="zh-TW" sz="2665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2135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en-US" altLang="zh-TW" sz="2135" dirty="0">
                <a:latin typeface="+mj-ea"/>
                <a:ea typeface="+mj-ea"/>
              </a:rPr>
              <a:t>      </a:t>
            </a:r>
            <a:endParaRPr lang="en-US" altLang="zh-TW" sz="2135" dirty="0">
              <a:latin typeface="+mj-ea"/>
              <a:ea typeface="+mj-ea"/>
            </a:endParaRPr>
          </a:p>
          <a:p>
            <a:pPr lvl="1"/>
            <a:endParaRPr lang="en-US" altLang="zh-TW" sz="2135" dirty="0">
              <a:latin typeface="+mj-ea"/>
              <a:ea typeface="+mj-ea"/>
            </a:endParaRPr>
          </a:p>
          <a:p>
            <a:pPr lvl="1"/>
            <a:endParaRPr lang="en-US" altLang="zh-TW" sz="2135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2135" dirty="0">
              <a:latin typeface="+mj-ea"/>
              <a:ea typeface="+mj-ea"/>
            </a:endParaRPr>
          </a:p>
          <a:p>
            <a:endParaRPr lang="en-US" altLang="zh-TW" sz="2665" dirty="0"/>
          </a:p>
          <a:p>
            <a:endParaRPr lang="zh-TW" altLang="en-US" sz="2665" dirty="0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6765" y="1871980"/>
            <a:ext cx="12142047" cy="72627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752"/>
            <a:ext cx="14630400" cy="1007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b="1" dirty="0">
                <a:solidFill>
                  <a:schemeClr val="accent1"/>
                </a:solidFill>
              </a:rPr>
              <a:t>赤字仍逾 5%，債務比率持續攀升</a:t>
            </a:r>
            <a:endParaRPr lang="zh-TW" dirty="0"/>
          </a:p>
        </p:txBody>
      </p:sp>
      <p:sp>
        <p:nvSpPr>
          <p:cNvPr id="6" name="section-label"/>
          <p:cNvSpPr txBox="1"/>
          <p:nvPr/>
        </p:nvSpPr>
        <p:spPr>
          <a:xfrm>
            <a:off x="1398016" y="243840"/>
            <a:ext cx="9753600" cy="422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zh-TW" sz="1955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12800" y="2032000"/>
          <a:ext cx="7071360" cy="5770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8371840" y="2032000"/>
          <a:ext cx="7071360" cy="5770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sz="1600" b="0"/>
            </a:fld>
            <a:endParaRPr lang="zh-TW" sz="160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90" y="8100060"/>
            <a:ext cx="7138035" cy="7918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" y="12700"/>
            <a:ext cx="16205835" cy="911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752"/>
            <a:ext cx="14630400" cy="1007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b="1" dirty="0">
                <a:solidFill>
                  <a:schemeClr val="accent1"/>
                </a:solidFill>
              </a:rPr>
              <a:t>市場壓力：</a:t>
            </a:r>
            <a:r>
              <a:rPr lang="en-US" altLang="zh-TW" b="1" dirty="0">
                <a:solidFill>
                  <a:schemeClr val="accent1"/>
                </a:solidFill>
              </a:rPr>
              <a:t>10Y</a:t>
            </a:r>
            <a:r>
              <a:rPr lang="zh-TW" b="1" dirty="0">
                <a:solidFill>
                  <a:schemeClr val="accent1"/>
                </a:solidFill>
              </a:rPr>
              <a:t>利率升至近</a:t>
            </a:r>
            <a:r>
              <a:rPr lang="en-US" altLang="zh-TW" b="1" dirty="0">
                <a:solidFill>
                  <a:schemeClr val="accent1"/>
                </a:solidFill>
              </a:rPr>
              <a:t>5%, </a:t>
            </a:r>
            <a:r>
              <a:rPr lang="zh-TW" b="1" dirty="0">
                <a:solidFill>
                  <a:schemeClr val="accent1"/>
                </a:solidFill>
              </a:rPr>
              <a:t>2008 年來高點</a:t>
            </a:r>
            <a:br>
              <a:rPr lang="zh-TW" b="1" dirty="0">
                <a:solidFill>
                  <a:schemeClr val="accent1"/>
                </a:solidFill>
              </a:rPr>
            </a:br>
            <a:r>
              <a:rPr altLang="en-US" sz="4975">
                <a:sym typeface="+mn-ea"/>
              </a:rPr>
              <a:t>法德</a:t>
            </a:r>
            <a:r>
              <a:rPr lang="en-US" altLang="zh-TW" sz="4975">
                <a:sym typeface="+mn-ea"/>
              </a:rPr>
              <a:t>10Y</a:t>
            </a:r>
            <a:r>
              <a:rPr altLang="en-US" sz="4975">
                <a:sym typeface="+mn-ea"/>
              </a:rPr>
              <a:t>公債利差擴大至約</a:t>
            </a:r>
            <a:r>
              <a:rPr lang="en-US" altLang="zh-TW" sz="4975">
                <a:sym typeface="+mn-ea"/>
              </a:rPr>
              <a:t>140bps</a:t>
            </a:r>
            <a:endParaRPr lang="zh-TW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sz="1600" b="0"/>
            </a:fld>
            <a:endParaRPr lang="zh-TW" sz="160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125980"/>
            <a:ext cx="8100060" cy="66548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115" y="2125345"/>
            <a:ext cx="7627620" cy="665543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" y="2103755"/>
            <a:ext cx="8100060" cy="6654800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115" y="2103755"/>
            <a:ext cx="7627620" cy="6655435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6670"/>
            <a:ext cx="16256000" cy="913701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0" y="1285875"/>
            <a:ext cx="7615555" cy="6571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ance Tricolore">
  <a:themeElements>
    <a:clrScheme name="France Tricolore">
      <a:dk1>
        <a:srgbClr val="3A4050"/>
      </a:dk1>
      <a:lt1>
        <a:srgbClr val="FFFFFF"/>
      </a:lt1>
      <a:dk2>
        <a:srgbClr val="34507E"/>
      </a:dk2>
      <a:lt2>
        <a:srgbClr val="EEF1F6"/>
      </a:lt2>
      <a:accent1>
        <a:srgbClr val="34507E"/>
      </a:accent1>
      <a:accent2>
        <a:srgbClr val="B65A5E"/>
      </a:accent2>
      <a:accent3>
        <a:srgbClr val="93A9CB"/>
      </a:accent3>
      <a:accent4>
        <a:srgbClr val="A9AEB8"/>
      </a:accent4>
      <a:accent5>
        <a:srgbClr val="E2BDBD"/>
      </a:accent5>
      <a:accent6>
        <a:srgbClr val="7E5258"/>
      </a:accent6>
      <a:hlink>
        <a:srgbClr val="34507E"/>
      </a:hlink>
      <a:folHlink>
        <a:srgbClr val="93A9CB"/>
      </a:folHlink>
    </a:clrScheme>
    <a:fontScheme name="France Tricolore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WPS Presentation</Application>
  <PresentationFormat>On-screen Show (4:3)</PresentationFormat>
  <Paragraphs>23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新細明體</vt:lpstr>
      <vt:lpstr>Wingdings</vt:lpstr>
      <vt:lpstr>Microsoft YaHei</vt:lpstr>
      <vt:lpstr>SimSun</vt:lpstr>
      <vt:lpstr>Arial Unicode MS</vt:lpstr>
      <vt:lpstr>Calibri</vt:lpstr>
      <vt:lpstr>新細明體</vt:lpstr>
      <vt:lpstr>微軟正黑體</vt:lpstr>
      <vt:lpstr>Office Theme</vt:lpstr>
      <vt:lpstr>France Tricolore</vt:lpstr>
      <vt:lpstr>交易策略：Rec EUR ESTR 5Y vs Pay USD SOFR 5Y IRS</vt:lpstr>
      <vt:lpstr>赤字仍逾 5%，債務比率持續攀升</vt:lpstr>
      <vt:lpstr>PowerPoint 演示文稿</vt:lpstr>
      <vt:lpstr>市場壓力：殖利率升至 2008 年來高點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user</cp:lastModifiedBy>
  <cp:revision>12</cp:revision>
  <dcterms:created xsi:type="dcterms:W3CDTF">2006-08-16T00:00:00Z</dcterms:created>
  <dcterms:modified xsi:type="dcterms:W3CDTF">2026-10-15T20:06:00Z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