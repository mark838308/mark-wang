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09" r:id="rId7"/>
    <p:sldMasterId id="2147483722" r:id="rId8"/>
    <p:sldMasterId id="2147483723" r:id="rId9"/>
    <p:sldMasterId id="2147483724" r:id="rId10"/>
    <p:sldMasterId id="2147483725" r:id="rId11"/>
  </p:sldMasterIdLst>
  <p:notesMasterIdLst>
    <p:notesMasterId r:id="rId14"/>
  </p:notesMasterIdLst>
  <p:handoutMasterIdLst>
    <p:handoutMasterId r:id="rId15"/>
  </p:handoutMasterIdLst>
  <p:sldIdLst>
    <p:sldId id="3949" r:id="rId12"/>
    <p:sldId id="3951" r:id="rId13"/>
  </p:sldIdLst>
  <p:sldSz cx="9144000" cy="6858000" type="screen4x3"/>
  <p:notesSz cx="6797675" cy="99266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42AA3BAE-0B5A-4CF3-9EE5-B8ACC2ADE216}">
          <p14:sldIdLst>
            <p14:sldId id="3949"/>
            <p14:sldId id="3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46">
          <p15:clr>
            <a:srgbClr val="A4A3A4"/>
          </p15:clr>
        </p15:guide>
        <p15:guide id="2" pos="2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5">
          <p15:clr>
            <a:srgbClr val="A4A3A4"/>
          </p15:clr>
        </p15:guide>
        <p15:guide id="2" pos="211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陳柏龍" initials="陳柏龍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11111"/>
    <a:srgbClr val="CC00CC"/>
    <a:srgbClr val="0000FF"/>
    <a:srgbClr val="FF3300"/>
    <a:srgbClr val="00FF00"/>
    <a:srgbClr val="3333FF"/>
    <a:srgbClr val="800000"/>
    <a:srgbClr val="4D4D4D"/>
    <a:srgbClr val="47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52" autoAdjust="0"/>
    <p:restoredTop sz="96000" autoAdjust="0"/>
  </p:normalViewPr>
  <p:slideViewPr>
    <p:cSldViewPr>
      <p:cViewPr varScale="1">
        <p:scale>
          <a:sx n="109" d="100"/>
          <a:sy n="109" d="100"/>
        </p:scale>
        <p:origin x="1080" y="96"/>
      </p:cViewPr>
      <p:guideLst>
        <p:guide orient="horz" pos="2146"/>
        <p:guide pos="2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67" y="-158"/>
      </p:cViewPr>
      <p:guideLst>
        <p:guide orient="horz" pos="3105"/>
        <p:guide pos="211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aclnas\Pictures\Reuters\1080131\SWAP_Gary2018with%20USDSROIS%2020220722.xls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080131\Desktop\&#20919;&#21048;&#34920;.xlsm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r>
              <a:rPr lang="zh-TW" altLang="en-US" sz="1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央行定存單發行餘額</a:t>
            </a:r>
            <a:r>
              <a:rPr lang="en-US" altLang="zh-TW" sz="1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兆元</a:t>
            </a:r>
            <a:r>
              <a:rPr lang="en-US" altLang="zh-TW" sz="1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5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45"/>
              <c:layout>
                <c:manualLayout>
                  <c:x val="-5.2257568089142357E-2"/>
                  <c:y val="-4.070059142267974E-2"/>
                </c:manualLayout>
              </c:layout>
              <c:tx>
                <c:rich>
                  <a:bodyPr/>
                  <a:lstStyle/>
                  <a:p>
                    <a:r>
                      <a:rPr lang="en-US" altLang="zh-TW" sz="1200" dirty="0">
                        <a:solidFill>
                          <a:srgbClr val="FF0000"/>
                        </a:solidFill>
                      </a:rPr>
                      <a:t>7.34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6D6-41ED-A173-97C023CED36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工作表1!$A$5:$A$250</c:f>
              <c:strCache>
                <c:ptCount val="246"/>
                <c:pt idx="0">
                  <c:v>2024/10/22</c:v>
                </c:pt>
                <c:pt idx="1">
                  <c:v>2024/10/23</c:v>
                </c:pt>
                <c:pt idx="2">
                  <c:v>2024/10/24</c:v>
                </c:pt>
                <c:pt idx="3">
                  <c:v>2024/10/25</c:v>
                </c:pt>
                <c:pt idx="4">
                  <c:v>2024/10/28</c:v>
                </c:pt>
                <c:pt idx="5">
                  <c:v>2024/10/29</c:v>
                </c:pt>
                <c:pt idx="6">
                  <c:v>2024/10/30</c:v>
                </c:pt>
                <c:pt idx="7">
                  <c:v>2024/11/01</c:v>
                </c:pt>
                <c:pt idx="8">
                  <c:v>2024/11/04</c:v>
                </c:pt>
                <c:pt idx="9">
                  <c:v>2024/11/05</c:v>
                </c:pt>
                <c:pt idx="10">
                  <c:v>2024/11/06</c:v>
                </c:pt>
                <c:pt idx="11">
                  <c:v>2024/11/07</c:v>
                </c:pt>
                <c:pt idx="12">
                  <c:v>2024/11/08</c:v>
                </c:pt>
                <c:pt idx="13">
                  <c:v>2024/11/11</c:v>
                </c:pt>
                <c:pt idx="14">
                  <c:v>2024/11/12</c:v>
                </c:pt>
                <c:pt idx="15">
                  <c:v>2024/11/13</c:v>
                </c:pt>
                <c:pt idx="16">
                  <c:v>2024/11/14</c:v>
                </c:pt>
                <c:pt idx="17">
                  <c:v>2024/11/15</c:v>
                </c:pt>
                <c:pt idx="18">
                  <c:v>2024/11/18</c:v>
                </c:pt>
                <c:pt idx="19">
                  <c:v>2024/11/19</c:v>
                </c:pt>
                <c:pt idx="20">
                  <c:v>2024/11/20</c:v>
                </c:pt>
                <c:pt idx="21">
                  <c:v>2024/11/21</c:v>
                </c:pt>
                <c:pt idx="22">
                  <c:v>2024/11/22</c:v>
                </c:pt>
                <c:pt idx="23">
                  <c:v>2024/11/25</c:v>
                </c:pt>
                <c:pt idx="24">
                  <c:v>2024/11/26</c:v>
                </c:pt>
                <c:pt idx="25">
                  <c:v>2024/11/27</c:v>
                </c:pt>
                <c:pt idx="26">
                  <c:v>2024/11/28</c:v>
                </c:pt>
                <c:pt idx="27">
                  <c:v>2024/11/29</c:v>
                </c:pt>
                <c:pt idx="28">
                  <c:v>2024/12/02</c:v>
                </c:pt>
                <c:pt idx="29">
                  <c:v>2024/12/03</c:v>
                </c:pt>
                <c:pt idx="30">
                  <c:v>2024/12/04</c:v>
                </c:pt>
                <c:pt idx="31">
                  <c:v>2024/12/05</c:v>
                </c:pt>
                <c:pt idx="32">
                  <c:v>2024/12/06</c:v>
                </c:pt>
                <c:pt idx="33">
                  <c:v>2024/12/09</c:v>
                </c:pt>
                <c:pt idx="34">
                  <c:v>2024/12/10</c:v>
                </c:pt>
                <c:pt idx="35">
                  <c:v>2024/12/11</c:v>
                </c:pt>
                <c:pt idx="36">
                  <c:v>2024/12/12</c:v>
                </c:pt>
                <c:pt idx="37">
                  <c:v>2024/12/13</c:v>
                </c:pt>
                <c:pt idx="38">
                  <c:v>2024/12/16</c:v>
                </c:pt>
                <c:pt idx="39">
                  <c:v>2024/12/17</c:v>
                </c:pt>
                <c:pt idx="40">
                  <c:v>2024/12/18</c:v>
                </c:pt>
                <c:pt idx="41">
                  <c:v>2024/12/19</c:v>
                </c:pt>
                <c:pt idx="42">
                  <c:v>2024/12/20</c:v>
                </c:pt>
                <c:pt idx="43">
                  <c:v>2024/12/23</c:v>
                </c:pt>
                <c:pt idx="44">
                  <c:v>2024/12/24</c:v>
                </c:pt>
                <c:pt idx="45">
                  <c:v>2024/12/25</c:v>
                </c:pt>
                <c:pt idx="46">
                  <c:v>2024/12/26</c:v>
                </c:pt>
                <c:pt idx="47">
                  <c:v>2024/12/27</c:v>
                </c:pt>
                <c:pt idx="48">
                  <c:v>2024/12/30</c:v>
                </c:pt>
                <c:pt idx="49">
                  <c:v>2024/12/31</c:v>
                </c:pt>
                <c:pt idx="50">
                  <c:v>2025/01/02</c:v>
                </c:pt>
                <c:pt idx="51">
                  <c:v>2025/01/03</c:v>
                </c:pt>
                <c:pt idx="52">
                  <c:v>2025/01/06</c:v>
                </c:pt>
                <c:pt idx="53">
                  <c:v>2025/01/07</c:v>
                </c:pt>
                <c:pt idx="54">
                  <c:v>2025/01/08</c:v>
                </c:pt>
                <c:pt idx="55">
                  <c:v>2025/01/09</c:v>
                </c:pt>
                <c:pt idx="56">
                  <c:v>2025/01/10</c:v>
                </c:pt>
                <c:pt idx="57">
                  <c:v>2025/01/13</c:v>
                </c:pt>
                <c:pt idx="58">
                  <c:v>2025/01/14</c:v>
                </c:pt>
                <c:pt idx="59">
                  <c:v>2025/01/15</c:v>
                </c:pt>
                <c:pt idx="60">
                  <c:v>2025/01/16</c:v>
                </c:pt>
                <c:pt idx="61">
                  <c:v>2025/01/17</c:v>
                </c:pt>
                <c:pt idx="62">
                  <c:v>2025/01/20</c:v>
                </c:pt>
                <c:pt idx="63">
                  <c:v>2025/01/21</c:v>
                </c:pt>
                <c:pt idx="64">
                  <c:v>2025/01/22</c:v>
                </c:pt>
                <c:pt idx="65">
                  <c:v>2025/01/23</c:v>
                </c:pt>
                <c:pt idx="66">
                  <c:v>2025/01/24</c:v>
                </c:pt>
                <c:pt idx="67">
                  <c:v>2025/02/03</c:v>
                </c:pt>
                <c:pt idx="68">
                  <c:v>2025/02/04</c:v>
                </c:pt>
                <c:pt idx="69">
                  <c:v>2025/02/05</c:v>
                </c:pt>
                <c:pt idx="70">
                  <c:v>2025/02/06</c:v>
                </c:pt>
                <c:pt idx="71">
                  <c:v>2025/02/07</c:v>
                </c:pt>
                <c:pt idx="72">
                  <c:v>2025/02/08</c:v>
                </c:pt>
                <c:pt idx="73">
                  <c:v>2025/02/10</c:v>
                </c:pt>
                <c:pt idx="74">
                  <c:v>2025/02/11</c:v>
                </c:pt>
                <c:pt idx="75">
                  <c:v>2025/02/12</c:v>
                </c:pt>
                <c:pt idx="76">
                  <c:v>2025/02/13</c:v>
                </c:pt>
                <c:pt idx="77">
                  <c:v>2025/02/14</c:v>
                </c:pt>
                <c:pt idx="78">
                  <c:v>2025/02/17</c:v>
                </c:pt>
                <c:pt idx="79">
                  <c:v>2025/02/18</c:v>
                </c:pt>
                <c:pt idx="80">
                  <c:v>2025/02/19</c:v>
                </c:pt>
                <c:pt idx="81">
                  <c:v>2025/02/20</c:v>
                </c:pt>
                <c:pt idx="82">
                  <c:v>2025/02/21</c:v>
                </c:pt>
                <c:pt idx="83">
                  <c:v>2025/02/24</c:v>
                </c:pt>
                <c:pt idx="84">
                  <c:v>2025/02/25</c:v>
                </c:pt>
                <c:pt idx="85">
                  <c:v>2025/02/26</c:v>
                </c:pt>
                <c:pt idx="86">
                  <c:v>2025/02/27</c:v>
                </c:pt>
                <c:pt idx="87">
                  <c:v>2025/03/03</c:v>
                </c:pt>
                <c:pt idx="88">
                  <c:v>2025/03/04</c:v>
                </c:pt>
                <c:pt idx="89">
                  <c:v>2025/03/05</c:v>
                </c:pt>
                <c:pt idx="90">
                  <c:v>2025/03/06</c:v>
                </c:pt>
                <c:pt idx="91">
                  <c:v>2025/03/07</c:v>
                </c:pt>
                <c:pt idx="92">
                  <c:v>2025/03/10</c:v>
                </c:pt>
                <c:pt idx="93">
                  <c:v>2025/03/11</c:v>
                </c:pt>
                <c:pt idx="94">
                  <c:v>2025/03/12</c:v>
                </c:pt>
                <c:pt idx="95">
                  <c:v>2025/03/13</c:v>
                </c:pt>
                <c:pt idx="96">
                  <c:v>2025/03/14</c:v>
                </c:pt>
                <c:pt idx="97">
                  <c:v>2025/03/17</c:v>
                </c:pt>
                <c:pt idx="98">
                  <c:v>2025/03/18</c:v>
                </c:pt>
                <c:pt idx="99">
                  <c:v>2025/03/19</c:v>
                </c:pt>
                <c:pt idx="100">
                  <c:v>2025/03/20</c:v>
                </c:pt>
                <c:pt idx="101">
                  <c:v>2025/03/21</c:v>
                </c:pt>
                <c:pt idx="102">
                  <c:v>2025/03/24</c:v>
                </c:pt>
                <c:pt idx="103">
                  <c:v>2025/03/25</c:v>
                </c:pt>
                <c:pt idx="104">
                  <c:v>2025/03/26</c:v>
                </c:pt>
                <c:pt idx="105">
                  <c:v>2025/03/27</c:v>
                </c:pt>
                <c:pt idx="106">
                  <c:v>2025/03/28</c:v>
                </c:pt>
                <c:pt idx="107">
                  <c:v>2025/03/31</c:v>
                </c:pt>
                <c:pt idx="108">
                  <c:v>2025/04/01</c:v>
                </c:pt>
                <c:pt idx="109">
                  <c:v>2025/04/02</c:v>
                </c:pt>
                <c:pt idx="110">
                  <c:v>2025/04/07</c:v>
                </c:pt>
                <c:pt idx="111">
                  <c:v>2025/04/08</c:v>
                </c:pt>
                <c:pt idx="112">
                  <c:v>2025/04/09</c:v>
                </c:pt>
                <c:pt idx="113">
                  <c:v>2025/04/10</c:v>
                </c:pt>
                <c:pt idx="114">
                  <c:v>2025/04/11</c:v>
                </c:pt>
                <c:pt idx="115">
                  <c:v>2025/04/14</c:v>
                </c:pt>
                <c:pt idx="116">
                  <c:v>2025/04/15</c:v>
                </c:pt>
                <c:pt idx="117">
                  <c:v>2025/04/16</c:v>
                </c:pt>
                <c:pt idx="118">
                  <c:v>2025/04/17</c:v>
                </c:pt>
                <c:pt idx="119">
                  <c:v>2025/04/18</c:v>
                </c:pt>
                <c:pt idx="120">
                  <c:v>2025/04/21</c:v>
                </c:pt>
                <c:pt idx="121">
                  <c:v>2025/04/22</c:v>
                </c:pt>
                <c:pt idx="122">
                  <c:v>2025/04/23</c:v>
                </c:pt>
                <c:pt idx="123">
                  <c:v>2025/04/24</c:v>
                </c:pt>
                <c:pt idx="124">
                  <c:v>2025/04/25</c:v>
                </c:pt>
                <c:pt idx="125">
                  <c:v>2025/04/28</c:v>
                </c:pt>
                <c:pt idx="126">
                  <c:v>2025/04/29</c:v>
                </c:pt>
                <c:pt idx="127">
                  <c:v>2025/04/30</c:v>
                </c:pt>
                <c:pt idx="128">
                  <c:v>2025/05/02</c:v>
                </c:pt>
                <c:pt idx="129">
                  <c:v>2025/05/05</c:v>
                </c:pt>
                <c:pt idx="130">
                  <c:v>2025/05/06</c:v>
                </c:pt>
                <c:pt idx="131">
                  <c:v>2025/05/07</c:v>
                </c:pt>
                <c:pt idx="132">
                  <c:v>2025/05/08</c:v>
                </c:pt>
                <c:pt idx="133">
                  <c:v>2025/05/09</c:v>
                </c:pt>
                <c:pt idx="134">
                  <c:v>2025/05/12</c:v>
                </c:pt>
                <c:pt idx="135">
                  <c:v>2025/05/13</c:v>
                </c:pt>
                <c:pt idx="136">
                  <c:v>2025/05/14</c:v>
                </c:pt>
                <c:pt idx="137">
                  <c:v>2025/05/15</c:v>
                </c:pt>
                <c:pt idx="138">
                  <c:v>2025/05/16</c:v>
                </c:pt>
                <c:pt idx="139">
                  <c:v>2025/05/19</c:v>
                </c:pt>
                <c:pt idx="140">
                  <c:v>2025/05/20</c:v>
                </c:pt>
                <c:pt idx="141">
                  <c:v>2025/05/21</c:v>
                </c:pt>
                <c:pt idx="142">
                  <c:v>2025/05/22</c:v>
                </c:pt>
                <c:pt idx="143">
                  <c:v>2025/05/23</c:v>
                </c:pt>
                <c:pt idx="144">
                  <c:v>2025/05/26</c:v>
                </c:pt>
                <c:pt idx="145">
                  <c:v>2025/05/27</c:v>
                </c:pt>
                <c:pt idx="146">
                  <c:v>2025/05/28</c:v>
                </c:pt>
                <c:pt idx="147">
                  <c:v>2025/05/29</c:v>
                </c:pt>
                <c:pt idx="148">
                  <c:v>2025/06/02</c:v>
                </c:pt>
                <c:pt idx="149">
                  <c:v>2025/06/03</c:v>
                </c:pt>
                <c:pt idx="150">
                  <c:v>2025/06/04</c:v>
                </c:pt>
                <c:pt idx="151">
                  <c:v>2025/06/05</c:v>
                </c:pt>
                <c:pt idx="152">
                  <c:v>2025/06/06</c:v>
                </c:pt>
                <c:pt idx="153">
                  <c:v>2025/06/09</c:v>
                </c:pt>
                <c:pt idx="154">
                  <c:v>2025/06/10</c:v>
                </c:pt>
                <c:pt idx="155">
                  <c:v>2025/06/11</c:v>
                </c:pt>
                <c:pt idx="156">
                  <c:v>2025/06/12</c:v>
                </c:pt>
                <c:pt idx="157">
                  <c:v>2025/06/13</c:v>
                </c:pt>
                <c:pt idx="158">
                  <c:v>2025/06/16</c:v>
                </c:pt>
                <c:pt idx="159">
                  <c:v>2025/06/17</c:v>
                </c:pt>
                <c:pt idx="160">
                  <c:v>2025/06/18</c:v>
                </c:pt>
                <c:pt idx="161">
                  <c:v>2025/06/19</c:v>
                </c:pt>
                <c:pt idx="162">
                  <c:v>2025/06/20</c:v>
                </c:pt>
                <c:pt idx="163">
                  <c:v>2025/06/23</c:v>
                </c:pt>
                <c:pt idx="164">
                  <c:v>2025/06/24</c:v>
                </c:pt>
                <c:pt idx="165">
                  <c:v>2025/06/25</c:v>
                </c:pt>
                <c:pt idx="166">
                  <c:v>2025/06/26</c:v>
                </c:pt>
                <c:pt idx="167">
                  <c:v>2025/06/27</c:v>
                </c:pt>
                <c:pt idx="168">
                  <c:v>2025/06/30</c:v>
                </c:pt>
                <c:pt idx="169">
                  <c:v>2025/07/01</c:v>
                </c:pt>
                <c:pt idx="170">
                  <c:v>2025/07/02</c:v>
                </c:pt>
                <c:pt idx="171">
                  <c:v>2025/07/03</c:v>
                </c:pt>
                <c:pt idx="172">
                  <c:v>2025/07/04</c:v>
                </c:pt>
                <c:pt idx="173">
                  <c:v>2025/07/07</c:v>
                </c:pt>
                <c:pt idx="174">
                  <c:v>2025/07/08</c:v>
                </c:pt>
                <c:pt idx="175">
                  <c:v>2025/07/09</c:v>
                </c:pt>
                <c:pt idx="176">
                  <c:v>2025/07/10</c:v>
                </c:pt>
                <c:pt idx="177">
                  <c:v>2025/07/11</c:v>
                </c:pt>
                <c:pt idx="178">
                  <c:v>2025/07/14</c:v>
                </c:pt>
                <c:pt idx="179">
                  <c:v>2025/07/15</c:v>
                </c:pt>
                <c:pt idx="180">
                  <c:v>2025/07/16</c:v>
                </c:pt>
                <c:pt idx="181">
                  <c:v>2025/07/17</c:v>
                </c:pt>
                <c:pt idx="182">
                  <c:v>2025/07/18</c:v>
                </c:pt>
                <c:pt idx="183">
                  <c:v>2025/07/21</c:v>
                </c:pt>
                <c:pt idx="184">
                  <c:v>2025/07/22</c:v>
                </c:pt>
                <c:pt idx="185">
                  <c:v>2025/07/23</c:v>
                </c:pt>
                <c:pt idx="186">
                  <c:v>2025/07/24</c:v>
                </c:pt>
                <c:pt idx="187">
                  <c:v>2025/07/25</c:v>
                </c:pt>
                <c:pt idx="188">
                  <c:v>2025/07/28</c:v>
                </c:pt>
                <c:pt idx="189">
                  <c:v>2025/07/29</c:v>
                </c:pt>
                <c:pt idx="190">
                  <c:v>2025/07/30</c:v>
                </c:pt>
                <c:pt idx="191">
                  <c:v>2025/07/31</c:v>
                </c:pt>
                <c:pt idx="192">
                  <c:v>2025/08/01</c:v>
                </c:pt>
                <c:pt idx="193">
                  <c:v>2025/08/04</c:v>
                </c:pt>
                <c:pt idx="194">
                  <c:v>2025/08/05</c:v>
                </c:pt>
                <c:pt idx="195">
                  <c:v>2025/08/06</c:v>
                </c:pt>
                <c:pt idx="196">
                  <c:v>2025/08/07</c:v>
                </c:pt>
                <c:pt idx="197">
                  <c:v>2025/08/08</c:v>
                </c:pt>
                <c:pt idx="198">
                  <c:v>2025/08/11</c:v>
                </c:pt>
                <c:pt idx="199">
                  <c:v>2025/08/12</c:v>
                </c:pt>
                <c:pt idx="200">
                  <c:v>2025/08/13</c:v>
                </c:pt>
                <c:pt idx="201">
                  <c:v>2025/08/14</c:v>
                </c:pt>
                <c:pt idx="202">
                  <c:v>2025/08/15</c:v>
                </c:pt>
                <c:pt idx="203">
                  <c:v>2025/08/18</c:v>
                </c:pt>
                <c:pt idx="204">
                  <c:v>2025/08/19</c:v>
                </c:pt>
                <c:pt idx="205">
                  <c:v>2025/08/20</c:v>
                </c:pt>
                <c:pt idx="206">
                  <c:v>2025/08/21</c:v>
                </c:pt>
                <c:pt idx="207">
                  <c:v>2025/08/22</c:v>
                </c:pt>
                <c:pt idx="208">
                  <c:v>2025/08/25</c:v>
                </c:pt>
                <c:pt idx="209">
                  <c:v>2025/08/26</c:v>
                </c:pt>
                <c:pt idx="210">
                  <c:v>2025/08/27</c:v>
                </c:pt>
                <c:pt idx="211">
                  <c:v>2025/08/28</c:v>
                </c:pt>
                <c:pt idx="212">
                  <c:v>2025/08/29</c:v>
                </c:pt>
                <c:pt idx="213">
                  <c:v>2025/09/01</c:v>
                </c:pt>
                <c:pt idx="214">
                  <c:v>2025/09/02</c:v>
                </c:pt>
                <c:pt idx="215">
                  <c:v>2025/09/03</c:v>
                </c:pt>
                <c:pt idx="216">
                  <c:v>2025/09/04</c:v>
                </c:pt>
                <c:pt idx="217">
                  <c:v>2025/09/05</c:v>
                </c:pt>
                <c:pt idx="218">
                  <c:v>2025/09/08</c:v>
                </c:pt>
                <c:pt idx="219">
                  <c:v>2025/09/09</c:v>
                </c:pt>
                <c:pt idx="220">
                  <c:v>2025/09/10</c:v>
                </c:pt>
                <c:pt idx="221">
                  <c:v>2025/09/11</c:v>
                </c:pt>
                <c:pt idx="222">
                  <c:v>2025/09/12</c:v>
                </c:pt>
                <c:pt idx="223">
                  <c:v>2025/09/15</c:v>
                </c:pt>
                <c:pt idx="224">
                  <c:v>2025/09/16</c:v>
                </c:pt>
                <c:pt idx="225">
                  <c:v>2025/09/17</c:v>
                </c:pt>
                <c:pt idx="226">
                  <c:v>2025/09/19</c:v>
                </c:pt>
                <c:pt idx="227">
                  <c:v>2025/09/22</c:v>
                </c:pt>
                <c:pt idx="228">
                  <c:v>2025/09/23</c:v>
                </c:pt>
                <c:pt idx="229">
                  <c:v>2025/09/24</c:v>
                </c:pt>
                <c:pt idx="230">
                  <c:v>2025/09/25</c:v>
                </c:pt>
                <c:pt idx="231">
                  <c:v>2025/09/26</c:v>
                </c:pt>
                <c:pt idx="232">
                  <c:v>2025/09/30</c:v>
                </c:pt>
                <c:pt idx="233">
                  <c:v>2025/10/01</c:v>
                </c:pt>
                <c:pt idx="234">
                  <c:v>2025/10/02</c:v>
                </c:pt>
                <c:pt idx="235">
                  <c:v>2025/10/03</c:v>
                </c:pt>
                <c:pt idx="236">
                  <c:v>2025/10/07</c:v>
                </c:pt>
                <c:pt idx="237">
                  <c:v>2025/10/08</c:v>
                </c:pt>
                <c:pt idx="238">
                  <c:v>2025/10/09</c:v>
                </c:pt>
                <c:pt idx="239">
                  <c:v>2025/10/13</c:v>
                </c:pt>
                <c:pt idx="240">
                  <c:v>2025/10/14</c:v>
                </c:pt>
                <c:pt idx="241">
                  <c:v>2025/10/15</c:v>
                </c:pt>
                <c:pt idx="242">
                  <c:v>2025/10/17</c:v>
                </c:pt>
                <c:pt idx="243">
                  <c:v>2025/10/20</c:v>
                </c:pt>
                <c:pt idx="244">
                  <c:v>2025/10/21</c:v>
                </c:pt>
                <c:pt idx="245">
                  <c:v>2025/10/22</c:v>
                </c:pt>
              </c:strCache>
            </c:strRef>
          </c:cat>
          <c:val>
            <c:numRef>
              <c:f>工作表1!$B$5:$B$250</c:f>
              <c:numCache>
                <c:formatCode>_(* #,##0.00_);_(* \(#,##0.00\);_(* "-"??_);_(@_)</c:formatCode>
                <c:ptCount val="246"/>
                <c:pt idx="0">
                  <c:v>7.1837</c:v>
                </c:pt>
                <c:pt idx="1">
                  <c:v>7.1767500000000002</c:v>
                </c:pt>
                <c:pt idx="2">
                  <c:v>7.1993</c:v>
                </c:pt>
                <c:pt idx="3">
                  <c:v>7.1887449999999999</c:v>
                </c:pt>
                <c:pt idx="4">
                  <c:v>7.1826249999999998</c:v>
                </c:pt>
                <c:pt idx="5">
                  <c:v>7.1625649999999998</c:v>
                </c:pt>
                <c:pt idx="6">
                  <c:v>7.2297149999999997</c:v>
                </c:pt>
                <c:pt idx="7">
                  <c:v>7.2400500000000001</c:v>
                </c:pt>
                <c:pt idx="8">
                  <c:v>7.2456500000000004</c:v>
                </c:pt>
                <c:pt idx="9">
                  <c:v>7.2311500000000004</c:v>
                </c:pt>
                <c:pt idx="10">
                  <c:v>7.21835</c:v>
                </c:pt>
                <c:pt idx="11">
                  <c:v>7.3441000000000001</c:v>
                </c:pt>
                <c:pt idx="12">
                  <c:v>7.2091200000000004</c:v>
                </c:pt>
                <c:pt idx="13">
                  <c:v>7.2033449999999997</c:v>
                </c:pt>
                <c:pt idx="14">
                  <c:v>7.2314449999999999</c:v>
                </c:pt>
                <c:pt idx="15">
                  <c:v>7.2098950000000004</c:v>
                </c:pt>
                <c:pt idx="16">
                  <c:v>7.2281950000000004</c:v>
                </c:pt>
                <c:pt idx="17">
                  <c:v>7.2032150000000001</c:v>
                </c:pt>
                <c:pt idx="18">
                  <c:v>7.2032150000000001</c:v>
                </c:pt>
                <c:pt idx="19">
                  <c:v>7.1864650000000001</c:v>
                </c:pt>
                <c:pt idx="20">
                  <c:v>7.1722650000000003</c:v>
                </c:pt>
                <c:pt idx="21">
                  <c:v>7.135065</c:v>
                </c:pt>
                <c:pt idx="22">
                  <c:v>7.1583800000000002</c:v>
                </c:pt>
                <c:pt idx="23">
                  <c:v>7.1589900000000002</c:v>
                </c:pt>
                <c:pt idx="24">
                  <c:v>7.1372049999999998</c:v>
                </c:pt>
                <c:pt idx="25">
                  <c:v>7.1677549999999997</c:v>
                </c:pt>
                <c:pt idx="26">
                  <c:v>7.2710549999999996</c:v>
                </c:pt>
                <c:pt idx="27">
                  <c:v>7.2006249999999996</c:v>
                </c:pt>
                <c:pt idx="28">
                  <c:v>7.1066950000000002</c:v>
                </c:pt>
                <c:pt idx="29">
                  <c:v>7.1581450000000002</c:v>
                </c:pt>
                <c:pt idx="30">
                  <c:v>7.2829449999999998</c:v>
                </c:pt>
                <c:pt idx="31">
                  <c:v>7.2770950000000001</c:v>
                </c:pt>
                <c:pt idx="32">
                  <c:v>7.2242350000000002</c:v>
                </c:pt>
                <c:pt idx="33">
                  <c:v>7.1890099999999997</c:v>
                </c:pt>
                <c:pt idx="34">
                  <c:v>7.22506</c:v>
                </c:pt>
                <c:pt idx="35">
                  <c:v>7.2318100000000003</c:v>
                </c:pt>
                <c:pt idx="36">
                  <c:v>7.2290299999999998</c:v>
                </c:pt>
                <c:pt idx="37">
                  <c:v>7.2309599999999996</c:v>
                </c:pt>
                <c:pt idx="38">
                  <c:v>7.2778600000000004</c:v>
                </c:pt>
                <c:pt idx="39">
                  <c:v>7.3014599999999996</c:v>
                </c:pt>
                <c:pt idx="40">
                  <c:v>7.3083600000000004</c:v>
                </c:pt>
                <c:pt idx="41">
                  <c:v>7.3335600000000003</c:v>
                </c:pt>
                <c:pt idx="42">
                  <c:v>7.3011699999999999</c:v>
                </c:pt>
                <c:pt idx="43">
                  <c:v>7.2829499999999996</c:v>
                </c:pt>
                <c:pt idx="44">
                  <c:v>7.2455800000000004</c:v>
                </c:pt>
                <c:pt idx="45">
                  <c:v>7.2644799999999998</c:v>
                </c:pt>
                <c:pt idx="46">
                  <c:v>7.2547800000000002</c:v>
                </c:pt>
                <c:pt idx="47">
                  <c:v>7.2385700000000002</c:v>
                </c:pt>
                <c:pt idx="48">
                  <c:v>7.1875799999999996</c:v>
                </c:pt>
                <c:pt idx="49">
                  <c:v>7.2079950000000004</c:v>
                </c:pt>
                <c:pt idx="50">
                  <c:v>7.0397850000000002</c:v>
                </c:pt>
                <c:pt idx="51">
                  <c:v>7.0647450000000003</c:v>
                </c:pt>
                <c:pt idx="52">
                  <c:v>7.1756799999999998</c:v>
                </c:pt>
                <c:pt idx="53">
                  <c:v>7.1104500000000002</c:v>
                </c:pt>
                <c:pt idx="54">
                  <c:v>7.1801000000000004</c:v>
                </c:pt>
                <c:pt idx="55">
                  <c:v>7.0975400000000004</c:v>
                </c:pt>
                <c:pt idx="56">
                  <c:v>7.1617600000000001</c:v>
                </c:pt>
                <c:pt idx="57">
                  <c:v>7.1599599999999999</c:v>
                </c:pt>
                <c:pt idx="58">
                  <c:v>7.2246100000000002</c:v>
                </c:pt>
                <c:pt idx="59">
                  <c:v>7.2691600000000003</c:v>
                </c:pt>
                <c:pt idx="60">
                  <c:v>7.2767200000000001</c:v>
                </c:pt>
                <c:pt idx="61">
                  <c:v>7.2177100000000003</c:v>
                </c:pt>
                <c:pt idx="62">
                  <c:v>7.19008</c:v>
                </c:pt>
                <c:pt idx="63">
                  <c:v>7.0789999999999997</c:v>
                </c:pt>
                <c:pt idx="64">
                  <c:v>7.0017500000000004</c:v>
                </c:pt>
                <c:pt idx="65">
                  <c:v>6.9624499999999996</c:v>
                </c:pt>
                <c:pt idx="66">
                  <c:v>6.9867299999999997</c:v>
                </c:pt>
                <c:pt idx="67">
                  <c:v>6.86632</c:v>
                </c:pt>
                <c:pt idx="68">
                  <c:v>6.9384899999999998</c:v>
                </c:pt>
                <c:pt idx="69">
                  <c:v>7.0464900000000004</c:v>
                </c:pt>
                <c:pt idx="70">
                  <c:v>7.08399</c:v>
                </c:pt>
                <c:pt idx="71">
                  <c:v>7.1162400000000003</c:v>
                </c:pt>
                <c:pt idx="72">
                  <c:v>7.1592399999999996</c:v>
                </c:pt>
                <c:pt idx="73">
                  <c:v>7.1056900000000001</c:v>
                </c:pt>
                <c:pt idx="74">
                  <c:v>7.12324</c:v>
                </c:pt>
                <c:pt idx="75">
                  <c:v>7.1618399999999998</c:v>
                </c:pt>
                <c:pt idx="76">
                  <c:v>7.2012900000000002</c:v>
                </c:pt>
                <c:pt idx="77">
                  <c:v>7.2398600000000002</c:v>
                </c:pt>
                <c:pt idx="78">
                  <c:v>7.2378099999999996</c:v>
                </c:pt>
                <c:pt idx="79">
                  <c:v>7.2466900000000001</c:v>
                </c:pt>
                <c:pt idx="80">
                  <c:v>7.2341899999999999</c:v>
                </c:pt>
                <c:pt idx="81">
                  <c:v>7.2785399999999996</c:v>
                </c:pt>
                <c:pt idx="82">
                  <c:v>7.1523700000000003</c:v>
                </c:pt>
                <c:pt idx="83">
                  <c:v>7.2071699999999996</c:v>
                </c:pt>
                <c:pt idx="84">
                  <c:v>7.2168700000000001</c:v>
                </c:pt>
                <c:pt idx="85">
                  <c:v>7.2723699999999996</c:v>
                </c:pt>
                <c:pt idx="86">
                  <c:v>7.31372</c:v>
                </c:pt>
                <c:pt idx="87">
                  <c:v>7.1698199999999996</c:v>
                </c:pt>
                <c:pt idx="88">
                  <c:v>7.2944649999999998</c:v>
                </c:pt>
                <c:pt idx="89">
                  <c:v>7.2682149999999996</c:v>
                </c:pt>
                <c:pt idx="90">
                  <c:v>7.2267150000000004</c:v>
                </c:pt>
                <c:pt idx="91">
                  <c:v>7.2015149999999997</c:v>
                </c:pt>
                <c:pt idx="92">
                  <c:v>7.1726349999999996</c:v>
                </c:pt>
                <c:pt idx="93">
                  <c:v>7.1804350000000001</c:v>
                </c:pt>
                <c:pt idx="94">
                  <c:v>7.1894850000000003</c:v>
                </c:pt>
                <c:pt idx="95">
                  <c:v>7.1860350000000004</c:v>
                </c:pt>
                <c:pt idx="96">
                  <c:v>7.1634349999999998</c:v>
                </c:pt>
                <c:pt idx="97">
                  <c:v>7.1176849999999998</c:v>
                </c:pt>
                <c:pt idx="98">
                  <c:v>7.1225350000000001</c:v>
                </c:pt>
                <c:pt idx="99">
                  <c:v>7.123685</c:v>
                </c:pt>
                <c:pt idx="100">
                  <c:v>7.1094350000000004</c:v>
                </c:pt>
                <c:pt idx="101">
                  <c:v>7.1001899999999996</c:v>
                </c:pt>
                <c:pt idx="102">
                  <c:v>7.05199</c:v>
                </c:pt>
                <c:pt idx="103">
                  <c:v>7.0682400000000003</c:v>
                </c:pt>
                <c:pt idx="104">
                  <c:v>7.1494400000000002</c:v>
                </c:pt>
                <c:pt idx="105">
                  <c:v>7.1524400000000004</c:v>
                </c:pt>
                <c:pt idx="106">
                  <c:v>7.1516400000000004</c:v>
                </c:pt>
                <c:pt idx="107">
                  <c:v>7.1719650000000001</c:v>
                </c:pt>
                <c:pt idx="108">
                  <c:v>7.2142650000000001</c:v>
                </c:pt>
                <c:pt idx="109">
                  <c:v>7.2568149999999996</c:v>
                </c:pt>
                <c:pt idx="110">
                  <c:v>7.1744649999999996</c:v>
                </c:pt>
                <c:pt idx="111">
                  <c:v>7.1389149999999999</c:v>
                </c:pt>
                <c:pt idx="112">
                  <c:v>7.122115</c:v>
                </c:pt>
                <c:pt idx="113">
                  <c:v>7.159815</c:v>
                </c:pt>
                <c:pt idx="114">
                  <c:v>7.1813849999999997</c:v>
                </c:pt>
                <c:pt idx="115">
                  <c:v>7.1847849999999998</c:v>
                </c:pt>
                <c:pt idx="116">
                  <c:v>7.2110849999999997</c:v>
                </c:pt>
                <c:pt idx="117">
                  <c:v>7.2616849999999999</c:v>
                </c:pt>
                <c:pt idx="118">
                  <c:v>7.3270850000000003</c:v>
                </c:pt>
                <c:pt idx="119">
                  <c:v>7.3677250000000001</c:v>
                </c:pt>
                <c:pt idx="120">
                  <c:v>7.385275</c:v>
                </c:pt>
                <c:pt idx="121">
                  <c:v>7.4388100000000001</c:v>
                </c:pt>
                <c:pt idx="122">
                  <c:v>7.4524100000000004</c:v>
                </c:pt>
                <c:pt idx="123">
                  <c:v>7.4183300000000001</c:v>
                </c:pt>
                <c:pt idx="124">
                  <c:v>7.3929299999999998</c:v>
                </c:pt>
                <c:pt idx="125">
                  <c:v>7.4178499999999996</c:v>
                </c:pt>
                <c:pt idx="126">
                  <c:v>7.4612999999999996</c:v>
                </c:pt>
                <c:pt idx="127">
                  <c:v>7.4794</c:v>
                </c:pt>
                <c:pt idx="128">
                  <c:v>7.5869999999999997</c:v>
                </c:pt>
                <c:pt idx="129">
                  <c:v>7.6042300000000003</c:v>
                </c:pt>
                <c:pt idx="130">
                  <c:v>7.5886300000000002</c:v>
                </c:pt>
                <c:pt idx="131">
                  <c:v>7.5842799999999997</c:v>
                </c:pt>
                <c:pt idx="132">
                  <c:v>7.6186800000000003</c:v>
                </c:pt>
                <c:pt idx="133">
                  <c:v>7.6039700000000003</c:v>
                </c:pt>
                <c:pt idx="134">
                  <c:v>7.6165200000000004</c:v>
                </c:pt>
                <c:pt idx="135">
                  <c:v>7.6353200000000001</c:v>
                </c:pt>
                <c:pt idx="136">
                  <c:v>7.6294700000000004</c:v>
                </c:pt>
                <c:pt idx="137">
                  <c:v>7.6828700000000003</c:v>
                </c:pt>
                <c:pt idx="138">
                  <c:v>7.7060199999999996</c:v>
                </c:pt>
                <c:pt idx="139">
                  <c:v>7.7041700000000004</c:v>
                </c:pt>
                <c:pt idx="140">
                  <c:v>7.7151199999999998</c:v>
                </c:pt>
                <c:pt idx="141">
                  <c:v>7.7313599999999996</c:v>
                </c:pt>
                <c:pt idx="142">
                  <c:v>7.74437</c:v>
                </c:pt>
                <c:pt idx="143">
                  <c:v>7.7140700000000004</c:v>
                </c:pt>
                <c:pt idx="144">
                  <c:v>7.6829999999999998</c:v>
                </c:pt>
                <c:pt idx="145">
                  <c:v>7.6806000000000001</c:v>
                </c:pt>
                <c:pt idx="146">
                  <c:v>7.6912900000000004</c:v>
                </c:pt>
                <c:pt idx="147">
                  <c:v>7.8022900000000002</c:v>
                </c:pt>
                <c:pt idx="148">
                  <c:v>7.8070899999999996</c:v>
                </c:pt>
                <c:pt idx="149">
                  <c:v>7.7389400000000004</c:v>
                </c:pt>
                <c:pt idx="150">
                  <c:v>7.8848900000000004</c:v>
                </c:pt>
                <c:pt idx="151">
                  <c:v>7.8554899999999996</c:v>
                </c:pt>
                <c:pt idx="152">
                  <c:v>7.8673400000000004</c:v>
                </c:pt>
                <c:pt idx="153">
                  <c:v>7.83765</c:v>
                </c:pt>
                <c:pt idx="154">
                  <c:v>7.7784849999999999</c:v>
                </c:pt>
                <c:pt idx="155">
                  <c:v>7.7900850000000004</c:v>
                </c:pt>
                <c:pt idx="156">
                  <c:v>7.7876349999999999</c:v>
                </c:pt>
                <c:pt idx="157">
                  <c:v>7.7697950000000002</c:v>
                </c:pt>
                <c:pt idx="158">
                  <c:v>7.763045</c:v>
                </c:pt>
                <c:pt idx="159">
                  <c:v>7.7514950000000002</c:v>
                </c:pt>
                <c:pt idx="160">
                  <c:v>7.756945</c:v>
                </c:pt>
                <c:pt idx="161">
                  <c:v>7.7926250000000001</c:v>
                </c:pt>
                <c:pt idx="162">
                  <c:v>7.8710250000000004</c:v>
                </c:pt>
                <c:pt idx="163">
                  <c:v>7.874225</c:v>
                </c:pt>
                <c:pt idx="164">
                  <c:v>7.8741750000000001</c:v>
                </c:pt>
                <c:pt idx="165">
                  <c:v>7.8291449999999996</c:v>
                </c:pt>
                <c:pt idx="166">
                  <c:v>7.8164949999999997</c:v>
                </c:pt>
                <c:pt idx="167">
                  <c:v>7.8260949999999996</c:v>
                </c:pt>
                <c:pt idx="168">
                  <c:v>7.7405350000000004</c:v>
                </c:pt>
                <c:pt idx="169">
                  <c:v>7.7541349999999998</c:v>
                </c:pt>
                <c:pt idx="170">
                  <c:v>7.8606850000000001</c:v>
                </c:pt>
                <c:pt idx="171">
                  <c:v>7.8696349999999997</c:v>
                </c:pt>
                <c:pt idx="172">
                  <c:v>7.974145</c:v>
                </c:pt>
                <c:pt idx="173">
                  <c:v>7.951835</c:v>
                </c:pt>
                <c:pt idx="174">
                  <c:v>7.9297250000000004</c:v>
                </c:pt>
                <c:pt idx="175">
                  <c:v>7.8840950000000003</c:v>
                </c:pt>
                <c:pt idx="176">
                  <c:v>7.7475449999999997</c:v>
                </c:pt>
                <c:pt idx="177">
                  <c:v>7.7351450000000002</c:v>
                </c:pt>
                <c:pt idx="178">
                  <c:v>7.6888449999999997</c:v>
                </c:pt>
                <c:pt idx="179">
                  <c:v>7.6435449999999996</c:v>
                </c:pt>
                <c:pt idx="180">
                  <c:v>7.62486</c:v>
                </c:pt>
                <c:pt idx="181">
                  <c:v>7.5811000000000002</c:v>
                </c:pt>
                <c:pt idx="182">
                  <c:v>7.5955000000000004</c:v>
                </c:pt>
                <c:pt idx="183">
                  <c:v>7.6190499999999997</c:v>
                </c:pt>
                <c:pt idx="184">
                  <c:v>7.6244500000000004</c:v>
                </c:pt>
                <c:pt idx="185">
                  <c:v>7.6277999999999997</c:v>
                </c:pt>
                <c:pt idx="186">
                  <c:v>7.6319999999999997</c:v>
                </c:pt>
                <c:pt idx="187">
                  <c:v>7.6256300000000001</c:v>
                </c:pt>
                <c:pt idx="188">
                  <c:v>7.59239</c:v>
                </c:pt>
                <c:pt idx="189">
                  <c:v>7.5966899999999997</c:v>
                </c:pt>
                <c:pt idx="190">
                  <c:v>7.6007699999999998</c:v>
                </c:pt>
                <c:pt idx="191">
                  <c:v>7.6844999999999999</c:v>
                </c:pt>
                <c:pt idx="192">
                  <c:v>7.84375</c:v>
                </c:pt>
                <c:pt idx="193">
                  <c:v>7.8279500000000004</c:v>
                </c:pt>
                <c:pt idx="194">
                  <c:v>7.8174099999999997</c:v>
                </c:pt>
                <c:pt idx="195">
                  <c:v>7.7876099999999999</c:v>
                </c:pt>
                <c:pt idx="196">
                  <c:v>7.7039099999999996</c:v>
                </c:pt>
                <c:pt idx="197">
                  <c:v>7.6132099999999996</c:v>
                </c:pt>
                <c:pt idx="198">
                  <c:v>7.6040099999999997</c:v>
                </c:pt>
                <c:pt idx="199">
                  <c:v>7.5705600000000004</c:v>
                </c:pt>
                <c:pt idx="200">
                  <c:v>7.5612450000000004</c:v>
                </c:pt>
                <c:pt idx="201">
                  <c:v>7.5527449999999998</c:v>
                </c:pt>
                <c:pt idx="202">
                  <c:v>7.522545</c:v>
                </c:pt>
                <c:pt idx="203">
                  <c:v>7.5408099999999996</c:v>
                </c:pt>
                <c:pt idx="204">
                  <c:v>7.5549650000000002</c:v>
                </c:pt>
                <c:pt idx="205">
                  <c:v>7.5987650000000002</c:v>
                </c:pt>
                <c:pt idx="206">
                  <c:v>7.6047599999999997</c:v>
                </c:pt>
                <c:pt idx="207">
                  <c:v>7.6193299999999997</c:v>
                </c:pt>
                <c:pt idx="208">
                  <c:v>7.5896299999999997</c:v>
                </c:pt>
                <c:pt idx="209">
                  <c:v>7.5421300000000002</c:v>
                </c:pt>
                <c:pt idx="210">
                  <c:v>7.4874799999999997</c:v>
                </c:pt>
                <c:pt idx="211">
                  <c:v>7.4362300000000001</c:v>
                </c:pt>
                <c:pt idx="212">
                  <c:v>7.4777100000000001</c:v>
                </c:pt>
                <c:pt idx="213">
                  <c:v>7.5852599999999999</c:v>
                </c:pt>
                <c:pt idx="214">
                  <c:v>7.7066100000000004</c:v>
                </c:pt>
                <c:pt idx="215">
                  <c:v>7.63551</c:v>
                </c:pt>
                <c:pt idx="216">
                  <c:v>7.78484</c:v>
                </c:pt>
                <c:pt idx="217">
                  <c:v>7.7048500000000004</c:v>
                </c:pt>
                <c:pt idx="218">
                  <c:v>7.6561000000000003</c:v>
                </c:pt>
                <c:pt idx="219">
                  <c:v>7.5442999999999998</c:v>
                </c:pt>
                <c:pt idx="220">
                  <c:v>7.4964500000000003</c:v>
                </c:pt>
                <c:pt idx="221">
                  <c:v>7.5575999999999999</c:v>
                </c:pt>
                <c:pt idx="222">
                  <c:v>7.5511999999999997</c:v>
                </c:pt>
                <c:pt idx="223">
                  <c:v>7.6010850000000003</c:v>
                </c:pt>
                <c:pt idx="224">
                  <c:v>7.6641849999999998</c:v>
                </c:pt>
                <c:pt idx="225">
                  <c:v>7.6877849999999999</c:v>
                </c:pt>
                <c:pt idx="226">
                  <c:v>7.6951850000000004</c:v>
                </c:pt>
                <c:pt idx="227">
                  <c:v>7.7037849999999999</c:v>
                </c:pt>
                <c:pt idx="228">
                  <c:v>7.6538849999999998</c:v>
                </c:pt>
                <c:pt idx="229">
                  <c:v>7.6478849999999996</c:v>
                </c:pt>
                <c:pt idx="230">
                  <c:v>7.6108250000000002</c:v>
                </c:pt>
                <c:pt idx="231">
                  <c:v>7.5630050000000004</c:v>
                </c:pt>
                <c:pt idx="232">
                  <c:v>7.4823449999999996</c:v>
                </c:pt>
                <c:pt idx="233">
                  <c:v>7.5026450000000002</c:v>
                </c:pt>
                <c:pt idx="234">
                  <c:v>7.4968450000000004</c:v>
                </c:pt>
                <c:pt idx="235">
                  <c:v>7.4854450000000003</c:v>
                </c:pt>
                <c:pt idx="236">
                  <c:v>7.4532049999999996</c:v>
                </c:pt>
                <c:pt idx="237">
                  <c:v>7.4499050000000002</c:v>
                </c:pt>
                <c:pt idx="238">
                  <c:v>7.4383049999999997</c:v>
                </c:pt>
                <c:pt idx="239">
                  <c:v>7.2836049999999997</c:v>
                </c:pt>
                <c:pt idx="240">
                  <c:v>7.2953549999999998</c:v>
                </c:pt>
                <c:pt idx="241">
                  <c:v>7.3092050000000004</c:v>
                </c:pt>
                <c:pt idx="242">
                  <c:v>7.3590600000000004</c:v>
                </c:pt>
                <c:pt idx="243">
                  <c:v>7.38666</c:v>
                </c:pt>
                <c:pt idx="244">
                  <c:v>7.4120600000000003</c:v>
                </c:pt>
                <c:pt idx="245">
                  <c:v>7.39846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27-4487-86E9-F9021EDA3F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32329936"/>
        <c:axId val="932313712"/>
      </c:lineChart>
      <c:catAx>
        <c:axId val="9323299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932313712"/>
        <c:crosses val="autoZero"/>
        <c:auto val="1"/>
        <c:lblAlgn val="ctr"/>
        <c:lblOffset val="100"/>
        <c:tickLblSkip val="40"/>
        <c:tickMarkSkip val="1"/>
        <c:noMultiLvlLbl val="0"/>
      </c:catAx>
      <c:valAx>
        <c:axId val="932313712"/>
        <c:scaling>
          <c:orientation val="minMax"/>
          <c:max val="8.4"/>
          <c:min val="6.5"/>
        </c:scaling>
        <c:delete val="0"/>
        <c:axPos val="l"/>
        <c:numFmt formatCode="_(* #,##0.00_);_(* \(#,##0.00\);_(* &quot;-&quot;??_);_(@_)" sourceLinked="1"/>
        <c:majorTickMark val="out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932329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111111"/>
      </a:solidFill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r>
              <a:rPr lang="en-US" altLang="zh-TW" sz="1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A14106</a:t>
            </a:r>
            <a:r>
              <a:rPr lang="zh-TW" altLang="en-US" sz="1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(30Y</a:t>
            </a:r>
            <a:r>
              <a:rPr lang="zh-TW" altLang="en-US" sz="1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券</a:t>
            </a:r>
            <a:r>
              <a:rPr lang="en-US" altLang="zh-TW" sz="1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2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利率走勢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37"/>
              <c:layout>
                <c:manualLayout>
                  <c:x val="-4.7935158096101667E-2"/>
                  <c:y val="-7.3888176187976939E-2"/>
                </c:manualLayout>
              </c:layout>
              <c:tx>
                <c:rich>
                  <a:bodyPr/>
                  <a:lstStyle/>
                  <a:p>
                    <a:fld id="{440AE612-EBD4-4F66-8722-F93971ECE52F}" type="YVALUE">
                      <a:rPr lang="en-US" altLang="zh-TW" smtClean="0"/>
                      <a:pPr/>
                      <a:t>[Y 值]</a:t>
                    </a:fld>
                    <a:endParaRPr lang="zh-TW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7057-4E6C-8B71-384B650EC2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'冷券表 (2)'!$F$10:$F$47</c:f>
              <c:numCache>
                <c:formatCode>m/d;@</c:formatCode>
                <c:ptCount val="38"/>
                <c:pt idx="0">
                  <c:v>45790</c:v>
                </c:pt>
                <c:pt idx="1">
                  <c:v>45792</c:v>
                </c:pt>
                <c:pt idx="2">
                  <c:v>45793</c:v>
                </c:pt>
                <c:pt idx="3">
                  <c:v>45803</c:v>
                </c:pt>
                <c:pt idx="4">
                  <c:v>45806</c:v>
                </c:pt>
                <c:pt idx="5">
                  <c:v>45811</c:v>
                </c:pt>
                <c:pt idx="6">
                  <c:v>45812</c:v>
                </c:pt>
                <c:pt idx="7">
                  <c:v>45814</c:v>
                </c:pt>
                <c:pt idx="8">
                  <c:v>45820</c:v>
                </c:pt>
                <c:pt idx="9">
                  <c:v>45824</c:v>
                </c:pt>
                <c:pt idx="10">
                  <c:v>45825</c:v>
                </c:pt>
                <c:pt idx="11">
                  <c:v>45826</c:v>
                </c:pt>
                <c:pt idx="12">
                  <c:v>45827</c:v>
                </c:pt>
                <c:pt idx="13">
                  <c:v>45832</c:v>
                </c:pt>
                <c:pt idx="14">
                  <c:v>45835</c:v>
                </c:pt>
                <c:pt idx="15">
                  <c:v>45840</c:v>
                </c:pt>
                <c:pt idx="16">
                  <c:v>45862</c:v>
                </c:pt>
                <c:pt idx="17">
                  <c:v>45867</c:v>
                </c:pt>
                <c:pt idx="18">
                  <c:v>45868</c:v>
                </c:pt>
                <c:pt idx="19">
                  <c:v>45870</c:v>
                </c:pt>
                <c:pt idx="20">
                  <c:v>45874</c:v>
                </c:pt>
                <c:pt idx="21">
                  <c:v>45875</c:v>
                </c:pt>
                <c:pt idx="22">
                  <c:v>45881</c:v>
                </c:pt>
                <c:pt idx="23">
                  <c:v>45882</c:v>
                </c:pt>
                <c:pt idx="24">
                  <c:v>45883</c:v>
                </c:pt>
                <c:pt idx="25">
                  <c:v>45887</c:v>
                </c:pt>
                <c:pt idx="26">
                  <c:v>45888</c:v>
                </c:pt>
                <c:pt idx="27">
                  <c:v>45889</c:v>
                </c:pt>
                <c:pt idx="28">
                  <c:v>45890</c:v>
                </c:pt>
                <c:pt idx="29">
                  <c:v>45896</c:v>
                </c:pt>
                <c:pt idx="30">
                  <c:v>45909</c:v>
                </c:pt>
                <c:pt idx="31">
                  <c:v>45910</c:v>
                </c:pt>
                <c:pt idx="32">
                  <c:v>45925</c:v>
                </c:pt>
                <c:pt idx="33">
                  <c:v>45938</c:v>
                </c:pt>
                <c:pt idx="34">
                  <c:v>45945</c:v>
                </c:pt>
                <c:pt idx="35">
                  <c:v>45947</c:v>
                </c:pt>
                <c:pt idx="36">
                  <c:v>45950</c:v>
                </c:pt>
                <c:pt idx="37">
                  <c:v>45951</c:v>
                </c:pt>
              </c:numCache>
            </c:numRef>
          </c:xVal>
          <c:yVal>
            <c:numRef>
              <c:f>'冷券表 (2)'!$G$10:$G$47</c:f>
              <c:numCache>
                <c:formatCode>General</c:formatCode>
                <c:ptCount val="38"/>
                <c:pt idx="0">
                  <c:v>1.89</c:v>
                </c:pt>
                <c:pt idx="1">
                  <c:v>1.9005000000000001</c:v>
                </c:pt>
                <c:pt idx="2">
                  <c:v>1.8886000000000001</c:v>
                </c:pt>
                <c:pt idx="3">
                  <c:v>1.8825000000000001</c:v>
                </c:pt>
                <c:pt idx="4">
                  <c:v>1.87</c:v>
                </c:pt>
                <c:pt idx="5">
                  <c:v>1.8651</c:v>
                </c:pt>
                <c:pt idx="6">
                  <c:v>1.8556999999999999</c:v>
                </c:pt>
                <c:pt idx="7">
                  <c:v>1.8554999999999999</c:v>
                </c:pt>
                <c:pt idx="8">
                  <c:v>1.8460000000000001</c:v>
                </c:pt>
                <c:pt idx="9">
                  <c:v>1.8460000000000001</c:v>
                </c:pt>
                <c:pt idx="10">
                  <c:v>1.845</c:v>
                </c:pt>
                <c:pt idx="11">
                  <c:v>1.8404</c:v>
                </c:pt>
                <c:pt idx="12">
                  <c:v>1.83</c:v>
                </c:pt>
                <c:pt idx="13">
                  <c:v>1.7916000000000001</c:v>
                </c:pt>
                <c:pt idx="14">
                  <c:v>1.74</c:v>
                </c:pt>
                <c:pt idx="15">
                  <c:v>1.6850000000000001</c:v>
                </c:pt>
                <c:pt idx="16">
                  <c:v>1.68</c:v>
                </c:pt>
                <c:pt idx="17">
                  <c:v>1.6457999999999999</c:v>
                </c:pt>
                <c:pt idx="18">
                  <c:v>1.6359999999999999</c:v>
                </c:pt>
                <c:pt idx="19">
                  <c:v>1.6245000000000001</c:v>
                </c:pt>
                <c:pt idx="20">
                  <c:v>1.627</c:v>
                </c:pt>
                <c:pt idx="21">
                  <c:v>1.635</c:v>
                </c:pt>
                <c:pt idx="22">
                  <c:v>1.6305000000000001</c:v>
                </c:pt>
                <c:pt idx="23">
                  <c:v>1.62</c:v>
                </c:pt>
                <c:pt idx="24">
                  <c:v>1.6165</c:v>
                </c:pt>
                <c:pt idx="25">
                  <c:v>1.6259999999999999</c:v>
                </c:pt>
                <c:pt idx="26">
                  <c:v>1.637</c:v>
                </c:pt>
                <c:pt idx="27">
                  <c:v>1.65</c:v>
                </c:pt>
                <c:pt idx="28">
                  <c:v>1.6559999999999999</c:v>
                </c:pt>
                <c:pt idx="29">
                  <c:v>1.6405000000000001</c:v>
                </c:pt>
                <c:pt idx="30">
                  <c:v>1.591</c:v>
                </c:pt>
                <c:pt idx="31">
                  <c:v>1.591</c:v>
                </c:pt>
                <c:pt idx="32">
                  <c:v>1.5586</c:v>
                </c:pt>
                <c:pt idx="33">
                  <c:v>1.5449999999999999</c:v>
                </c:pt>
                <c:pt idx="34">
                  <c:v>1.4950000000000001</c:v>
                </c:pt>
                <c:pt idx="35">
                  <c:v>1.47</c:v>
                </c:pt>
                <c:pt idx="36">
                  <c:v>1.45</c:v>
                </c:pt>
                <c:pt idx="37">
                  <c:v>1.47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057-4E6C-8B71-384B650EC2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02708496"/>
        <c:axId val="802705168"/>
      </c:scatterChart>
      <c:valAx>
        <c:axId val="802708496"/>
        <c:scaling>
          <c:orientation val="minMax"/>
          <c:max val="45952"/>
          <c:min val="45790"/>
        </c:scaling>
        <c:delete val="0"/>
        <c:axPos val="b"/>
        <c:numFmt formatCode="m/d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802705168"/>
        <c:crosses val="autoZero"/>
        <c:crossBetween val="midCat"/>
        <c:majorUnit val="30"/>
        <c:minorUnit val="20"/>
      </c:valAx>
      <c:valAx>
        <c:axId val="802705168"/>
        <c:scaling>
          <c:orientation val="minMax"/>
          <c:max val="1.9"/>
          <c:min val="1.4"/>
        </c:scaling>
        <c:delete val="0"/>
        <c:axPos val="l"/>
        <c:numFmt formatCode="General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8027084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70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640"/>
            <a:ext cx="2945976" cy="494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700" y="9431640"/>
            <a:ext cx="2945976" cy="494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EA90D26C-E35A-450B-90C7-84C2B9602168}" type="slidenum">
              <a:rPr lang="en-US" altLang="zh-TW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645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84" y="4714708"/>
            <a:ext cx="5437507" cy="4466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7200"/>
            <a:ext cx="2945976" cy="497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645" y="9427200"/>
            <a:ext cx="2945976" cy="497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60372AD-F29F-4D0F-B513-7219CBDC5F6C}" type="slidenum">
              <a:rPr lang="en-US" altLang="zh-TW"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91DC3-1E7A-4B25-8F56-B5B9998B32DD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24797-BBCB-46D5-B74F-32D725404A6B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CE306-2D5A-4AB4-AC5D-5D21E1944430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D7BD4-4153-4232-9FDF-0A95D9B5C8DE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E1F83-3BEF-49AC-ABC8-8C6E80176E9C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52E88-0254-4B19-81B3-E8664451FBCF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697D7-8013-4975-95E3-48F7F3F7499B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A8A6C-E419-4A2D-A59F-0183255F70EA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F0E97-51B7-4FFA-9BFC-ED098C10D8ED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0AC26-B1DC-4AE7-A939-642DE9D4B085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DB87F-1281-41B6-A636-95C78B523A08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95C5F3-99EF-4E92-8313-B7FF534E2851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9C1600-8D42-4597-8CA4-003D095EE285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8B98E4D-4090-4CC7-9045-046950355E56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5D5151-29A4-4CB4-A045-9F637401C9A8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6E22A7-EF76-4CC0-B8E4-4EB561235ED1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ADBB88C-6F0D-489F-9196-70DAAEBD32E3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33A2C2-189D-4B97-A621-9D17102788CA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DDDBE6-A36A-4B7F-BE7F-AF040721802B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C80421-F154-4EB7-BAB9-B8AC9CBEFC83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3B3FE45-7674-409D-812E-F0930564FA98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1F0156B-8B8C-4EE1-A506-9984D200E04F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91DC3-1E7A-4B25-8F56-B5B9998B32DD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24797-BBCB-46D5-B74F-32D725404A6B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CE306-2D5A-4AB4-AC5D-5D21E1944430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D7BD4-4153-4232-9FDF-0A95D9B5C8DE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E1F83-3BEF-49AC-ABC8-8C6E80176E9C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52E88-0254-4B19-81B3-E8664451FBCF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697D7-8013-4975-95E3-48F7F3F7499B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A8A6C-E419-4A2D-A59F-0183255F70EA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F0E97-51B7-4FFA-9BFC-ED098C10D8ED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0AC26-B1DC-4AE7-A939-642DE9D4B085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DB87F-1281-41B6-A636-95C78B523A08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43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EB788-0AD9-4E98-A516-64653248E3DB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92E49-B35D-4BA4-A4A1-D07A03DA5610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7D15B-E003-4EB9-A608-239C444D5E90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C68BE-B4B0-4564-B8AC-726B6F10D4A3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274638"/>
            <a:ext cx="8075240" cy="6340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717D7-C8B0-44C5-A62F-3567BF53D398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FA067D-AD37-4A18-A34B-F0E66789EA77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0777A-41B7-4B1E-A08A-E8D847463375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1" y="27306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93CA9-BA81-47AA-823D-8B709A5D2C45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6ADD22-6B71-41C3-A3B2-EF9911ADB281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F7AEA-34EA-4C76-9A47-D6871C043AB0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56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56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654D6-15C0-494A-B753-0640DB25B203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11188" y="274656"/>
            <a:ext cx="8075612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02D48-BB1D-4132-8A0E-4D78DE52EF59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F21431A-0C06-4923-9B61-C55D1AEC9577}" type="slidenum">
              <a:rPr lang="zh-TW" altLang="en-US"/>
              <a:t>‹#›</a:t>
            </a:fld>
            <a:endParaRPr lang="en-US" altLang="zh-TW"/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1000">
                <a:solidFill>
                  <a:schemeClr val="bg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ea typeface="新細明體" panose="02020500000000000000" charset="-120"/>
            </a:endParaRPr>
          </a:p>
        </p:txBody>
      </p:sp>
      <p:pic>
        <p:nvPicPr>
          <p:cNvPr id="1030" name="Picture 7" descr="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/>
            </a:lvl1pPr>
          </a:lstStyle>
          <a:p>
            <a:fld id="{32523EE1-814A-4436-A9F0-90FC08ED8A92}" type="slidenum">
              <a:rPr lang="zh-TW" altLang="en-US">
                <a:solidFill>
                  <a:srgbClr val="000000"/>
                </a:solidFill>
                <a:ea typeface="新細明體" panose="02020500000000000000" charset="-120"/>
              </a:rPr>
              <a:t>‹#›</a:t>
            </a:fld>
            <a:endParaRPr lang="en-US" altLang="zh-TW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100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pic>
        <p:nvPicPr>
          <p:cNvPr id="1090567" name="Picture 7" descr="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97FB-EFBE-4ED6-A43F-DDA1512FD57C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F21431A-0C06-4923-9B61-C55D1AEC9577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100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pic>
        <p:nvPicPr>
          <p:cNvPr id="1030" name="Picture 7" descr="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FF09E-4EA0-4518-A9E8-449DE34F8B74}" type="datetimeFigureOut">
              <a:rPr lang="zh-TW" altLang="en-US" smtClean="0"/>
              <a:t>2025/10/23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spcBef>
                <a:spcPct val="0"/>
              </a:spcBef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381750"/>
            <a:ext cx="468313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/>
          <a:lstStyle>
            <a:lvl1pPr algn="r">
              <a:spcBef>
                <a:spcPct val="0"/>
              </a:spcBef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A9CD9766-93A3-4E76-9B20-A4D620225CC1}" type="slidenum">
              <a:rPr lang="en-US" altLang="zh-TW"/>
              <a:t>‹#›</a:t>
            </a:fld>
            <a:endParaRPr lang="en-US" altLang="zh-TW" dirty="0"/>
          </a:p>
        </p:txBody>
      </p:sp>
      <p:sp>
        <p:nvSpPr>
          <p:cNvPr id="1027" name="Text Box 21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1" tIns="45710" rIns="91421" bIns="4571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l" eaLnBrk="1" hangingPunct="1">
              <a:defRPr/>
            </a:pPr>
            <a:r>
              <a:rPr lang="zh-TW" altLang="en-US" sz="1000">
                <a:solidFill>
                  <a:schemeClr val="bg2"/>
                </a:solidFill>
                <a:latin typeface="標楷體" panose="03000509000000000000" pitchFamily="65" charset="-120"/>
              </a:rPr>
              <a:t>誠信  承諾  創新  合作</a:t>
            </a: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lang="zh-TW" altLang="en-US" sz="3000" b="1" smtClean="0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188" y="188640"/>
            <a:ext cx="8075612" cy="719410"/>
          </a:xfrm>
        </p:spPr>
        <p:txBody>
          <a:bodyPr/>
          <a:lstStyle/>
          <a:p>
            <a:pPr marL="984250" indent="-984250"/>
            <a:r>
              <a:rPr lang="zh-TW" altLang="en-US" sz="1000" dirty="0"/>
              <a:t>策略</a:t>
            </a:r>
            <a:r>
              <a:rPr lang="en-US" altLang="zh-TW" sz="1000" dirty="0"/>
              <a:t>:</a:t>
            </a:r>
            <a:r>
              <a:rPr lang="zh-TW" altLang="en-US" sz="1000" dirty="0"/>
              <a:t> 台債</a:t>
            </a:r>
            <a:r>
              <a:rPr lang="en-US" altLang="zh-TW" sz="1000" dirty="0"/>
              <a:t>20Y+</a:t>
            </a:r>
            <a:r>
              <a:rPr lang="zh-TW" altLang="en-US" sz="1000" dirty="0"/>
              <a:t>長券偏多操作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4194" y="1412776"/>
            <a:ext cx="8075612" cy="3168352"/>
          </a:xfrm>
        </p:spPr>
        <p:txBody>
          <a:bodyPr/>
          <a:lstStyle/>
          <a:p>
            <a:endParaRPr lang="zh-TW" altLang="zh-TW" sz="2000" dirty="0">
              <a:effectLst/>
              <a:latin typeface="+mj-ea"/>
              <a:ea typeface="+mj-ea"/>
              <a:cs typeface="新細明體" panose="02020500000000000000" charset="-120"/>
            </a:endParaRPr>
          </a:p>
          <a:p>
            <a:pPr marL="0" indent="0">
              <a:buNone/>
            </a:pPr>
            <a:endParaRPr lang="en-US" altLang="zh-TW" sz="2000" dirty="0"/>
          </a:p>
          <a:p>
            <a:endParaRPr lang="zh-TW" altLang="en-US" sz="2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26060" y="967135"/>
            <a:ext cx="8460740" cy="318801"/>
          </a:xfrm>
          <a:prstGeom prst="roundRect">
            <a:avLst/>
          </a:prstGeom>
          <a:solidFill>
            <a:srgbClr val="2E75B6"/>
          </a:solidFill>
        </p:spPr>
        <p:txBody>
          <a:bodyPr wrap="square" t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央行貨幣政策轉偏寬鬆</a:t>
            </a:r>
            <a:r>
              <a:rPr kumimoji="0" lang="en-US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kumimoji="0"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台債籌碼面優勢，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預估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2025Q4-2026Q1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錢多券少格局不變</a:t>
            </a:r>
          </a:p>
        </p:txBody>
      </p:sp>
      <p:sp>
        <p:nvSpPr>
          <p:cNvPr id="12" name="內容版面配置區 2"/>
          <p:cNvSpPr>
            <a:spLocks noGrp="1"/>
          </p:cNvSpPr>
          <p:nvPr/>
        </p:nvSpPr>
        <p:spPr>
          <a:xfrm>
            <a:off x="166147" y="908050"/>
            <a:ext cx="8811706" cy="3168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21" tIns="45710" rIns="91421" bIns="4571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9pPr>
          </a:lstStyle>
          <a:p>
            <a:endParaRPr lang="en-US" altLang="zh-TW" sz="2000" dirty="0">
              <a:latin typeface="+mj-ea"/>
              <a:ea typeface="+mj-ea"/>
            </a:endParaRPr>
          </a:p>
          <a:p>
            <a:r>
              <a:rPr lang="zh-TW" altLang="en-US" sz="2000" dirty="0">
                <a:latin typeface="+mj-ea"/>
                <a:ea typeface="+mj-ea"/>
              </a:rPr>
              <a:t>錢多</a:t>
            </a:r>
            <a:endParaRPr lang="en-US" altLang="zh-TW" sz="2000" dirty="0">
              <a:latin typeface="+mj-ea"/>
              <a:ea typeface="+mj-ea"/>
            </a:endParaRPr>
          </a:p>
          <a:p>
            <a:pPr lvl="1"/>
            <a:r>
              <a:rPr lang="en-US" altLang="zh-TW" sz="1600" dirty="0">
                <a:latin typeface="+mj-ea"/>
                <a:ea typeface="+mj-ea"/>
              </a:rPr>
              <a:t>Q3</a:t>
            </a:r>
            <a:r>
              <a:rPr lang="zh-TW" altLang="en-US" sz="1600" dirty="0">
                <a:latin typeface="+mj-ea"/>
                <a:ea typeface="+mj-ea"/>
              </a:rPr>
              <a:t>央行理監事會議：貨幣政策基調是“適度的讓資金充裕”</a:t>
            </a:r>
            <a:endParaRPr lang="en-US" altLang="zh-TW" sz="1600" dirty="0">
              <a:latin typeface="+mj-ea"/>
              <a:ea typeface="+mj-ea"/>
            </a:endParaRPr>
          </a:p>
          <a:p>
            <a:pPr marL="457200" lvl="1" indent="0">
              <a:buNone/>
            </a:pPr>
            <a:r>
              <a:rPr lang="zh-TW" altLang="en-US" sz="1600" dirty="0">
                <a:latin typeface="+mj-ea"/>
                <a:ea typeface="+mj-ea"/>
              </a:rPr>
              <a:t>      透過公開市場操作，減發定存單釋出資金</a:t>
            </a:r>
            <a:endParaRPr lang="en-US" altLang="zh-TW" sz="1600" dirty="0">
              <a:latin typeface="+mj-ea"/>
              <a:ea typeface="+mj-ea"/>
            </a:endParaRPr>
          </a:p>
          <a:p>
            <a:r>
              <a:rPr lang="zh-TW" altLang="en-US" sz="2000" dirty="0">
                <a:latin typeface="+mj-ea"/>
                <a:ea typeface="+mj-ea"/>
              </a:rPr>
              <a:t>券少</a:t>
            </a:r>
            <a:endParaRPr lang="en-US" altLang="zh-TW" sz="2000" dirty="0">
              <a:latin typeface="+mj-ea"/>
              <a:ea typeface="+mj-ea"/>
            </a:endParaRPr>
          </a:p>
          <a:p>
            <a:pPr lvl="1"/>
            <a:r>
              <a:rPr lang="zh-TW" altLang="en-US" sz="1600" dirty="0">
                <a:latin typeface="+mj-ea"/>
                <a:ea typeface="+mj-ea"/>
              </a:rPr>
              <a:t>公債：近五次標售利率皆低於預期</a:t>
            </a:r>
            <a:r>
              <a:rPr lang="en-US" altLang="zh-TW" sz="1600" dirty="0">
                <a:latin typeface="+mj-ea"/>
                <a:ea typeface="+mj-ea"/>
              </a:rPr>
              <a:t>1~3BP</a:t>
            </a:r>
          </a:p>
          <a:p>
            <a:pPr marL="457200" lvl="1" indent="0">
              <a:buNone/>
            </a:pPr>
            <a:r>
              <a:rPr lang="en-US" altLang="zh-TW" sz="1600" dirty="0">
                <a:latin typeface="+mj-ea"/>
                <a:ea typeface="+mj-ea"/>
              </a:rPr>
              <a:t>	</a:t>
            </a:r>
            <a:r>
              <a:rPr lang="zh-TW" altLang="en-US" sz="1600" dirty="0">
                <a:latin typeface="+mj-ea"/>
                <a:ea typeface="+mj-ea"/>
              </a:rPr>
              <a:t>         </a:t>
            </a:r>
            <a:r>
              <a:rPr lang="en-US" altLang="zh-TW" sz="1600" dirty="0">
                <a:latin typeface="+mj-ea"/>
                <a:ea typeface="+mj-ea"/>
              </a:rPr>
              <a:t>Q4</a:t>
            </a:r>
            <a:r>
              <a:rPr lang="zh-TW" altLang="en-US" sz="1600" dirty="0">
                <a:latin typeface="+mj-ea"/>
                <a:ea typeface="+mj-ea"/>
              </a:rPr>
              <a:t>發債量僅</a:t>
            </a:r>
            <a:r>
              <a:rPr lang="en-US" altLang="zh-TW" sz="1600" dirty="0">
                <a:latin typeface="+mj-ea"/>
                <a:ea typeface="+mj-ea"/>
              </a:rPr>
              <a:t>800</a:t>
            </a:r>
            <a:r>
              <a:rPr lang="zh-TW" altLang="en-US" sz="1600" dirty="0">
                <a:latin typeface="+mj-ea"/>
                <a:ea typeface="+mj-ea"/>
              </a:rPr>
              <a:t>億，到期量為</a:t>
            </a:r>
            <a:r>
              <a:rPr lang="en-US" altLang="zh-TW" sz="1600" dirty="0">
                <a:latin typeface="+mj-ea"/>
                <a:ea typeface="+mj-ea"/>
              </a:rPr>
              <a:t>1300</a:t>
            </a:r>
            <a:r>
              <a:rPr lang="zh-TW" altLang="en-US" sz="1600" dirty="0">
                <a:latin typeface="+mj-ea"/>
                <a:ea typeface="+mj-ea"/>
              </a:rPr>
              <a:t>億；</a:t>
            </a:r>
            <a:endParaRPr lang="en-US" altLang="zh-TW" sz="1600" dirty="0">
              <a:latin typeface="+mj-ea"/>
              <a:ea typeface="+mj-ea"/>
            </a:endParaRPr>
          </a:p>
          <a:p>
            <a:pPr marL="457200" lvl="1" indent="0">
              <a:buNone/>
            </a:pPr>
            <a:r>
              <a:rPr lang="zh-TW" altLang="en-US" sz="1600" dirty="0">
                <a:latin typeface="+mj-ea"/>
                <a:ea typeface="+mj-ea"/>
              </a:rPr>
              <a:t>                  明年</a:t>
            </a:r>
            <a:r>
              <a:rPr lang="en-US" altLang="zh-TW" sz="1600" dirty="0">
                <a:latin typeface="+mj-ea"/>
                <a:ea typeface="+mj-ea"/>
              </a:rPr>
              <a:t>Q1</a:t>
            </a:r>
            <a:r>
              <a:rPr lang="zh-TW" altLang="en-US" sz="1600" dirty="0">
                <a:latin typeface="+mj-ea"/>
                <a:ea typeface="+mj-ea"/>
              </a:rPr>
              <a:t>到期量</a:t>
            </a:r>
            <a:r>
              <a:rPr lang="en-US" altLang="zh-TW" sz="1600" dirty="0">
                <a:latin typeface="+mj-ea"/>
                <a:ea typeface="+mj-ea"/>
              </a:rPr>
              <a:t>2600</a:t>
            </a:r>
            <a:r>
              <a:rPr lang="zh-TW" altLang="en-US" sz="1600" dirty="0">
                <a:latin typeface="+mj-ea"/>
                <a:ea typeface="+mj-ea"/>
              </a:rPr>
              <a:t>億，近五年</a:t>
            </a:r>
            <a:r>
              <a:rPr lang="en-US" altLang="zh-TW" sz="1600" dirty="0">
                <a:latin typeface="+mj-ea"/>
                <a:ea typeface="+mj-ea"/>
              </a:rPr>
              <a:t>Q1</a:t>
            </a:r>
            <a:r>
              <a:rPr lang="zh-TW" altLang="en-US" sz="1600" dirty="0">
                <a:latin typeface="+mj-ea"/>
                <a:ea typeface="+mj-ea"/>
              </a:rPr>
              <a:t>發行落在近</a:t>
            </a:r>
            <a:r>
              <a:rPr lang="en-US" altLang="zh-TW" sz="1600" dirty="0">
                <a:latin typeface="+mj-ea"/>
                <a:ea typeface="+mj-ea"/>
              </a:rPr>
              <a:t>1600-1820</a:t>
            </a:r>
            <a:r>
              <a:rPr lang="zh-TW" altLang="en-US" sz="1600" dirty="0">
                <a:latin typeface="+mj-ea"/>
                <a:ea typeface="+mj-ea"/>
              </a:rPr>
              <a:t>億。</a:t>
            </a:r>
            <a:endParaRPr lang="en-US" altLang="zh-TW" sz="1600" dirty="0">
              <a:latin typeface="+mj-ea"/>
              <a:ea typeface="+mj-ea"/>
            </a:endParaRPr>
          </a:p>
          <a:p>
            <a:pPr lvl="1"/>
            <a:r>
              <a:rPr lang="zh-TW" altLang="en-US" sz="1600" dirty="0">
                <a:latin typeface="+mj-ea"/>
                <a:ea typeface="+mj-ea"/>
              </a:rPr>
              <a:t>公司債：</a:t>
            </a:r>
            <a:r>
              <a:rPr lang="en-US" altLang="zh-TW" sz="1600" dirty="0">
                <a:latin typeface="+mj-ea"/>
                <a:ea typeface="+mj-ea"/>
              </a:rPr>
              <a:t>Q1</a:t>
            </a:r>
            <a:r>
              <a:rPr lang="zh-TW" altLang="en-US" sz="1600" dirty="0">
                <a:latin typeface="+mj-ea"/>
                <a:ea typeface="+mj-ea"/>
              </a:rPr>
              <a:t>發債量少，近五年</a:t>
            </a:r>
            <a:r>
              <a:rPr lang="en-US" altLang="zh-TW" sz="1600" dirty="0">
                <a:latin typeface="+mj-ea"/>
                <a:ea typeface="+mj-ea"/>
              </a:rPr>
              <a:t>Q1</a:t>
            </a:r>
            <a:r>
              <a:rPr lang="zh-TW" altLang="en-US" sz="1600" dirty="0">
                <a:latin typeface="+mj-ea"/>
                <a:ea typeface="+mj-ea"/>
              </a:rPr>
              <a:t>佔全年發行比重僅約</a:t>
            </a:r>
            <a:r>
              <a:rPr lang="en-US" altLang="zh-TW" sz="1600" dirty="0">
                <a:latin typeface="+mj-ea"/>
                <a:ea typeface="+mj-ea"/>
              </a:rPr>
              <a:t>15%</a:t>
            </a:r>
            <a:r>
              <a:rPr lang="zh-TW" altLang="en-US" sz="1600" dirty="0">
                <a:latin typeface="+mj-ea"/>
                <a:ea typeface="+mj-ea"/>
              </a:rPr>
              <a:t>。</a:t>
            </a:r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endParaRPr lang="en-US" altLang="zh-TW" sz="2000" dirty="0"/>
          </a:p>
          <a:p>
            <a:endParaRPr lang="zh-TW" altLang="en-US" sz="2000" dirty="0"/>
          </a:p>
        </p:txBody>
      </p:sp>
      <p:graphicFrame>
        <p:nvGraphicFramePr>
          <p:cNvPr id="15" name="圖表 14">
            <a:extLst>
              <a:ext uri="{FF2B5EF4-FFF2-40B4-BE49-F238E27FC236}">
                <a16:creationId xmlns:a16="http://schemas.microsoft.com/office/drawing/2014/main" id="{B36FD2A6-89B8-4CD1-9920-586734BED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052768"/>
              </p:ext>
            </p:extLst>
          </p:nvPr>
        </p:nvGraphicFramePr>
        <p:xfrm>
          <a:off x="323528" y="3789039"/>
          <a:ext cx="3888432" cy="2808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C8A5BD1A-825E-4CB1-B64F-C0F31CFADC87}"/>
              </a:ext>
            </a:extLst>
          </p:cNvPr>
          <p:cNvCxnSpPr>
            <a:cxnSpLocks/>
          </p:cNvCxnSpPr>
          <p:nvPr/>
        </p:nvCxnSpPr>
        <p:spPr bwMode="auto">
          <a:xfrm flipV="1">
            <a:off x="2771800" y="4282830"/>
            <a:ext cx="0" cy="1558749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BA117E4C-77D1-44BC-8E33-4581F531206B}"/>
              </a:ext>
            </a:extLst>
          </p:cNvPr>
          <p:cNvGraphicFramePr>
            <a:graphicFrameLocks noGrp="1"/>
          </p:cNvGraphicFramePr>
          <p:nvPr/>
        </p:nvGraphicFramePr>
        <p:xfrm>
          <a:off x="4776899" y="4195659"/>
          <a:ext cx="3821783" cy="1645920"/>
        </p:xfrm>
        <a:graphic>
          <a:graphicData uri="http://schemas.openxmlformats.org/drawingml/2006/table">
            <a:tbl>
              <a:tblPr/>
              <a:tblGrid>
                <a:gridCol w="822409">
                  <a:extLst>
                    <a:ext uri="{9D8B030D-6E8A-4147-A177-3AD203B41FA5}">
                      <a16:colId xmlns:a16="http://schemas.microsoft.com/office/drawing/2014/main" val="3468543795"/>
                    </a:ext>
                  </a:extLst>
                </a:gridCol>
                <a:gridCol w="2080211">
                  <a:extLst>
                    <a:ext uri="{9D8B030D-6E8A-4147-A177-3AD203B41FA5}">
                      <a16:colId xmlns:a16="http://schemas.microsoft.com/office/drawing/2014/main" val="430104609"/>
                    </a:ext>
                  </a:extLst>
                </a:gridCol>
                <a:gridCol w="919163">
                  <a:extLst>
                    <a:ext uri="{9D8B030D-6E8A-4147-A177-3AD203B41FA5}">
                      <a16:colId xmlns:a16="http://schemas.microsoft.com/office/drawing/2014/main" val="1336916301"/>
                    </a:ext>
                  </a:extLst>
                </a:gridCol>
              </a:tblGrid>
              <a:tr h="141482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半年來兩年期定存單標售概況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9716"/>
                  </a:ext>
                </a:extLst>
              </a:tr>
              <a:tr h="13533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加權平均得標利率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投標倍數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065154"/>
                  </a:ext>
                </a:extLst>
              </a:tr>
              <a:tr h="1353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1.449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3.37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574931"/>
                  </a:ext>
                </a:extLst>
              </a:tr>
              <a:tr h="1353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1.430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3.89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4558"/>
                  </a:ext>
                </a:extLst>
              </a:tr>
              <a:tr h="1353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1.413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3.93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991293"/>
                  </a:ext>
                </a:extLst>
              </a:tr>
              <a:tr h="1353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1.384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201327"/>
                  </a:ext>
                </a:extLst>
              </a:tr>
              <a:tr h="1353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1.368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3.42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8675603"/>
                  </a:ext>
                </a:extLst>
              </a:tr>
              <a:tr h="1353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1.331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4.78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093406"/>
                  </a:ext>
                </a:extLst>
              </a:tr>
              <a:tr h="1353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1.244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4.65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92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034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188" y="188640"/>
            <a:ext cx="8075612" cy="719410"/>
          </a:xfrm>
        </p:spPr>
        <p:txBody>
          <a:bodyPr/>
          <a:lstStyle/>
          <a:p>
            <a:pPr marL="984250" indent="-984250"/>
            <a:r>
              <a:rPr lang="zh-TW" altLang="en-US" sz="1000" dirty="0"/>
              <a:t>策略</a:t>
            </a:r>
            <a:r>
              <a:rPr lang="en-US" altLang="zh-TW" sz="1000" dirty="0"/>
              <a:t>:</a:t>
            </a:r>
            <a:r>
              <a:rPr lang="zh-TW" altLang="en-US" sz="1000" dirty="0"/>
              <a:t> 台債</a:t>
            </a:r>
            <a:r>
              <a:rPr lang="en-US" altLang="zh-TW" sz="1000" dirty="0"/>
              <a:t>20Y+</a:t>
            </a:r>
            <a:r>
              <a:rPr lang="zh-TW" altLang="en-US" sz="1000" dirty="0"/>
              <a:t>長券偏多操作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4194" y="1412776"/>
            <a:ext cx="8075612" cy="3168352"/>
          </a:xfrm>
        </p:spPr>
        <p:txBody>
          <a:bodyPr/>
          <a:lstStyle/>
          <a:p>
            <a:endParaRPr lang="zh-TW" altLang="zh-TW" sz="2000" dirty="0">
              <a:effectLst/>
              <a:latin typeface="+mj-ea"/>
              <a:ea typeface="+mj-ea"/>
              <a:cs typeface="新細明體" panose="02020500000000000000" charset="-120"/>
            </a:endParaRPr>
          </a:p>
          <a:p>
            <a:pPr marL="0" indent="0">
              <a:buNone/>
            </a:pPr>
            <a:endParaRPr lang="en-US" altLang="zh-TW" sz="2000" dirty="0"/>
          </a:p>
          <a:p>
            <a:endParaRPr lang="zh-TW" altLang="en-US" sz="2000" dirty="0"/>
          </a:p>
        </p:txBody>
      </p:sp>
      <p:sp>
        <p:nvSpPr>
          <p:cNvPr id="12" name="內容版面配置區 2"/>
          <p:cNvSpPr>
            <a:spLocks noGrp="1"/>
          </p:cNvSpPr>
          <p:nvPr/>
        </p:nvSpPr>
        <p:spPr>
          <a:xfrm>
            <a:off x="166147" y="1197422"/>
            <a:ext cx="8811706" cy="12234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21" tIns="45710" rIns="91421" bIns="4571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9pPr>
          </a:lstStyle>
          <a:p>
            <a:r>
              <a:rPr lang="zh-TW" altLang="en-US" sz="2000" dirty="0">
                <a:latin typeface="+mj-ea"/>
                <a:ea typeface="+mj-ea"/>
              </a:rPr>
              <a:t>根據內外部環境，預估台灣央行無升息風險</a:t>
            </a:r>
            <a:endParaRPr lang="en-US" altLang="zh-TW" sz="2000" dirty="0">
              <a:latin typeface="+mj-ea"/>
              <a:ea typeface="+mj-ea"/>
            </a:endParaRPr>
          </a:p>
          <a:p>
            <a:pPr lvl="1"/>
            <a:r>
              <a:rPr lang="zh-TW" altLang="en-US" sz="1600" dirty="0">
                <a:latin typeface="+mj-ea"/>
                <a:ea typeface="+mj-ea"/>
              </a:rPr>
              <a:t>美國開啟新一輪降息：市場預期至</a:t>
            </a:r>
            <a:r>
              <a:rPr lang="en-US" altLang="zh-TW" sz="1600" dirty="0">
                <a:latin typeface="+mj-ea"/>
                <a:ea typeface="+mj-ea"/>
              </a:rPr>
              <a:t>2026</a:t>
            </a:r>
            <a:r>
              <a:rPr lang="zh-TW" altLang="en-US" sz="1600" dirty="0">
                <a:latin typeface="+mj-ea"/>
                <a:ea typeface="+mj-ea"/>
              </a:rPr>
              <a:t>年底再降</a:t>
            </a:r>
            <a:r>
              <a:rPr lang="en-US" altLang="zh-TW" sz="1600" dirty="0">
                <a:latin typeface="+mj-ea"/>
                <a:ea typeface="+mj-ea"/>
              </a:rPr>
              <a:t>5</a:t>
            </a:r>
            <a:r>
              <a:rPr lang="zh-TW" altLang="en-US" sz="1600" dirty="0">
                <a:latin typeface="+mj-ea"/>
                <a:ea typeface="+mj-ea"/>
              </a:rPr>
              <a:t>碼</a:t>
            </a:r>
            <a:endParaRPr lang="en-US" altLang="zh-TW" sz="2000" dirty="0">
              <a:latin typeface="+mj-ea"/>
              <a:ea typeface="+mj-ea"/>
            </a:endParaRPr>
          </a:p>
          <a:p>
            <a:pPr lvl="1"/>
            <a:r>
              <a:rPr lang="zh-TW" altLang="en-US" sz="1600" dirty="0">
                <a:latin typeface="+mj-ea"/>
                <a:ea typeface="+mj-ea"/>
              </a:rPr>
              <a:t>台灣明年</a:t>
            </a:r>
            <a:r>
              <a:rPr lang="en-US" altLang="zh-TW" sz="1600" dirty="0">
                <a:latin typeface="+mj-ea"/>
                <a:ea typeface="+mj-ea"/>
              </a:rPr>
              <a:t>GDP</a:t>
            </a:r>
            <a:r>
              <a:rPr lang="zh-TW" altLang="en-US" sz="1600" dirty="0">
                <a:latin typeface="+mj-ea"/>
                <a:ea typeface="+mj-ea"/>
              </a:rPr>
              <a:t>預估：</a:t>
            </a:r>
            <a:r>
              <a:rPr lang="en-US" altLang="zh-TW" sz="1600" dirty="0">
                <a:latin typeface="+mj-ea"/>
                <a:ea typeface="+mj-ea"/>
              </a:rPr>
              <a:t>+2.68%</a:t>
            </a:r>
          </a:p>
          <a:p>
            <a:pPr lvl="1"/>
            <a:r>
              <a:rPr lang="zh-TW" altLang="en-US" sz="1600" dirty="0">
                <a:latin typeface="+mj-ea"/>
                <a:ea typeface="+mj-ea"/>
              </a:rPr>
              <a:t>台灣明年</a:t>
            </a:r>
            <a:r>
              <a:rPr lang="en-US" altLang="zh-TW" sz="1600" dirty="0">
                <a:latin typeface="+mj-ea"/>
                <a:ea typeface="+mj-ea"/>
              </a:rPr>
              <a:t>CPI</a:t>
            </a:r>
            <a:r>
              <a:rPr lang="zh-TW" altLang="en-US" sz="1600" dirty="0">
                <a:latin typeface="+mj-ea"/>
                <a:ea typeface="+mj-ea"/>
              </a:rPr>
              <a:t>預估：</a:t>
            </a:r>
            <a:r>
              <a:rPr lang="en-US" altLang="zh-TW" sz="1600" dirty="0">
                <a:latin typeface="+mj-ea"/>
                <a:ea typeface="+mj-ea"/>
              </a:rPr>
              <a:t>+1.66%</a:t>
            </a: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lvl="1"/>
            <a:r>
              <a:rPr lang="zh-TW" altLang="en-US" sz="1600" dirty="0">
                <a:latin typeface="+mj-ea"/>
                <a:ea typeface="+mj-ea"/>
              </a:rPr>
              <a:t>台債各年期利率：</a:t>
            </a:r>
            <a:r>
              <a:rPr lang="en-US" altLang="zh-TW" sz="1600" dirty="0">
                <a:latin typeface="+mj-ea"/>
                <a:ea typeface="+mj-ea"/>
              </a:rPr>
              <a:t>10y 1.249%; 20y 1.355%;</a:t>
            </a:r>
            <a:r>
              <a:rPr lang="zh-TW" altLang="en-US" sz="1600" dirty="0">
                <a:latin typeface="+mj-ea"/>
                <a:ea typeface="+mj-ea"/>
              </a:rPr>
              <a:t> </a:t>
            </a:r>
            <a:r>
              <a:rPr lang="en-US" altLang="zh-TW" sz="1600" dirty="0">
                <a:latin typeface="+mj-ea"/>
                <a:ea typeface="+mj-ea"/>
              </a:rPr>
              <a:t>30y</a:t>
            </a:r>
            <a:r>
              <a:rPr lang="zh-TW" altLang="en-US" sz="1600" dirty="0">
                <a:latin typeface="+mj-ea"/>
                <a:ea typeface="+mj-ea"/>
              </a:rPr>
              <a:t> </a:t>
            </a:r>
            <a:r>
              <a:rPr lang="en-US" altLang="zh-TW" sz="1600" dirty="0">
                <a:latin typeface="+mj-ea"/>
                <a:ea typeface="+mj-ea"/>
              </a:rPr>
              <a:t>1.47%</a:t>
            </a:r>
          </a:p>
          <a:p>
            <a:pPr lvl="1"/>
            <a:r>
              <a:rPr lang="zh-TW" altLang="en-US" sz="1600" dirty="0">
                <a:latin typeface="+mj-ea"/>
                <a:ea typeface="+mj-ea"/>
              </a:rPr>
              <a:t>證券商</a:t>
            </a:r>
            <a:r>
              <a:rPr lang="en-US" altLang="zh-TW" sz="1600" dirty="0">
                <a:latin typeface="+mj-ea"/>
                <a:ea typeface="+mj-ea"/>
              </a:rPr>
              <a:t>RP</a:t>
            </a:r>
            <a:r>
              <a:rPr lang="zh-TW" altLang="en-US" sz="1600" dirty="0">
                <a:latin typeface="+mj-ea"/>
                <a:ea typeface="+mj-ea"/>
              </a:rPr>
              <a:t>利率：</a:t>
            </a:r>
            <a:r>
              <a:rPr lang="en-US" altLang="zh-TW" sz="1600" dirty="0">
                <a:latin typeface="+mj-ea"/>
                <a:ea typeface="+mj-ea"/>
              </a:rPr>
              <a:t>1.05%~1.20%</a:t>
            </a: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endParaRPr lang="en-US" altLang="zh-TW" sz="2000" dirty="0"/>
          </a:p>
          <a:p>
            <a:endParaRPr lang="zh-TW" altLang="en-US" sz="2000" dirty="0"/>
          </a:p>
        </p:txBody>
      </p:sp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09727376-029C-4B3F-997B-BC273A92D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046390"/>
              </p:ext>
            </p:extLst>
          </p:nvPr>
        </p:nvGraphicFramePr>
        <p:xfrm>
          <a:off x="1187624" y="3717032"/>
          <a:ext cx="6408712" cy="252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24264CFB-E36F-405E-BB26-28DFD460B736}"/>
              </a:ext>
            </a:extLst>
          </p:cNvPr>
          <p:cNvSpPr>
            <a:spLocks noGrp="1"/>
          </p:cNvSpPr>
          <p:nvPr/>
        </p:nvSpPr>
        <p:spPr>
          <a:xfrm>
            <a:off x="243141" y="2564234"/>
            <a:ext cx="8811706" cy="12234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21" tIns="45710" rIns="91421" bIns="4571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9pPr>
          </a:lstStyle>
          <a:p>
            <a:endParaRPr lang="en-US" altLang="zh-TW" sz="20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endParaRPr lang="en-US" altLang="zh-TW" sz="2000" dirty="0"/>
          </a:p>
          <a:p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42179200"/>
      </p:ext>
    </p:extLst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3000509000000000000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3000509000000000000" pitchFamily="65" charset="-120"/>
          </a:defRPr>
        </a:defPPr>
      </a:lstStyle>
    </a:lnDef>
    <a:txDef>
      <a:spPr bwMode="auto">
        <a:noFill/>
        <a:ln>
          <a:noFill/>
        </a:ln>
      </a:spPr>
      <a:bodyPr>
        <a:spAutoFit/>
      </a:bodyPr>
      <a:lstStyle>
        <a:defPPr algn="l" eaLnBrk="1" hangingPunct="1">
          <a:defRPr sz="1600" dirty="0"/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274</Words>
  <Application>Microsoft Office PowerPoint</Application>
  <PresentationFormat>如螢幕大小 (4:3)</PresentationFormat>
  <Paragraphs>60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11</vt:i4>
      </vt:variant>
      <vt:variant>
        <vt:lpstr>投影片標題</vt:lpstr>
      </vt:variant>
      <vt:variant>
        <vt:i4>2</vt:i4>
      </vt:variant>
    </vt:vector>
  </HeadingPairs>
  <TitlesOfParts>
    <vt:vector size="19" baseType="lpstr">
      <vt:lpstr>微軟正黑體</vt:lpstr>
      <vt:lpstr>標楷體</vt:lpstr>
      <vt:lpstr>Arial</vt:lpstr>
      <vt:lpstr>Calibri</vt:lpstr>
      <vt:lpstr>Perpetua</vt:lpstr>
      <vt:lpstr>Wingdings</vt:lpstr>
      <vt:lpstr>3_自訂設計</vt:lpstr>
      <vt:lpstr>4_自訂設計</vt:lpstr>
      <vt:lpstr>自訂設計</vt:lpstr>
      <vt:lpstr>6_自訂設計</vt:lpstr>
      <vt:lpstr>1_自訂設計</vt:lpstr>
      <vt:lpstr>7_自訂設計</vt:lpstr>
      <vt:lpstr>5_自訂設計</vt:lpstr>
      <vt:lpstr>8_自訂設計</vt:lpstr>
      <vt:lpstr>9_自訂設計</vt:lpstr>
      <vt:lpstr>10_自訂設計</vt:lpstr>
      <vt:lpstr>11_自訂設計</vt:lpstr>
      <vt:lpstr>策略: 台債20Y+長券偏多操作</vt:lpstr>
      <vt:lpstr>策略: 台債20Y+長券偏多操作</vt:lpstr>
    </vt:vector>
  </TitlesOfParts>
  <Company>tsb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870705</dc:creator>
  <cp:lastModifiedBy>王信閎</cp:lastModifiedBy>
  <cp:revision>6083</cp:revision>
  <cp:lastPrinted>2025-07-21T05:27:00Z</cp:lastPrinted>
  <dcterms:created xsi:type="dcterms:W3CDTF">2004-04-09T03:27:00Z</dcterms:created>
  <dcterms:modified xsi:type="dcterms:W3CDTF">2025-10-23T09:35:21Z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</Properties>
</file>