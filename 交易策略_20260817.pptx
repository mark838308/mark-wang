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09" r:id="rId8"/>
    <p:sldMasterId id="2147483722" r:id="rId9"/>
    <p:sldMasterId id="2147483723" r:id="rId10"/>
    <p:sldMasterId id="2147483724" r:id="rId11"/>
    <p:sldMasterId id="2147483725" r:id="rId12"/>
  </p:sldMasterIdLst>
  <p:notesMasterIdLst>
    <p:notesMasterId r:id="rId15"/>
  </p:notesMasterIdLst>
  <p:handoutMasterIdLst>
    <p:handoutMasterId r:id="rId16"/>
  </p:handoutMasterIdLst>
  <p:sldIdLst>
    <p:sldId id="3951" r:id="rId13"/>
    <p:sldId id="3955" r:id="rId14"/>
  </p:sldIdLst>
  <p:sldSz cx="9144000" cy="6858000" type="screen4x3"/>
  <p:notesSz cx="6797675" cy="992632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42AA3BAE-0B5A-4CF3-9EE5-B8ACC2ADE216}">
          <p14:sldIdLst>
            <p14:sldId id="3955"/>
            <p14:sldId id="3951"/>
          </p14:sldIdLst>
        </p14:section>
      </p14:section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陳柏龍" initials="陳柏龍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11111"/>
    <a:srgbClr val="CC00CC"/>
    <a:srgbClr val="0000FF"/>
    <a:srgbClr val="FF3300"/>
    <a:srgbClr val="00FF00"/>
    <a:srgbClr val="3333FF"/>
    <a:srgbClr val="800000"/>
    <a:srgbClr val="4D4D4D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52" autoAdjust="0"/>
    <p:restoredTop sz="96000" autoAdjust="0"/>
  </p:normalViewPr>
  <p:slideViewPr>
    <p:cSldViewPr>
      <p:cViewPr varScale="1">
        <p:scale>
          <a:sx n="109" d="100"/>
          <a:sy n="109" d="100"/>
        </p:scale>
        <p:origin x="1080" y="96"/>
      </p:cViewPr>
      <p:guideLst>
        <p:guide orient="horz" pos="2160"/>
        <p:guide pos="28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67" y="-158"/>
      </p:cViewPr>
      <p:guideLst>
        <p:guide orient="horz" pos="3126"/>
        <p:guide pos="208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70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700" y="9431640"/>
            <a:ext cx="2945976" cy="49499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EA90D26C-E35A-450B-90C7-84C2B9602168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645" y="1"/>
            <a:ext cx="2945976" cy="49500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59350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4" y="4714708"/>
            <a:ext cx="5437507" cy="44661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t" anchorCtr="0" compatLnSpc="1"/>
          <a:lstStyle/>
          <a:p>
            <a:pPr lvl="0"/>
            <a:r>
              <a:rPr lang="zh-TW" altLang="en-US" noProof="0"/>
              <a:t>按一下以編輯母片</a:t>
            </a:r>
            <a:endParaRPr lang="zh-TW" altLang="en-US" noProof="0"/>
          </a:p>
          <a:p>
            <a:pPr lvl="1"/>
            <a:r>
              <a:rPr lang="zh-TW" altLang="en-US" noProof="0"/>
              <a:t>第二層</a:t>
            </a:r>
            <a:endParaRPr lang="zh-TW" altLang="en-US" noProof="0"/>
          </a:p>
          <a:p>
            <a:pPr lvl="2"/>
            <a:r>
              <a:rPr lang="zh-TW" altLang="en-US" noProof="0"/>
              <a:t>第三層</a:t>
            </a:r>
            <a:endParaRPr lang="zh-TW" altLang="en-US" noProof="0"/>
          </a:p>
          <a:p>
            <a:pPr lvl="3"/>
            <a:r>
              <a:rPr lang="zh-TW" altLang="en-US" noProof="0"/>
              <a:t>第四層</a:t>
            </a:r>
            <a:endParaRPr lang="zh-TW" altLang="en-US" noProof="0"/>
          </a:p>
          <a:p>
            <a:pPr lvl="4"/>
            <a:r>
              <a:rPr lang="zh-TW" altLang="en-US" noProof="0"/>
              <a:t>第五層</a:t>
            </a:r>
            <a:endParaRPr lang="zh-TW" altLang="en-US" noProof="0"/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645" y="9427200"/>
            <a:ext cx="2945976" cy="497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431" tIns="46215" rIns="92431" bIns="46215" numCol="1" anchor="b" anchorCtr="0" compatLnSpc="1"/>
          <a:lstStyle>
            <a:lvl1pPr algn="r" defTabSz="923290">
              <a:defRPr sz="13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60372AD-F29F-4D0F-B513-7219CBDC5F6C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795C5F3-99EF-4E92-8313-B7FF534E285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C1600-8D42-4597-8CA4-003D095EE2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8B98E4D-4090-4CC7-9045-046950355E56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5D5151-29A4-4CB4-A045-9F637401C9A8}" type="slidenum">
              <a:rPr lang="zh-TW" altLang="en-US">
                <a:solidFill>
                  <a:srgbClr val="000000"/>
                </a:solidFill>
              </a:rPr>
            </a:fld>
            <a:endParaRPr lang="en-US" altLang="zh-TW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6E22A7-EF76-4CC0-B8E4-4EB561235ED1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ADBB88C-6F0D-489F-9196-70DAAEBD32E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A33A2C2-189D-4B97-A621-9D17102788C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8DDDBE6-A36A-4B7F-BE7F-AF040721802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C80421-F154-4EB7-BAB9-B8AC9CBEFC83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3B3FE45-7674-409D-812E-F0930564FA9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F0156B-8B8C-4EE1-A506-9984D200E04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A91DC3-1E7A-4B25-8F56-B5B9998B32D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24797-BBCB-46D5-B74F-32D725404A6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3CE306-2D5A-4AB4-AC5D-5D21E1944430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9D7BD4-4153-4232-9FDF-0A95D9B5C8DE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BE1F83-3BEF-49AC-ABC8-8C6E80176E9C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52E88-0254-4B19-81B3-E8664451FBCF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697D7-8013-4975-95E3-48F7F3F7499B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A8A6C-E419-4A2D-A59F-0183255F70EA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F0E97-51B7-4FFA-9BFC-ED098C10D8ED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C0AC26-B1DC-4AE7-A939-642DE9D4B085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38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38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DB87F-1281-41B6-A636-95C78B523A08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43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9EB788-0AD9-4E98-A516-64653248E3D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>
              <a:defRPr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  <a:p>
            <a:pPr lvl="3"/>
            <a:r>
              <a:rPr lang="zh-TW" altLang="en-US" dirty="0"/>
              <a:t>第四層</a:t>
            </a:r>
            <a:endParaRPr lang="zh-TW" altLang="en-US" dirty="0"/>
          </a:p>
          <a:p>
            <a:pPr lvl="4"/>
            <a:r>
              <a:rPr lang="zh-TW" altLang="en-US" dirty="0"/>
              <a:t>第五層</a:t>
            </a:r>
            <a:endParaRPr lang="zh-TW" altLang="en-US" dirty="0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992E49-B35D-4BA4-A4A1-D07A03DA561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8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F7D15B-E003-4EB9-A608-239C444D5E9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11188" y="1196975"/>
            <a:ext cx="3960812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724400" y="1196975"/>
            <a:ext cx="3962400" cy="49291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BC68BE-B4B0-4564-B8AC-726B6F10D4A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274638"/>
            <a:ext cx="8075240" cy="6340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717D7-C8B0-44C5-A62F-3567BF53D398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A067D-AD37-4A18-A34B-F0E66789EA77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0777A-41B7-4B1E-A08A-E8D84746337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8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93CA9-BA81-47AA-823D-8B709A5D2C4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6ADD22-6B71-41C3-A3B2-EF9911ADB281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9F7AEA-34EA-4C76-9A47-D6871C043AB0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69088" y="274656"/>
            <a:ext cx="2017712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11188" y="274656"/>
            <a:ext cx="59055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654D6-15C0-494A-B753-0640DB25B203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11188" y="274656"/>
            <a:ext cx="8075612" cy="5851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502D48-BB1D-4132-8A0E-4D78DE52EF5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4" Type="http://schemas.openxmlformats.org/officeDocument/2006/relationships/theme" Target="../theme/theme7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/>
            </a:fld>
            <a:endParaRPr lang="en-US" altLang="zh-TW"/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/>
            </a:lvl1pPr>
          </a:lstStyle>
          <a:p>
            <a:fld id="{32523EE1-814A-4436-A9F0-90FC08ED8A92}" type="slidenum">
              <a:rPr lang="zh-TW" altLang="en-US">
                <a:solidFill>
                  <a:srgbClr val="000000"/>
                </a:solidFill>
                <a:ea typeface="新細明體" panose="02020500000000000000" charset="-120"/>
              </a:rPr>
            </a:fld>
            <a:endParaRPr lang="en-US" altLang="zh-TW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90567" name="Picture 7" descr="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97FB-EFBE-4ED6-A43F-DDA1512FD57C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C0E97A-62D1-41C7-936F-199E295F9AB2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563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75688" y="6642100"/>
            <a:ext cx="468312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7" tIns="45718" rIns="91437" bIns="45718" numCol="1" anchor="t" anchorCtr="0" compatLnSpc="1"/>
          <a:lstStyle>
            <a:lvl1pPr algn="r">
              <a:defRPr sz="1200">
                <a:ea typeface="新細明體" panose="02020500000000000000" charset="-120"/>
              </a:defRPr>
            </a:lvl1pPr>
          </a:lstStyle>
          <a:p>
            <a:pPr>
              <a:defRPr/>
            </a:pPr>
            <a:fld id="{3F21431A-0C06-4923-9B61-C55D1AEC9577}" type="slidenum">
              <a:rPr lang="zh-TW" altLang="en-US">
                <a:solidFill>
                  <a:srgbClr val="000000"/>
                </a:solidFill>
              </a:rPr>
            </a:fld>
            <a:endParaRPr lang="en-US" altLang="zh-TW">
              <a:solidFill>
                <a:srgbClr val="000000"/>
              </a:solidFill>
            </a:endParaRPr>
          </a:p>
        </p:txBody>
      </p:sp>
      <p:sp>
        <p:nvSpPr>
          <p:cNvPr id="1090564" name="Text Box 4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lIns="91437" tIns="45718" rIns="91437" bIns="4571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TW" altLang="en-US" sz="1000">
                <a:solidFill>
                  <a:srgbClr val="80808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rgbClr val="80808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90565" name="Line 5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sp>
        <p:nvSpPr>
          <p:cNvPr id="1090566" name="Line 6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</p:spPr>
        <p:txBody>
          <a:bodyPr/>
          <a:lstStyle/>
          <a:p>
            <a:pPr>
              <a:defRPr/>
            </a:pPr>
            <a:endParaRPr lang="zh-TW" altLang="en-US">
              <a:solidFill>
                <a:srgbClr val="000000"/>
              </a:solidFill>
              <a:ea typeface="新細明體" panose="02020500000000000000" charset="-120"/>
            </a:endParaRPr>
          </a:p>
        </p:txBody>
      </p:sp>
      <p:pic>
        <p:nvPicPr>
          <p:cNvPr id="1030" name="Picture 7" descr="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90568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9056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7" tIns="45718" rIns="91437" bIns="45718" numCol="1" anchor="t" anchorCtr="0" compatLnSpc="1"/>
          <a:lstStyle/>
          <a:p>
            <a:pPr lvl="0"/>
            <a:r>
              <a:rPr lang="zh-TW" altLang="en-US"/>
              <a:t>按一下以編輯母片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0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0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905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905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8" grpId="0"/>
      <p:bldP spid="1090569" grpId="0" build="p">
        <p:tmplLst>
          <p:tmpl lvl="1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905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905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  <a:endParaRPr lang="zh-TW" altLang="en-US"/>
          </a:p>
          <a:p>
            <a:pPr lvl="1"/>
            <a:r>
              <a:rPr lang="zh-TW" altLang="en-US"/>
              <a:t>第二層</a:t>
            </a:r>
            <a:endParaRPr lang="zh-TW" altLang="en-US"/>
          </a:p>
          <a:p>
            <a:pPr lvl="2"/>
            <a:r>
              <a:rPr lang="zh-TW" altLang="en-US"/>
              <a:t>第三層</a:t>
            </a:r>
            <a:endParaRPr lang="zh-TW" altLang="en-US"/>
          </a:p>
          <a:p>
            <a:pPr lvl="3"/>
            <a:r>
              <a:rPr lang="zh-TW" altLang="en-US"/>
              <a:t>第四層</a:t>
            </a:r>
            <a:endParaRPr lang="zh-TW" altLang="en-US"/>
          </a:p>
          <a:p>
            <a:pPr lvl="4"/>
            <a:r>
              <a:rPr lang="zh-TW" altLang="en-US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FF09E-4EA0-4518-A9E8-449DE34F8B74}" type="datetimeFigureOut">
              <a:rPr lang="zh-TW" altLang="en-US" smtClean="0"/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C9021-A16D-4E5C-A421-A5275F523D45}" type="slidenum">
              <a:rPr lang="zh-TW" altLang="en-US" smtClean="0"/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spcBef>
                <a:spcPct val="0"/>
              </a:spcBef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381750"/>
            <a:ext cx="468313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>
            <a:lvl1pPr algn="r">
              <a:spcBef>
                <a:spcPct val="0"/>
              </a:spcBef>
              <a:defRPr sz="1200">
                <a:latin typeface="Arial" panose="020B0604020202020204" pitchFamily="34" charset="0"/>
                <a:ea typeface="新細明體" panose="02020500000000000000" charset="-120"/>
              </a:defRPr>
            </a:lvl1pPr>
          </a:lstStyle>
          <a:p>
            <a:pPr>
              <a:defRPr/>
            </a:pPr>
            <a:fld id="{A9CD9766-93A3-4E76-9B20-A4D620225CC1}" type="slidenum">
              <a:rPr lang="en-US" altLang="zh-TW"/>
            </a:fld>
            <a:endParaRPr lang="en-US" altLang="zh-TW" dirty="0"/>
          </a:p>
        </p:txBody>
      </p:sp>
      <p:sp>
        <p:nvSpPr>
          <p:cNvPr id="1027" name="Text Box 21"/>
          <p:cNvSpPr txBox="1">
            <a:spLocks noChangeArrowheads="1"/>
          </p:cNvSpPr>
          <p:nvPr/>
        </p:nvSpPr>
        <p:spPr bwMode="auto">
          <a:xfrm>
            <a:off x="468313" y="6453188"/>
            <a:ext cx="2303462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1" tIns="45710" rIns="91421" bIns="45710">
            <a:spAutoFit/>
          </a:bodyPr>
          <a:lstStyle>
            <a:lvl1pPr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algn="l" eaLnBrk="1" hangingPunct="1">
              <a:defRPr/>
            </a:pPr>
            <a:r>
              <a:rPr lang="zh-TW" altLang="en-US" sz="1000">
                <a:solidFill>
                  <a:schemeClr val="bg2"/>
                </a:solidFill>
                <a:latin typeface="標楷體" panose="03000509000000000000" pitchFamily="65" charset="-120"/>
              </a:rPr>
              <a:t>誠信  承諾  創新  合作</a:t>
            </a:r>
            <a:endParaRPr lang="zh-TW" altLang="en-US" sz="1000">
              <a:solidFill>
                <a:schemeClr val="bg2"/>
              </a:solidFill>
              <a:latin typeface="標楷體" panose="03000509000000000000" pitchFamily="65" charset="-120"/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2051050" y="6597650"/>
            <a:ext cx="58340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63087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274638"/>
            <a:ext cx="6697662" cy="633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ctr" anchorCtr="0" compatLnSpc="1"/>
          <a:lstStyle/>
          <a:p>
            <a:pPr lvl="0"/>
            <a:r>
              <a:rPr lang="zh-TW" altLang="en-US" dirty="0"/>
              <a:t>按一下以編輯母片標題樣式</a:t>
            </a:r>
            <a:endParaRPr lang="zh-TW" altLang="en-US" dirty="0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8" y="1196975"/>
            <a:ext cx="8075612" cy="4929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1" tIns="45710" rIns="91421" bIns="4571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zh-TW" altLang="en-US" sz="3000" b="1" smtClean="0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000" b="1">
          <a:solidFill>
            <a:schemeClr val="tx2"/>
          </a:solidFill>
          <a:latin typeface="Arial" panose="020B0604020202020204" pitchFamily="34" charset="0"/>
          <a:ea typeface="標楷體" panose="03000509000000000000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4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17" descr="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7380" y="6258561"/>
            <a:ext cx="887628" cy="378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7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32826" y="6604911"/>
            <a:ext cx="1080000" cy="224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9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defTabSz="829310">
              <a:defRPr/>
            </a:pPr>
            <a:r>
              <a:rPr lang="zh-TW" altLang="en-US">
                <a:solidFill>
                  <a:prstClr val="black"/>
                </a:solidFill>
              </a:rPr>
              <a:t>第</a:t>
            </a:r>
            <a:fld id="{97E2107F-FE5C-4B21-9691-E81A2D991AEB}" type="slidenum">
              <a:rPr lang="en-US" altLang="zh-TW" smtClean="0">
                <a:solidFill>
                  <a:prstClr val="black"/>
                </a:solidFill>
              </a:rPr>
            </a:fld>
            <a:r>
              <a:rPr lang="zh-TW" altLang="en-US">
                <a:solidFill>
                  <a:prstClr val="black"/>
                </a:solidFill>
              </a:rPr>
              <a:t>頁</a:t>
            </a:r>
            <a:endParaRPr lang="en-US" altLang="zh-TW" dirty="0">
              <a:solidFill>
                <a:prstClr val="black"/>
              </a:solidFill>
            </a:endParaRPr>
          </a:p>
        </p:txBody>
      </p:sp>
      <p:sp>
        <p:nvSpPr>
          <p:cNvPr id="1028" name="Line 22"/>
          <p:cNvSpPr>
            <a:spLocks noChangeShapeType="1"/>
          </p:cNvSpPr>
          <p:nvPr/>
        </p:nvSpPr>
        <p:spPr bwMode="auto">
          <a:xfrm>
            <a:off x="611188" y="981075"/>
            <a:ext cx="80645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29" name="Line 23"/>
          <p:cNvSpPr>
            <a:spLocks noChangeShapeType="1"/>
          </p:cNvSpPr>
          <p:nvPr/>
        </p:nvSpPr>
        <p:spPr bwMode="auto">
          <a:xfrm>
            <a:off x="1894842" y="6511178"/>
            <a:ext cx="59400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82931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TW" altLang="en-US" sz="163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charset="-120"/>
              <a:cs typeface="+mn-cs"/>
            </a:endParaRPr>
          </a:p>
        </p:txBody>
      </p:sp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11190" y="225086"/>
            <a:ext cx="8047129" cy="697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TW" altLang="en-US"/>
              <a:t>按一下以編輯母片標題樣式</a:t>
            </a:r>
            <a:endParaRPr lang="zh-TW" altLang="en-US"/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1189" y="1195754"/>
            <a:ext cx="8047128" cy="5136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TW" altLang="en-US" dirty="0"/>
              <a:t>按一下以編輯母片</a:t>
            </a:r>
            <a:endParaRPr lang="zh-TW" altLang="en-US" dirty="0"/>
          </a:p>
          <a:p>
            <a:pPr lvl="1"/>
            <a:r>
              <a:rPr lang="zh-TW" altLang="en-US" dirty="0"/>
              <a:t>第二層</a:t>
            </a:r>
            <a:endParaRPr lang="zh-TW" altLang="en-US" dirty="0"/>
          </a:p>
          <a:p>
            <a:pPr lvl="2"/>
            <a:r>
              <a:rPr lang="zh-TW" altLang="en-US" dirty="0"/>
              <a:t>第三層</a:t>
            </a:r>
            <a:endParaRPr lang="zh-TW" altLang="en-US" dirty="0"/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549356" y="6368305"/>
            <a:ext cx="1727597" cy="218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544" tIns="33764" rIns="67544" bIns="33764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charset="-12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TW" altLang="en-US" sz="975" b="1" dirty="0">
                <a:solidFill>
                  <a:srgbClr val="80808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誠信  承諾  創新  合作</a:t>
            </a:r>
            <a:endParaRPr lang="zh-TW" altLang="en-US" sz="975" b="1" dirty="0">
              <a:solidFill>
                <a:srgbClr val="80808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5pPr>
      <a:lvl6pPr marL="41465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6pPr>
      <a:lvl7pPr marL="82931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7pPr>
      <a:lvl8pPr marL="1243965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8pPr>
      <a:lvl9pPr marL="1658620" algn="l" rtl="0" fontAlgn="base">
        <a:spcBef>
          <a:spcPct val="0"/>
        </a:spcBef>
        <a:spcAft>
          <a:spcPct val="0"/>
        </a:spcAft>
        <a:defRPr kumimoji="1" sz="2720" b="1">
          <a:solidFill>
            <a:schemeClr val="tx2"/>
          </a:solidFill>
          <a:latin typeface="標楷體" panose="03000509000000000000" pitchFamily="65" charset="-120"/>
          <a:ea typeface="標楷體" panose="03000509000000000000" pitchFamily="65" charset="-120"/>
        </a:defRPr>
      </a:lvl9pPr>
    </p:titleStyle>
    <p:bodyStyle>
      <a:lvl1pPr marL="311150" indent="-31115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217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73735" indent="-25908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sz="1815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2pPr>
      <a:lvl3pPr marL="1036955" indent="-207645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n"/>
        <a:defRPr kumimoji="1" b="1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</a:defRPr>
      </a:lvl3pPr>
      <a:lvl4pPr marL="1451610" indent="-207645" algn="l" rtl="0" eaLnBrk="0" fontAlgn="base" hangingPunct="0">
        <a:spcBef>
          <a:spcPct val="20000"/>
        </a:spcBef>
        <a:spcAft>
          <a:spcPct val="0"/>
        </a:spcAft>
        <a:buChar char="–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4pPr>
      <a:lvl5pPr marL="1866265" indent="-207645" algn="l" rtl="0" eaLnBrk="0" fontAlgn="base" hangingPunct="0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5pPr>
      <a:lvl6pPr marL="228092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6pPr>
      <a:lvl7pPr marL="269557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7pPr>
      <a:lvl8pPr marL="3110230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8pPr>
      <a:lvl9pPr marL="3524885" indent="-207645" algn="l" rtl="0" fontAlgn="base">
        <a:spcBef>
          <a:spcPct val="20000"/>
        </a:spcBef>
        <a:spcAft>
          <a:spcPct val="0"/>
        </a:spcAft>
        <a:buChar char="»"/>
        <a:defRPr kumimoji="1" sz="1815">
          <a:solidFill>
            <a:schemeClr val="tx1"/>
          </a:solidFill>
          <a:latin typeface="+mn-lt"/>
          <a:ea typeface="新細明體" panose="02020500000000000000" charset="-120"/>
        </a:defRPr>
      </a:lvl9pPr>
    </p:bodyStyle>
    <p:otherStyle>
      <a:defPPr>
        <a:defRPr lang="zh-TW"/>
      </a:defPPr>
      <a:lvl1pPr marL="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1pPr>
      <a:lvl2pPr marL="41465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2pPr>
      <a:lvl3pPr marL="82931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3pPr>
      <a:lvl4pPr marL="124396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4pPr>
      <a:lvl5pPr marL="16586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5pPr>
      <a:lvl6pPr marL="20732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6pPr>
      <a:lvl7pPr marL="248793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7pPr>
      <a:lvl8pPr marL="2903220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8pPr>
      <a:lvl9pPr marL="3317875" algn="l" defTabSz="829310" rtl="0" eaLnBrk="1" latinLnBrk="0" hangingPunct="1">
        <a:defRPr sz="16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7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7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11805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Pay JPY TONA 3Y IRS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0388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744250"/>
            <a:ext cx="8460740" cy="369443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BNP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報告指出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當前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日本央行持續落後於曲線</a:t>
            </a:r>
            <a:endParaRPr kumimoji="0"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26060" y="1336675"/>
            <a:ext cx="8871585" cy="45427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  <a:sym typeface="+mn-ea"/>
              </a:rPr>
              <a:t>《日本銀行法》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:BOJ</a:t>
            </a:r>
            <a:r>
              <a:rPr lang="zh-TW" altLang="en-US" sz="2000" dirty="0">
                <a:latin typeface="+mj-ea"/>
                <a:ea typeface="+mj-ea"/>
              </a:rPr>
              <a:t>過去受限高市政府抑制升息態度 </a:t>
            </a:r>
            <a:r>
              <a:rPr lang="en-US" altLang="zh-TW" sz="2000" dirty="0">
                <a:latin typeface="+mj-ea"/>
                <a:ea typeface="+mj-ea"/>
              </a:rPr>
              <a:t>&amp; </a:t>
            </a:r>
            <a:r>
              <a:rPr lang="zh-TW" altLang="en-US" sz="2000" dirty="0">
                <a:latin typeface="+mj-ea"/>
                <a:ea typeface="+mj-ea"/>
              </a:rPr>
              <a:t>內部低通膨預估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</a:rPr>
              <a:t>      </a:t>
            </a:r>
            <a:r>
              <a:rPr lang="zh-TW" altLang="en-US" sz="2000" dirty="0">
                <a:latin typeface="+mj-ea"/>
                <a:ea typeface="+mj-ea"/>
              </a:rPr>
              <a:t>→約每</a:t>
            </a:r>
            <a:r>
              <a:rPr lang="en-US" altLang="zh-TW" sz="2000" dirty="0">
                <a:latin typeface="+mj-ea"/>
                <a:ea typeface="+mj-ea"/>
              </a:rPr>
              <a:t>6~7</a:t>
            </a:r>
            <a:r>
              <a:rPr lang="zh-TW" altLang="en-US" sz="2000" dirty="0">
                <a:latin typeface="+mj-ea"/>
                <a:ea typeface="+mj-ea"/>
              </a:rPr>
              <a:t>個月升息一次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→當前政策利率</a:t>
            </a:r>
            <a:r>
              <a:rPr lang="en-US" altLang="zh-TW" sz="2000" dirty="0">
                <a:latin typeface="+mj-ea"/>
                <a:ea typeface="+mj-ea"/>
              </a:rPr>
              <a:t>1%</a:t>
            </a:r>
            <a:r>
              <a:rPr lang="zh-TW" altLang="en-US" sz="2000" dirty="0">
                <a:latin typeface="+mj-ea"/>
                <a:ea typeface="+mj-ea"/>
              </a:rPr>
              <a:t>，低於泰勒法則推算出的</a:t>
            </a:r>
            <a:r>
              <a:rPr lang="en-US" altLang="zh-TW" sz="2000" dirty="0">
                <a:latin typeface="+mj-ea"/>
                <a:ea typeface="+mj-ea"/>
              </a:rPr>
              <a:t>1.5%</a:t>
            </a:r>
            <a:r>
              <a:rPr lang="zh-TW" altLang="en-US" sz="2000" dirty="0">
                <a:latin typeface="+mj-ea"/>
                <a:ea typeface="+mj-ea"/>
              </a:rPr>
              <a:t>，落後</a:t>
            </a:r>
            <a:r>
              <a:rPr lang="en-US" altLang="zh-TW" sz="2000" dirty="0">
                <a:latin typeface="+mj-ea"/>
                <a:ea typeface="+mj-ea"/>
              </a:rPr>
              <a:t>50bps</a:t>
            </a:r>
            <a:endParaRPr lang="en-US" altLang="zh-TW" sz="20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近期來自高市政府的政治壓力下降</a:t>
            </a:r>
            <a:r>
              <a:rPr lang="en-US" altLang="zh-TW" sz="2000" dirty="0">
                <a:latin typeface="+mj-ea"/>
                <a:ea typeface="+mj-ea"/>
              </a:rPr>
              <a:t> &amp; </a:t>
            </a:r>
            <a:r>
              <a:rPr lang="zh-TW" altLang="en-US" sz="2000" dirty="0">
                <a:latin typeface="+mj-ea"/>
                <a:ea typeface="+mj-ea"/>
              </a:rPr>
              <a:t>下半年央行通膨立場轉變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zh-TW" sz="2000" dirty="0">
                <a:latin typeface="+mj-ea"/>
                <a:ea typeface="+mj-ea"/>
                <a:sym typeface="+mn-ea"/>
              </a:rPr>
              <a:t>      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→預估約每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3~6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個月升息一次</a:t>
            </a:r>
            <a:endParaRPr lang="en-US" altLang="zh-TW" sz="2000" dirty="0">
              <a:latin typeface="+mj-ea"/>
              <a:ea typeface="+mj-ea"/>
            </a:endParaRPr>
          </a:p>
          <a:p>
            <a:pPr marL="0" indent="0">
              <a:buNone/>
            </a:pPr>
            <a:r>
              <a:rPr lang="zh-TW" altLang="en-US" sz="2000" dirty="0">
                <a:latin typeface="+mj-ea"/>
                <a:ea typeface="+mj-ea"/>
              </a:rPr>
              <a:t>      →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終端利率預測從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2%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上調至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2.5%(2028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年中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)</a:t>
            </a: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pic>
        <p:nvPicPr>
          <p:cNvPr id="18" name="圖片 17" descr="S__65675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0" y="4895215"/>
            <a:ext cx="4324985" cy="18148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圖片 19" descr="S__6567527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145" y="4895215"/>
            <a:ext cx="4634865" cy="1816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 descr="f43ceb41-939b-446d-98f0-f62677c5e58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" y="1113790"/>
            <a:ext cx="9015730" cy="3714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188" y="128950"/>
            <a:ext cx="8075612" cy="719410"/>
          </a:xfrm>
        </p:spPr>
        <p:txBody>
          <a:bodyPr/>
          <a:lstStyle/>
          <a:p>
            <a:pPr marL="984250" indent="-984250"/>
            <a:r>
              <a:rPr lang="zh-TW" altLang="en-US" sz="2500" dirty="0"/>
              <a:t>交易策略：</a:t>
            </a:r>
            <a:r>
              <a:rPr lang="en-US" altLang="zh-TW" sz="2500" dirty="0"/>
              <a:t>Pay JPY TONA 3Y IRS</a:t>
            </a:r>
            <a:endParaRPr lang="en-US" altLang="zh-TW" sz="25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4829" y="1403886"/>
            <a:ext cx="8075612" cy="3168352"/>
          </a:xfrm>
        </p:spPr>
        <p:txBody>
          <a:bodyPr/>
          <a:lstStyle/>
          <a:p>
            <a:endParaRPr lang="zh-TW" altLang="zh-TW" sz="2000" dirty="0">
              <a:effectLst/>
              <a:latin typeface="+mj-ea"/>
              <a:ea typeface="+mj-ea"/>
              <a:cs typeface="新細明體" panose="02020500000000000000" charset="-120"/>
            </a:endParaRPr>
          </a:p>
          <a:p>
            <a:pPr marL="0" indent="0">
              <a:buNone/>
            </a:pPr>
            <a:endParaRPr lang="en-US" altLang="zh-TW" sz="2000" dirty="0"/>
          </a:p>
          <a:p>
            <a:endParaRPr lang="zh-TW" altLang="en-US" sz="2000" dirty="0"/>
          </a:p>
        </p:txBody>
      </p:sp>
      <p:sp>
        <p:nvSpPr>
          <p:cNvPr id="49" name="文字方塊 48"/>
          <p:cNvSpPr txBox="1"/>
          <p:nvPr/>
        </p:nvSpPr>
        <p:spPr>
          <a:xfrm>
            <a:off x="226060" y="848390"/>
            <a:ext cx="8460740" cy="369443"/>
          </a:xfrm>
          <a:prstGeom prst="roundRect">
            <a:avLst/>
          </a:prstGeom>
          <a:solidFill>
            <a:srgbClr val="2E75B6"/>
          </a:solidFill>
        </p:spPr>
        <p:txBody>
          <a:bodyPr wrap="square" tIns="36000" bIns="3600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TW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BNP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報告指出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sym typeface="+mn-ea"/>
              </a:rPr>
              <a:t>當前</a:t>
            </a:r>
            <a:r>
              <a:rPr kumimoji="0" lang="zh-TW" altLang="en-US" sz="16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日本央行持續落後於曲線</a:t>
            </a:r>
            <a:endParaRPr kumimoji="0" lang="zh-TW" altLang="en-US" sz="1600" b="1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內容版面配置區 2"/>
          <p:cNvSpPr>
            <a:spLocks noGrp="1"/>
          </p:cNvSpPr>
          <p:nvPr/>
        </p:nvSpPr>
        <p:spPr>
          <a:xfrm>
            <a:off x="226060" y="1336675"/>
            <a:ext cx="8930640" cy="4816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21" tIns="45710" rIns="91421" bIns="4571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4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sz="20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n"/>
              <a:defRPr kumimoji="1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新細明體" panose="02020500000000000000" charset="-120"/>
              </a:defRPr>
            </a:lvl9pPr>
          </a:lstStyle>
          <a:p>
            <a:r>
              <a:rPr lang="zh-TW" altLang="en-US" sz="2000" dirty="0">
                <a:latin typeface="+mj-ea"/>
                <a:ea typeface="+mj-ea"/>
              </a:rPr>
              <a:t>近期已較不受美國短率影響</a:t>
            </a:r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endParaRPr lang="zh-TW" altLang="en-US" sz="2000" dirty="0">
              <a:latin typeface="+mj-ea"/>
              <a:ea typeface="+mj-ea"/>
            </a:endParaRPr>
          </a:p>
          <a:p>
            <a:r>
              <a:rPr lang="zh-TW" altLang="en-US" sz="2000" dirty="0">
                <a:latin typeface="+mj-ea"/>
                <a:ea typeface="+mj-ea"/>
              </a:rPr>
              <a:t>對沖目前已有的收</a:t>
            </a:r>
            <a:r>
              <a:rPr lang="en-US" altLang="zh-TW" sz="2000" dirty="0">
                <a:latin typeface="+mj-ea"/>
                <a:ea typeface="+mj-ea"/>
              </a:rPr>
              <a:t>TWD IRS</a:t>
            </a:r>
            <a:r>
              <a:rPr lang="zh-TW" altLang="en-US" sz="2000" dirty="0">
                <a:latin typeface="+mj-ea"/>
                <a:ea typeface="+mj-ea"/>
              </a:rPr>
              <a:t>部位的上行風險</a:t>
            </a:r>
            <a:endParaRPr lang="zh-TW" altLang="en-US" sz="20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000" dirty="0">
              <a:latin typeface="+mj-ea"/>
              <a:ea typeface="+mj-ea"/>
            </a:endParaRPr>
          </a:p>
          <a:p>
            <a:endParaRPr lang="en-US" altLang="zh-TW" sz="1000" dirty="0">
              <a:latin typeface="+mj-ea"/>
              <a:ea typeface="+mj-ea"/>
            </a:endParaRPr>
          </a:p>
          <a:p>
            <a:r>
              <a:rPr lang="en-US" altLang="zh-TW" sz="2000" dirty="0">
                <a:latin typeface="+mj-ea"/>
                <a:ea typeface="+mj-ea"/>
                <a:sym typeface="+mn-ea"/>
              </a:rPr>
              <a:t>JPY IRS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目前各年期利率</a:t>
            </a:r>
            <a:endParaRPr lang="zh-TW" altLang="en-US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TONA O/N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0.98%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1Y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1.43%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2Y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1.70%</a:t>
            </a:r>
            <a:endParaRPr lang="en-US" altLang="zh-TW" sz="2000" dirty="0">
              <a:latin typeface="+mj-ea"/>
              <a:ea typeface="+mj-ea"/>
            </a:endParaRPr>
          </a:p>
          <a:p>
            <a:pPr lvl="1"/>
            <a:r>
              <a:rPr lang="en-US" altLang="zh-TW" sz="2000" dirty="0">
                <a:latin typeface="+mj-ea"/>
                <a:ea typeface="+mj-ea"/>
                <a:sym typeface="+mn-ea"/>
              </a:rPr>
              <a:t>3Y</a:t>
            </a:r>
            <a:r>
              <a:rPr lang="zh-TW" altLang="en-US" sz="2000" dirty="0">
                <a:latin typeface="+mj-ea"/>
                <a:ea typeface="+mj-ea"/>
                <a:sym typeface="+mn-ea"/>
              </a:rPr>
              <a:t>：</a:t>
            </a:r>
            <a:r>
              <a:rPr lang="en-US" altLang="zh-TW" sz="2000" dirty="0">
                <a:latin typeface="+mj-ea"/>
                <a:ea typeface="+mj-ea"/>
                <a:sym typeface="+mn-ea"/>
              </a:rPr>
              <a:t>1.88% (BNP: 2%~2.05%)</a:t>
            </a: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2000" dirty="0">
              <a:latin typeface="+mj-ea"/>
              <a:ea typeface="+mj-ea"/>
              <a:sym typeface="+mn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pPr marL="457200" lvl="1" indent="0">
              <a:buNone/>
            </a:pPr>
            <a:r>
              <a:rPr lang="en-US" altLang="zh-TW" sz="1600" dirty="0">
                <a:latin typeface="+mj-ea"/>
                <a:ea typeface="+mj-ea"/>
              </a:rPr>
              <a:t>      </a:t>
            </a:r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lvl="1"/>
            <a:endParaRPr lang="en-US" altLang="zh-TW" sz="1600" dirty="0">
              <a:latin typeface="+mj-ea"/>
              <a:ea typeface="+mj-ea"/>
            </a:endParaRPr>
          </a:p>
          <a:p>
            <a:pPr marL="0" indent="0">
              <a:buNone/>
            </a:pPr>
            <a:endParaRPr lang="en-US" altLang="zh-TW" sz="1600" dirty="0">
              <a:latin typeface="+mj-ea"/>
              <a:ea typeface="+mj-ea"/>
            </a:endParaRPr>
          </a:p>
          <a:p>
            <a:endParaRPr lang="en-US" altLang="zh-TW" sz="2000" dirty="0"/>
          </a:p>
          <a:p>
            <a:endParaRPr lang="zh-TW" altLang="en-US" sz="2000" dirty="0"/>
          </a:p>
        </p:txBody>
      </p:sp>
      <p:graphicFrame>
        <p:nvGraphicFramePr>
          <p:cNvPr id="0" name="圓桌 -1"/>
          <p:cNvGraphicFramePr/>
          <p:nvPr/>
        </p:nvGraphicFramePr>
        <p:xfrm>
          <a:off x="534670" y="1757045"/>
          <a:ext cx="12573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066800"/>
                <a:gridCol w="762000"/>
                <a:gridCol w="762000"/>
              </a:tblGrid>
              <a:tr h="177800">
                <a:tc gridSpan="4"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市場隱含升息次數</a:t>
                      </a:r>
                      <a:endParaRPr lang="zh-TW" altLang="en-US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zh-TW" altLang="en-US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會議日期</a:t>
                      </a:r>
                      <a:endParaRPr lang="zh-TW" altLang="en-US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7/28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8/7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FFE699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8/14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FFE699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699"/>
                    </a:solidFill>
                  </a:tcPr>
                </a:tc>
              </a:tr>
              <a:tr h="19685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2026/9/18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0.33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0.65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2026/10/30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0.95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1.08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685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2026/12/18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0.80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1.41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1.58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2027/1/22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1.79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2.03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2027/3/18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2.11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2.31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2027/4/28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2.46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2.70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2027/6/11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2.60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highlight>
                            <a:srgbClr val="DDEBF7"/>
                          </a:highlight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2.94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highlight>
                          <a:srgbClr val="DDEBF7"/>
                        </a:highlight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EBF7"/>
                    </a:solidFill>
                  </a:tcPr>
                </a:tc>
              </a:tr>
              <a:tr h="1778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2027/7/22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-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3.15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altLang="zh-TW" sz="1200" b="1" u="none">
                          <a:solidFill>
                            <a:srgbClr val="0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微軟正黑體" panose="020B0604030504040204" pitchFamily="34" charset="-120"/>
                        </a:rPr>
                        <a:t>3.15 </a:t>
                      </a:r>
                      <a:endParaRPr lang="en-US" altLang="zh-TW" sz="1200" b="1" u="none">
                        <a:solidFill>
                          <a:srgbClr val="0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微軟正黑體" panose="020B0604030504040204" pitchFamily="34" charset="-120"/>
                      </a:endParaRPr>
                    </a:p>
                  </a:txBody>
                  <a:tcPr marL="0" marR="0" marT="0" marB="0" vert="horz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物件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786630" y="6071870"/>
          <a:ext cx="164846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1" imgW="1648460" imgH="438150" progId="Package">
                  <p:embed/>
                </p:oleObj>
              </mc:Choice>
              <mc:Fallback>
                <p:oleObj name="" r:id="rId1" imgW="1648460" imgH="438150" progId="Package">
                  <p:embed/>
                  <p:pic>
                    <p:nvPicPr>
                      <p:cNvPr id="0" name="圖片 10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86630" y="6071870"/>
                        <a:ext cx="164846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向右箭號 7"/>
          <p:cNvSpPr/>
          <p:nvPr/>
        </p:nvSpPr>
        <p:spPr>
          <a:xfrm>
            <a:off x="2564130" y="2334260"/>
            <a:ext cx="432435" cy="21590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TW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  <p:sp>
        <p:nvSpPr>
          <p:cNvPr id="9" name="向右箭號 8"/>
          <p:cNvSpPr/>
          <p:nvPr/>
        </p:nvSpPr>
        <p:spPr>
          <a:xfrm>
            <a:off x="3430270" y="2821940"/>
            <a:ext cx="354965" cy="215900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TW" alt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自訂設計">
  <a:themeElements>
    <a:clrScheme name="3_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訂設計">
      <a:majorFont>
        <a:latin typeface="標楷體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TW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標楷體" panose="03000509000000000000" pitchFamily="65" charset="-120"/>
          </a:defRPr>
        </a:defPPr>
      </a:lstStyle>
    </a:lnDef>
    <a:txDef>
      <a:spPr bwMode="auto">
        <a:noFill/>
        <a:ln>
          <a:noFill/>
        </a:ln>
      </a:spPr>
      <a:bodyPr>
        <a:spAutoFit/>
      </a:bodyPr>
      <a:lstStyle>
        <a:defPPr algn="l" eaLnBrk="1" hangingPunct="1">
          <a:defRPr sz="1600" dirty="0"/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自訂設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+mn-lt"/>
            <a:ea typeface="+mn-ea"/>
          </a:defRPr>
        </a:defPPr>
      </a:lstStyle>
    </a:txDef>
  </a:objectDefaults>
  <a:extraClrSchemeLst>
    <a:extraClrScheme>
      <a:clrScheme name="3_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596</Words>
  <Application>WPS Presentation</Application>
  <PresentationFormat>如螢幕大小 (4:3)</PresentationFormat>
  <Paragraphs>136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5" baseType="lpstr">
      <vt:lpstr>Arial</vt:lpstr>
      <vt:lpstr>新細明體</vt:lpstr>
      <vt:lpstr>Wingdings</vt:lpstr>
      <vt:lpstr>新細明體</vt:lpstr>
      <vt:lpstr>標楷體</vt:lpstr>
      <vt:lpstr>微軟正黑體</vt:lpstr>
      <vt:lpstr>Microsoft YaHei</vt:lpstr>
      <vt:lpstr>SimSun</vt:lpstr>
      <vt:lpstr>Arial Unicode MS</vt:lpstr>
      <vt:lpstr>Calibri</vt:lpstr>
      <vt:lpstr>Perpetua</vt:lpstr>
      <vt:lpstr>3_自訂設計</vt:lpstr>
      <vt:lpstr>4_自訂設計</vt:lpstr>
      <vt:lpstr>自訂設計</vt:lpstr>
      <vt:lpstr>6_自訂設計</vt:lpstr>
      <vt:lpstr>1_自訂設計</vt:lpstr>
      <vt:lpstr>7_自訂設計</vt:lpstr>
      <vt:lpstr>5_自訂設計</vt:lpstr>
      <vt:lpstr>8_自訂設計</vt:lpstr>
      <vt:lpstr>9_自訂設計</vt:lpstr>
      <vt:lpstr>10_自訂設計</vt:lpstr>
      <vt:lpstr>11_自訂設計</vt:lpstr>
      <vt:lpstr>Package</vt:lpstr>
      <vt:lpstr>交易策略：Pay JPY TONA 3Y IRS</vt:lpstr>
      <vt:lpstr>交易策略：Pay JPY TONA 3Y IRS</vt:lpstr>
    </vt:vector>
  </TitlesOfParts>
  <Company>tsb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870705</dc:creator>
  <cp:lastModifiedBy>user</cp:lastModifiedBy>
  <cp:revision>6211</cp:revision>
  <cp:lastPrinted>2025-07-21T05:27:00Z</cp:lastPrinted>
  <dcterms:created xsi:type="dcterms:W3CDTF">2004-04-09T03:27:00Z</dcterms:created>
  <dcterms:modified xsi:type="dcterms:W3CDTF">2026-08-16T14:12:05Z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1028-10.8.0.6003</vt:lpwstr>
  </property>
</Properties>
</file>