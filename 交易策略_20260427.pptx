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09" r:id="rId8"/>
    <p:sldMasterId id="2147483722" r:id="rId9"/>
    <p:sldMasterId id="2147483723" r:id="rId10"/>
    <p:sldMasterId id="2147483724" r:id="rId11"/>
    <p:sldMasterId id="2147483725" r:id="rId12"/>
  </p:sldMasterIdLst>
  <p:notesMasterIdLst>
    <p:notesMasterId r:id="rId14"/>
  </p:notesMasterIdLst>
  <p:handoutMasterIdLst>
    <p:handoutMasterId r:id="rId15"/>
  </p:handoutMasterIdLst>
  <p:sldIdLst>
    <p:sldId id="3950" r:id="rId13"/>
  </p:sldIdLst>
  <p:sldSz cx="9144000" cy="6858000" type="screen4x3"/>
  <p:notesSz cx="6797675" cy="992632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2AA3BAE-0B5A-4CF3-9EE5-B8ACC2ADE216}">
          <p14:sldIdLst>
            <p14:sldId id="3950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陳柏龍" initials="陳柏龍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11111"/>
    <a:srgbClr val="CC00CC"/>
    <a:srgbClr val="0000FF"/>
    <a:srgbClr val="FF3300"/>
    <a:srgbClr val="00FF00"/>
    <a:srgbClr val="3333FF"/>
    <a:srgbClr val="800000"/>
    <a:srgbClr val="4D4D4D"/>
    <a:srgbClr val="47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52" autoAdjust="0"/>
    <p:restoredTop sz="96000" autoAdjust="0"/>
  </p:normalViewPr>
  <p:slideViewPr>
    <p:cSldViewPr>
      <p:cViewPr varScale="1">
        <p:scale>
          <a:sx n="109" d="100"/>
          <a:sy n="109" d="100"/>
        </p:scale>
        <p:origin x="1080" y="114"/>
      </p:cViewPr>
      <p:guideLst>
        <p:guide orient="horz" pos="2169"/>
        <p:guide pos="28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67" y="-158"/>
      </p:cViewPr>
      <p:guideLst>
        <p:guide orient="horz" pos="3140"/>
        <p:guide pos="208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C:\Users\user\Downloads\twd%202y%20ir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TW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微軟正黑體" panose="020B0604030504040204" pitchFamily="34" charset="-120"/>
              </a:defRPr>
            </a:pPr>
            <a:r>
              <a:rPr sz="1400" b="1"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微軟正黑體" panose="020B0604030504040204" pitchFamily="34" charset="-120"/>
              </a:rPr>
              <a:t>市場隱含今明兩年各升息約兩次半碼</a:t>
            </a:r>
            <a:endParaRPr sz="1400" b="1"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  <a:sym typeface="微軟正黑體" panose="020B0604030504040204" pitchFamily="34" charset="-12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TW" sz="1200" b="1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defRPr>
                    </a:pPr>
                    <a:r>
                      <a:rPr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rPr>
                      <a:t>1.74%</a:t>
                    </a:r>
                    <a:endParaRPr sz="120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  <a:sym typeface="Calibri" panose="020F0502020204030204" pitchFamily="34" charset="0"/>
                    </a:endParaRPr>
                  </a:p>
                </c:rich>
              </c:tx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TW" sz="12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  <a:sym typeface="Calibri" panose="020F0502020204030204" pitchFamily="34" charset="0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TW"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 panose="020F0502020204030204" pitchFamily="3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'[twd 2y irs.xlsx]Table Data'!$D$3:$E$10</c:f>
              <c:multiLvlStrCache>
                <c:ptCount val="8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</c:lvl>
                <c:lvl>
                  <c:pt idx="0">
                    <c:v>2026</c:v>
                  </c:pt>
                  <c:pt idx="4">
                    <c:v>2027</c:v>
                  </c:pt>
                </c:lvl>
              </c:multiLvlStrCache>
            </c:multiLvlStrRef>
          </c:cat>
          <c:val>
            <c:numRef>
              <c:f>'[twd 2y irs.xlsx]Table Data'!$F$3:$F$10</c:f>
              <c:numCache>
                <c:formatCode>0.000%</c:formatCode>
                <c:ptCount val="8"/>
                <c:pt idx="0">
                  <c:v>0.01678</c:v>
                </c:pt>
                <c:pt idx="1">
                  <c:v>0.0174</c:v>
                </c:pt>
                <c:pt idx="2" c:formatCode="0.00%">
                  <c:v>0.0184</c:v>
                </c:pt>
                <c:pt idx="3" c:formatCode="0.00%">
                  <c:v>0.0191</c:v>
                </c:pt>
                <c:pt idx="4" c:formatCode="0.00%">
                  <c:v>0.01977</c:v>
                </c:pt>
                <c:pt idx="5" c:formatCode="0.00%">
                  <c:v>0.0205</c:v>
                </c:pt>
                <c:pt idx="6" c:formatCode="0.00%">
                  <c:v>0.02128</c:v>
                </c:pt>
                <c:pt idx="7" c:formatCode="0.00%">
                  <c:v>0.022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03886952"/>
        <c:axId val="796456255"/>
      </c:lineChart>
      <c:catAx>
        <c:axId val="903886952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TW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pPr>
          </a:p>
        </c:txPr>
        <c:crossAx val="796456255"/>
        <c:crosses val="autoZero"/>
        <c:auto val="1"/>
        <c:lblAlgn val="ctr"/>
        <c:lblOffset val="100"/>
        <c:noMultiLvlLbl val="0"/>
      </c:catAx>
      <c:valAx>
        <c:axId val="796456255"/>
        <c:scaling>
          <c:orientation val="minMax"/>
          <c:min val="0.015"/>
        </c:scaling>
        <c:delete val="0"/>
        <c:axPos val="l"/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TW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pPr>
          </a:p>
        </c:txPr>
        <c:crossAx val="9038869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zh-TW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0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70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EA90D26C-E35A-450B-90C7-84C2B9602168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5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4" y="4714708"/>
            <a:ext cx="5437507" cy="4466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/>
          <a:p>
            <a:pPr lvl="0"/>
            <a:r>
              <a:rPr lang="zh-TW" altLang="en-US" noProof="0"/>
              <a:t>按一下以編輯母片</a:t>
            </a:r>
            <a:endParaRPr lang="zh-TW" altLang="en-US" noProof="0"/>
          </a:p>
          <a:p>
            <a:pPr lvl="1"/>
            <a:r>
              <a:rPr lang="zh-TW" altLang="en-US" noProof="0"/>
              <a:t>第二層</a:t>
            </a:r>
            <a:endParaRPr lang="zh-TW" altLang="en-US" noProof="0"/>
          </a:p>
          <a:p>
            <a:pPr lvl="2"/>
            <a:r>
              <a:rPr lang="zh-TW" altLang="en-US" noProof="0"/>
              <a:t>第三層</a:t>
            </a:r>
            <a:endParaRPr lang="zh-TW" altLang="en-US" noProof="0"/>
          </a:p>
          <a:p>
            <a:pPr lvl="3"/>
            <a:r>
              <a:rPr lang="zh-TW" altLang="en-US" noProof="0"/>
              <a:t>第四層</a:t>
            </a:r>
            <a:endParaRPr lang="zh-TW" altLang="en-US" noProof="0"/>
          </a:p>
          <a:p>
            <a:pPr lvl="4"/>
            <a:r>
              <a:rPr lang="zh-TW" altLang="en-US" noProof="0"/>
              <a:t>第五層</a:t>
            </a:r>
            <a:endParaRPr lang="zh-TW" altLang="en-US" noProof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645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60372AD-F29F-4D0F-B513-7219CBDC5F6C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95C5F3-99EF-4E92-8313-B7FF534E2851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C1600-8D42-4597-8CA4-003D095EE285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B98E4D-4090-4CC7-9045-046950355E56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5D5151-29A4-4CB4-A045-9F637401C9A8}" type="slidenum">
              <a:rPr lang="zh-TW" altLang="en-US">
                <a:solidFill>
                  <a:srgbClr val="000000"/>
                </a:solidFill>
              </a:rPr>
            </a:fld>
            <a:endParaRPr lang="en-US" altLang="zh-TW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6E22A7-EF76-4CC0-B8E4-4EB561235ED1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DBB88C-6F0D-489F-9196-70DAAEBD32E3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33A2C2-189D-4B97-A621-9D17102788CA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DDDBE6-A36A-4B7F-BE7F-AF040721802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C80421-F154-4EB7-BAB9-B8AC9CBEFC83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3B3FE45-7674-409D-812E-F0930564FA98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F0156B-8B8C-4EE1-A506-9984D200E04F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43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EB788-0AD9-4E98-A516-64653248E3D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2E49-B35D-4BA4-A4A1-D07A03DA561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7D15B-E003-4EB9-A608-239C444D5E9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C68BE-B4B0-4564-B8AC-726B6F10D4A3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8075240" cy="6340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717D7-C8B0-44C5-A62F-3567BF53D39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A067D-AD37-4A18-A34B-F0E66789EA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0777A-41B7-4B1E-A08A-E8D84746337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93CA9-BA81-47AA-823D-8B709A5D2C4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ADD22-6B71-41C3-A3B2-EF9911ADB281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F7AEA-34EA-4C76-9A47-D6871C043A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56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56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654D6-15C0-494A-B753-0640DB25B203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11188" y="274656"/>
            <a:ext cx="8075612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02D48-BB1D-4132-8A0E-4D78DE52EF59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4" Type="http://schemas.openxmlformats.org/officeDocument/2006/relationships/theme" Target="../theme/theme7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/>
            </a:fld>
            <a:endParaRPr lang="en-US" altLang="zh-TW"/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chemeClr val="bg2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/>
            </a:lvl1pPr>
          </a:lstStyle>
          <a:p>
            <a:fld id="{32523EE1-814A-4436-A9F0-90FC08ED8A92}" type="slidenum">
              <a:rPr lang="zh-TW" altLang="en-US">
                <a:solidFill>
                  <a:srgbClr val="000000"/>
                </a:solidFill>
                <a:ea typeface="新細明體" panose="02020500000000000000" charset="-120"/>
              </a:rPr>
            </a:fld>
            <a:endParaRPr lang="en-US" altLang="zh-TW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rgbClr val="80808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90567" name="Picture 7" descr="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rgbClr val="80808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spcBef>
                <a:spcPct val="0"/>
              </a:spcBef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81750"/>
            <a:ext cx="468313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>
            <a:lvl1pPr algn="r">
              <a:spcBef>
                <a:spcPct val="0"/>
              </a:spcBef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A9CD9766-93A3-4E76-9B20-A4D620225CC1}" type="slidenum">
              <a:rPr lang="en-US" altLang="zh-TW"/>
            </a:fld>
            <a:endParaRPr lang="en-US" altLang="zh-TW" dirty="0"/>
          </a:p>
        </p:txBody>
      </p:sp>
      <p:sp>
        <p:nvSpPr>
          <p:cNvPr id="1027" name="Text Box 21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1" tIns="45710" rIns="91421" bIns="4571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chemeClr val="bg2"/>
              </a:solidFill>
              <a:latin typeface="標楷體" panose="03000509000000000000" pitchFamily="65" charset="-120"/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zh-TW" altLang="en-US" sz="3000" b="1" smtClean="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7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88640"/>
            <a:ext cx="8075612" cy="719410"/>
          </a:xfrm>
        </p:spPr>
        <p:txBody>
          <a:bodyPr/>
          <a:lstStyle/>
          <a:p>
            <a:pPr marL="984250" indent="-984250"/>
            <a:r>
              <a:rPr lang="zh-TW" altLang="en-US" sz="2500" dirty="0"/>
              <a:t>交易策略：</a:t>
            </a:r>
            <a:r>
              <a:rPr lang="en-US" altLang="zh-TW" sz="2500" dirty="0"/>
              <a:t>TWD IRS pay 6s, rec 2y</a:t>
            </a:r>
            <a:endParaRPr lang="en-US" altLang="zh-TW" sz="25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829" y="1412776"/>
            <a:ext cx="8075612" cy="3168352"/>
          </a:xfrm>
        </p:spPr>
        <p:txBody>
          <a:bodyPr/>
          <a:lstStyle/>
          <a:p>
            <a:endParaRPr lang="zh-TW" altLang="zh-TW" sz="2000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26060" y="967135"/>
            <a:ext cx="8460740" cy="369267"/>
          </a:xfrm>
          <a:prstGeom prst="roundRect">
            <a:avLst/>
          </a:prstGeom>
          <a:solidFill>
            <a:srgbClr val="2E75B6"/>
          </a:solidFill>
        </p:spPr>
        <p:txBody>
          <a:bodyPr wrap="square" t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認為央行貨幣政策最終不如市場預期激進</a:t>
            </a:r>
            <a:endParaRPr kumimoji="0" lang="zh-TW" altLang="en-US" sz="16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166370" y="1351280"/>
            <a:ext cx="8981440" cy="31686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r>
              <a:rPr lang="zh-TW" altLang="en-US" sz="2000" dirty="0">
                <a:latin typeface="+mj-ea"/>
                <a:ea typeface="+mj-ea"/>
              </a:rPr>
              <a:t>楊金龍：預防可能的</a:t>
            </a:r>
            <a:r>
              <a:rPr lang="zh-TW" altLang="en-US" sz="2000" dirty="0">
                <a:latin typeface="+mj-ea"/>
                <a:ea typeface="+mj-ea"/>
              </a:rPr>
              <a:t>通膨預期，貨幣政策朝緊縮方向走，關鍵在第二季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TW" altLang="en-US" sz="2000" dirty="0">
                <a:latin typeface="+mj-ea"/>
                <a:ea typeface="+mj-ea"/>
              </a:rPr>
              <a:t>      →</a:t>
            </a:r>
            <a:r>
              <a:rPr lang="en-US" altLang="zh-TW" sz="2000" dirty="0">
                <a:latin typeface="+mj-ea"/>
                <a:ea typeface="+mj-ea"/>
              </a:rPr>
              <a:t>Pay 6s IRS</a:t>
            </a:r>
            <a:r>
              <a:rPr lang="zh-TW" altLang="en-US" sz="2000" dirty="0">
                <a:latin typeface="+mj-ea"/>
                <a:ea typeface="+mj-ea"/>
              </a:rPr>
              <a:t>預防央行預防性升息</a:t>
            </a:r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10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但</a:t>
            </a:r>
            <a:r>
              <a:rPr lang="en-US" altLang="zh-TW" sz="2000" dirty="0">
                <a:latin typeface="+mj-ea"/>
                <a:ea typeface="+mj-ea"/>
              </a:rPr>
              <a:t>2Y IRS</a:t>
            </a:r>
            <a:r>
              <a:rPr lang="zh-TW" altLang="en-US" sz="2000" dirty="0">
                <a:latin typeface="+mj-ea"/>
                <a:ea typeface="+mj-ea"/>
              </a:rPr>
              <a:t>隱含未來升息路徑過於激進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TW" altLang="en-US" sz="2000" dirty="0">
                <a:latin typeface="+mj-ea"/>
                <a:ea typeface="+mj-ea"/>
              </a:rPr>
              <a:t>      →央行</a:t>
            </a:r>
            <a:r>
              <a:rPr lang="zh-TW" altLang="en-US" sz="2000" dirty="0">
                <a:latin typeface="+mj-ea"/>
                <a:ea typeface="+mj-ea"/>
              </a:rPr>
              <a:t>管控輸入性通膨：</a:t>
            </a:r>
            <a:r>
              <a:rPr lang="zh-TW" altLang="en-US" sz="2000" dirty="0">
                <a:latin typeface="+mj-ea"/>
                <a:ea typeface="+mj-ea"/>
              </a:rPr>
              <a:t>匯率</a:t>
            </a:r>
            <a:r>
              <a:rPr lang="en-US" altLang="zh-TW" sz="2000" dirty="0">
                <a:latin typeface="+mj-ea"/>
                <a:ea typeface="+mj-ea"/>
              </a:rPr>
              <a:t> &gt; </a:t>
            </a:r>
            <a:r>
              <a:rPr lang="zh-TW" altLang="en-US" sz="2000" dirty="0">
                <a:latin typeface="+mj-ea"/>
                <a:ea typeface="+mj-ea"/>
              </a:rPr>
              <a:t>利率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TW" sz="2000" dirty="0">
                <a:latin typeface="+mj-ea"/>
                <a:ea typeface="+mj-ea"/>
              </a:rPr>
              <a:t>      </a:t>
            </a:r>
            <a:r>
              <a:rPr lang="zh-TW" altLang="en-US" sz="2000" dirty="0">
                <a:latin typeface="+mj-ea"/>
                <a:ea typeface="+mj-ea"/>
              </a:rPr>
              <a:t>→</a:t>
            </a:r>
            <a:r>
              <a:rPr lang="en-US" altLang="zh-TW" sz="2000" dirty="0">
                <a:latin typeface="+mj-ea"/>
                <a:ea typeface="+mj-ea"/>
              </a:rPr>
              <a:t>3/19</a:t>
            </a:r>
            <a:r>
              <a:rPr lang="zh-TW" altLang="en-US" sz="2000" dirty="0">
                <a:latin typeface="+mj-ea"/>
                <a:ea typeface="+mj-ea"/>
              </a:rPr>
              <a:t>明確表達市場有此預期是</a:t>
            </a:r>
            <a:r>
              <a:rPr lang="en-US" altLang="zh-TW" sz="2000" dirty="0">
                <a:latin typeface="+mj-ea"/>
                <a:ea typeface="+mj-ea"/>
              </a:rPr>
              <a:t>overreaction</a:t>
            </a:r>
            <a:endParaRPr lang="en-US" altLang="zh-TW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r>
              <a:rPr lang="en-US" altLang="zh-TW" sz="2000" dirty="0">
                <a:latin typeface="+mj-ea"/>
                <a:ea typeface="+mj-ea"/>
              </a:rPr>
              <a:t>TWD IRS</a:t>
            </a:r>
            <a:r>
              <a:rPr lang="zh-TW" altLang="en-US" sz="2000" dirty="0">
                <a:latin typeface="+mj-ea"/>
                <a:ea typeface="+mj-ea"/>
              </a:rPr>
              <a:t>目前各年期</a:t>
            </a:r>
            <a:r>
              <a:rPr lang="zh-TW" altLang="en-US" sz="2000" dirty="0">
                <a:latin typeface="+mj-ea"/>
                <a:ea typeface="+mj-ea"/>
              </a:rPr>
              <a:t>利率</a:t>
            </a:r>
            <a:endParaRPr lang="zh-TW" altLang="en-US" sz="2000" dirty="0">
              <a:latin typeface="+mj-ea"/>
              <a:ea typeface="+mj-ea"/>
            </a:endParaRP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3M TAIBOR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1.678%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6M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1.71%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1Y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1.79%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r>
              <a:rPr lang="en-US" altLang="zh-TW" sz="1600" dirty="0">
                <a:latin typeface="+mj-ea"/>
                <a:ea typeface="+mj-ea"/>
              </a:rPr>
              <a:t>2Y</a:t>
            </a:r>
            <a:r>
              <a:rPr lang="zh-TW" altLang="en-US" sz="1600" dirty="0">
                <a:latin typeface="+mj-ea"/>
                <a:ea typeface="+mj-ea"/>
              </a:rPr>
              <a:t>：</a:t>
            </a:r>
            <a:r>
              <a:rPr lang="en-US" altLang="zh-TW" sz="1600" dirty="0">
                <a:latin typeface="+mj-ea"/>
                <a:ea typeface="+mj-ea"/>
              </a:rPr>
              <a:t>1.94%</a:t>
            </a:r>
            <a:endParaRPr lang="en-US" altLang="zh-TW" sz="1600" dirty="0"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en-US" altLang="zh-TW" sz="1600" dirty="0">
                <a:latin typeface="+mj-ea"/>
                <a:ea typeface="+mj-ea"/>
              </a:rPr>
              <a:t>      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graphicFrame>
        <p:nvGraphicFramePr>
          <p:cNvPr id="6" name="圖表 5"/>
          <p:cNvGraphicFramePr/>
          <p:nvPr/>
        </p:nvGraphicFramePr>
        <p:xfrm>
          <a:off x="3582035" y="3444240"/>
          <a:ext cx="5307965" cy="3361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lnDef>
    <a:txDef>
      <a:spPr bwMode="auto">
        <a:noFill/>
        <a:ln>
          <a:noFill/>
        </a:ln>
      </a:spPr>
      <a:bodyPr>
        <a:spAutoFit/>
      </a:bodyPr>
      <a:lstStyle>
        <a:defPPr algn="l" eaLnBrk="1" hangingPunct="1">
          <a:defRPr sz="1600" dirty="0"/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WPS Presentation</Application>
  <PresentationFormat>如螢幕大小 (4:3)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</vt:i4>
      </vt:variant>
    </vt:vector>
  </HeadingPairs>
  <TitlesOfParts>
    <vt:vector size="24" baseType="lpstr">
      <vt:lpstr>Arial</vt:lpstr>
      <vt:lpstr>新細明體</vt:lpstr>
      <vt:lpstr>Wingdings</vt:lpstr>
      <vt:lpstr>新細明體</vt:lpstr>
      <vt:lpstr>標楷體</vt:lpstr>
      <vt:lpstr>微軟正黑體</vt:lpstr>
      <vt:lpstr>Calibri</vt:lpstr>
      <vt:lpstr>Microsoft YaHei</vt:lpstr>
      <vt:lpstr>SimSun</vt:lpstr>
      <vt:lpstr>Arial Unicode MS</vt:lpstr>
      <vt:lpstr>Perpetua</vt:lpstr>
      <vt:lpstr>Franklin Gothic Book</vt:lpstr>
      <vt:lpstr>3_自訂設計</vt:lpstr>
      <vt:lpstr>4_自訂設計</vt:lpstr>
      <vt:lpstr>自訂設計</vt:lpstr>
      <vt:lpstr>6_自訂設計</vt:lpstr>
      <vt:lpstr>1_自訂設計</vt:lpstr>
      <vt:lpstr>7_自訂設計</vt:lpstr>
      <vt:lpstr>5_自訂設計</vt:lpstr>
      <vt:lpstr>8_自訂設計</vt:lpstr>
      <vt:lpstr>9_自訂設計</vt:lpstr>
      <vt:lpstr>10_自訂設計</vt:lpstr>
      <vt:lpstr>11_自訂設計</vt:lpstr>
      <vt:lpstr>交易策略：TWD IRS Pay 6s, rec 2y</vt:lpstr>
    </vt:vector>
  </TitlesOfParts>
  <Company>tsb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870705</dc:creator>
  <cp:lastModifiedBy>user</cp:lastModifiedBy>
  <cp:revision>6169</cp:revision>
  <cp:lastPrinted>2025-07-21T05:27:00Z</cp:lastPrinted>
  <dcterms:created xsi:type="dcterms:W3CDTF">2004-04-09T03:27:00Z</dcterms:created>
  <dcterms:modified xsi:type="dcterms:W3CDTF">2026-04-26T19:31:07Z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