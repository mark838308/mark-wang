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03" r:id="rId3"/>
    <p:sldId id="261" r:id="rId4"/>
    <p:sldId id="310" r:id="rId5"/>
    <p:sldId id="316" r:id="rId6"/>
    <p:sldId id="317" r:id="rId7"/>
    <p:sldId id="318" r:id="rId8"/>
    <p:sldId id="319" r:id="rId9"/>
    <p:sldId id="314" r:id="rId10"/>
    <p:sldId id="31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8332" autoAdjust="0"/>
  </p:normalViewPr>
  <p:slideViewPr>
    <p:cSldViewPr snapToGrid="0" snapToObjects="1">
      <p:cViewPr varScale="1">
        <p:scale>
          <a:sx n="86" d="100"/>
          <a:sy n="86" d="100"/>
        </p:scale>
        <p:origin x="10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12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【基差】</a:t>
            </a:r>
          </a:p>
          <a:p>
            <a:r>
              <a:t>基差 ＝ B － c × F</a:t>
            </a:r>
          </a:p>
          <a:p>
            <a:r>
              <a:t>・B：現券乾淨價（不含應計利息），以 100 為面額基準</a:t>
            </a:r>
          </a:p>
          <a:p>
            <a:r>
              <a:t>・c：該券對該合約的轉換因子</a:t>
            </a:r>
          </a:p>
          <a:p>
            <a:r>
              <a:t>・F：期貨價格</a:t>
            </a:r>
          </a:p>
          <a:p>
            <a:r>
              <a:t>・報價單位 1／32 點；每 1／32 點 × $100,000 面額 ＝ $31.25</a:t>
            </a:r>
          </a:p>
          <a:p>
            <a:endParaRPr/>
          </a:p>
          <a:p>
            <a:r>
              <a:t>【交易口數】</a:t>
            </a:r>
          </a:p>
          <a:p>
            <a:r>
              <a:t>買（賣）基差口數 ＝ (現券面額 ÷ $100,000) × c</a:t>
            </a:r>
          </a:p>
          <a:p>
            <a:endParaRPr/>
          </a:p>
          <a:p>
            <a:r>
              <a:t>【非轉換因子權重 W 的推導】</a:t>
            </a:r>
          </a:p>
          <a:p>
            <a:r>
              <a:t>B － W×F ＝ B － W×F ＋ c×F － c×F</a:t>
            </a:r>
          </a:p>
          <a:p>
            <a:r>
              <a:t>　　　　 ＝ (B － c×F) ＋ (c － W) × F</a:t>
            </a:r>
          </a:p>
          <a:p>
            <a:r>
              <a:t>　　　　 ＝ 標準基差 ＋ (c － W) 單位的期貨曝險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91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轉換因子</a:t>
            </a:r>
            <a:r>
              <a:rPr dirty="0"/>
              <a:t> c </a:t>
            </a:r>
            <a:r>
              <a:rPr dirty="0" err="1"/>
              <a:t>的完整定義</a:t>
            </a:r>
            <a:r>
              <a:rPr dirty="0"/>
              <a:t>】</a:t>
            </a:r>
          </a:p>
          <a:p>
            <a:r>
              <a:rPr dirty="0"/>
              <a:t>c ＝ </a:t>
            </a:r>
            <a:r>
              <a:rPr dirty="0" err="1"/>
              <a:t>該可交割券在殖利率</a:t>
            </a:r>
            <a:r>
              <a:rPr dirty="0"/>
              <a:t> 6%（</a:t>
            </a:r>
            <a:r>
              <a:rPr dirty="0" err="1"/>
              <a:t>半年複利）下，每</a:t>
            </a:r>
            <a:r>
              <a:rPr dirty="0"/>
              <a:t> 1 </a:t>
            </a:r>
            <a:r>
              <a:rPr dirty="0" err="1"/>
              <a:t>元面額的乾淨價</a:t>
            </a:r>
            <a:endParaRPr dirty="0"/>
          </a:p>
          <a:p>
            <a:endParaRPr dirty="0"/>
          </a:p>
          <a:p>
            <a:r>
              <a:rPr dirty="0"/>
              <a:t>c ＝ Σ (</a:t>
            </a:r>
            <a:r>
              <a:rPr dirty="0" err="1"/>
              <a:t>票息率</a:t>
            </a:r>
            <a:r>
              <a:rPr dirty="0"/>
              <a:t>/2) ÷ (1+3%)^t ＋ 1 ÷ (1+3%)^n － </a:t>
            </a:r>
            <a:r>
              <a:rPr dirty="0" err="1"/>
              <a:t>已累積票息</a:t>
            </a:r>
            <a:endParaRPr dirty="0"/>
          </a:p>
          <a:p>
            <a:r>
              <a:rPr dirty="0"/>
              <a:t>　（t ＝ 1…n </a:t>
            </a:r>
            <a:r>
              <a:rPr dirty="0" err="1"/>
              <a:t>期，交易所依規則將剩餘期限進位至最近的三個月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・</a:t>
            </a:r>
            <a:r>
              <a:rPr dirty="0" err="1"/>
              <a:t>票息率</a:t>
            </a:r>
            <a:r>
              <a:rPr dirty="0"/>
              <a:t> ＝ 6% ⇒ c ＝ 1</a:t>
            </a:r>
          </a:p>
          <a:p>
            <a:r>
              <a:rPr dirty="0"/>
              <a:t>・</a:t>
            </a:r>
            <a:r>
              <a:rPr dirty="0" err="1"/>
              <a:t>票息率</a:t>
            </a:r>
            <a:r>
              <a:rPr dirty="0"/>
              <a:t> ＜ 6% ⇒ c ＜ 1（今日絕大多數美債）</a:t>
            </a:r>
          </a:p>
          <a:p>
            <a:r>
              <a:rPr dirty="0"/>
              <a:t>・</a:t>
            </a:r>
            <a:r>
              <a:rPr dirty="0" err="1"/>
              <a:t>票息率</a:t>
            </a:r>
            <a:r>
              <a:rPr dirty="0"/>
              <a:t> ＞ 6% ⇒ c ＞ 1</a:t>
            </a:r>
          </a:p>
          <a:p>
            <a:r>
              <a:rPr dirty="0"/>
              <a:t>・c </a:t>
            </a:r>
            <a:r>
              <a:rPr dirty="0" err="1"/>
              <a:t>於合約掛牌前算定，整個合約存續期間固定不變</a:t>
            </a:r>
            <a:endParaRPr dirty="0"/>
          </a:p>
          <a:p>
            <a:endParaRPr dirty="0"/>
          </a:p>
          <a:p>
            <a:r>
              <a:rPr dirty="0"/>
              <a:t>例：WNU5 </a:t>
            </a:r>
            <a:r>
              <a:rPr dirty="0" err="1"/>
              <a:t>中，票息</a:t>
            </a:r>
            <a:r>
              <a:rPr dirty="0"/>
              <a:t> 1.625% </a:t>
            </a:r>
            <a:r>
              <a:rPr dirty="0" err="1"/>
              <a:t>的券</a:t>
            </a:r>
            <a:r>
              <a:rPr dirty="0"/>
              <a:t> c ≈ 0.43；票息 4.75% </a:t>
            </a:r>
            <a:r>
              <a:rPr dirty="0" err="1"/>
              <a:t>的券</a:t>
            </a:r>
            <a:r>
              <a:rPr dirty="0"/>
              <a:t> c ≈ 0.83</a:t>
            </a:r>
            <a:endParaRPr lang="en-US" dirty="0"/>
          </a:p>
          <a:p>
            <a:endParaRPr lang="en-US" dirty="0"/>
          </a:p>
          <a:p>
            <a:r>
              <a:rPr lang="zh-TW" altLang="en-US" dirty="0"/>
              <a:t>它的作用是把票息高低不同、價格天差地別的一籃可交割債券</a:t>
            </a:r>
            <a:r>
              <a:rPr lang="zh-TW" altLang="en-US" b="1" dirty="0"/>
              <a:t>拉平到接近等值可交割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【CF 加權】</a:t>
            </a:r>
          </a:p>
          <a:p>
            <a:r>
              <a:t>口數 ＝ (現券面額 ÷ $100,000) × c</a:t>
            </a:r>
          </a:p>
          <a:p>
            <a:r>
              <a:t>　例：$10,000,000 ÷ $100,000 × 0.8072 ＝ 80.72 ⇒ 81 口</a:t>
            </a:r>
          </a:p>
          <a:p>
            <a:endParaRPr/>
          </a:p>
          <a:p>
            <a:r>
              <a:t>【BPV／DV01 加權】</a:t>
            </a:r>
          </a:p>
          <a:p>
            <a:r>
              <a:t>期貨 BPV ≈ BPV(CTD) ÷ c(CTD)</a:t>
            </a:r>
          </a:p>
          <a:p>
            <a:r>
              <a:t>避險口數 HR ＝ BPV(避險標的) ÷ [ BPV(CTD) ÷ c(CTD) ]</a:t>
            </a:r>
          </a:p>
          <a:p>
            <a:r>
              <a:t>　　　　　　 ＝ c(CTD) × BPV(避險標的) ÷ BPV(CTD)</a:t>
            </a:r>
          </a:p>
          <a:p>
            <a:endParaRPr/>
          </a:p>
          <a:p>
            <a:r>
              <a:t>例：避險 $10mm 的 2-3/8% 5/27（BPV ＝ $8,558）</a:t>
            </a:r>
          </a:p>
          <a:p>
            <a:r>
              <a:t>　CTD 為 2-3/8% 8/24（BPV ＝ $63.78／$100,000 面額，c ＝ 0.8072）</a:t>
            </a:r>
          </a:p>
          <a:p>
            <a:r>
              <a:t>　HR ＝ 0.8072 × ($8,558 ÷ $63.78) ＝ 108.31 ⇒ 108 口</a:t>
            </a:r>
          </a:p>
          <a:p>
            <a:endParaRPr/>
          </a:p>
          <a:p>
            <a:r>
              <a:t>交叉驗證：存續期間比 ≈ 口數比 → (6.437 ÷ 8.662) ≈ (75 ÷ 108)</a:t>
            </a:r>
          </a:p>
          <a:p>
            <a:r>
              <a:t>BPV 隨殖利率變動，殖利率移動 20~25bp 就應重算。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67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交割損益的算式</a:t>
            </a:r>
            <a:r>
              <a:rPr dirty="0"/>
              <a:t>】（每 $100,000 </a:t>
            </a:r>
            <a:r>
              <a:rPr dirty="0" err="1"/>
              <a:t>面額</a:t>
            </a:r>
            <a:r>
              <a:rPr dirty="0"/>
              <a:t>）</a:t>
            </a:r>
          </a:p>
          <a:p>
            <a:r>
              <a:rPr dirty="0" err="1"/>
              <a:t>交割損益</a:t>
            </a:r>
            <a:r>
              <a:rPr dirty="0"/>
              <a:t> ＝ </a:t>
            </a:r>
            <a:r>
              <a:rPr dirty="0" err="1"/>
              <a:t>發票金額</a:t>
            </a:r>
            <a:r>
              <a:rPr dirty="0"/>
              <a:t> － </a:t>
            </a:r>
            <a:r>
              <a:rPr dirty="0" err="1"/>
              <a:t>買進現券的全價</a:t>
            </a:r>
            <a:endParaRPr dirty="0"/>
          </a:p>
          <a:p>
            <a:r>
              <a:rPr dirty="0"/>
              <a:t>　　　　＝ [ $1,000 × F × c ＋ AI ] － [ $1,000 × B ＋ AI ]</a:t>
            </a:r>
          </a:p>
          <a:p>
            <a:r>
              <a:rPr dirty="0"/>
              <a:t>　　　　＝ $1,000 × ( c × F － B )</a:t>
            </a:r>
          </a:p>
          <a:p>
            <a:r>
              <a:rPr dirty="0"/>
              <a:t>　　　　＝ － $1,000 × </a:t>
            </a:r>
            <a:r>
              <a:rPr dirty="0" err="1"/>
              <a:t>毛基差</a:t>
            </a:r>
            <a:endParaRPr dirty="0"/>
          </a:p>
          <a:p>
            <a:endParaRPr dirty="0"/>
          </a:p>
          <a:p>
            <a:r>
              <a:rPr dirty="0"/>
              <a:t>⇒ </a:t>
            </a:r>
            <a:r>
              <a:rPr dirty="0" err="1"/>
              <a:t>應計利息</a:t>
            </a:r>
            <a:r>
              <a:rPr dirty="0"/>
              <a:t> AI </a:t>
            </a:r>
            <a:r>
              <a:rPr dirty="0" err="1"/>
              <a:t>在兩邊相消，誰最便宜只取決於毛基差</a:t>
            </a:r>
            <a:r>
              <a:rPr dirty="0"/>
              <a:t> (B － </a:t>
            </a:r>
            <a:r>
              <a:rPr dirty="0" err="1"/>
              <a:t>c×F</a:t>
            </a:r>
            <a:r>
              <a:rPr dirty="0"/>
              <a:t>)。</a:t>
            </a:r>
          </a:p>
          <a:p>
            <a:endParaRPr dirty="0"/>
          </a:p>
          <a:p>
            <a:r>
              <a:rPr dirty="0"/>
              <a:t>【CME </a:t>
            </a:r>
            <a:r>
              <a:rPr dirty="0" err="1"/>
              <a:t>範例】期貨</a:t>
            </a:r>
            <a:r>
              <a:rPr dirty="0"/>
              <a:t> 125-08+ ＝ 125.265625</a:t>
            </a:r>
          </a:p>
          <a:p>
            <a:r>
              <a:rPr dirty="0"/>
              <a:t>・2-3/8% 8/24：發票 125.265625 × 0.8072 × $1,000 ＝ $101,114.41</a:t>
            </a:r>
          </a:p>
          <a:p>
            <a:r>
              <a:rPr dirty="0"/>
              <a:t>　　</a:t>
            </a:r>
            <a:r>
              <a:rPr dirty="0" err="1"/>
              <a:t>現券全價（乾淨</a:t>
            </a:r>
            <a:r>
              <a:rPr dirty="0"/>
              <a:t>）$101,234.38 ⇒ </a:t>
            </a:r>
            <a:r>
              <a:rPr dirty="0" err="1"/>
              <a:t>損益</a:t>
            </a:r>
            <a:r>
              <a:rPr dirty="0"/>
              <a:t> －$119.97</a:t>
            </a:r>
          </a:p>
          <a:p>
            <a:r>
              <a:rPr dirty="0"/>
              <a:t>・1-7/8% 8/24：發票 125.265625 × 0.7807 × $1,000 ＝ $97,794.87</a:t>
            </a:r>
          </a:p>
          <a:p>
            <a:r>
              <a:rPr dirty="0"/>
              <a:t>　　</a:t>
            </a:r>
            <a:r>
              <a:rPr dirty="0" err="1"/>
              <a:t>現券全價（乾淨</a:t>
            </a:r>
            <a:r>
              <a:rPr dirty="0"/>
              <a:t>）$98,031.25 ⇒ </a:t>
            </a:r>
            <a:r>
              <a:rPr dirty="0" err="1"/>
              <a:t>損益</a:t>
            </a:r>
            <a:r>
              <a:rPr dirty="0"/>
              <a:t> －$236.38</a:t>
            </a:r>
          </a:p>
          <a:p>
            <a:r>
              <a:rPr dirty="0" err="1"/>
              <a:t>兩檔都虧，但前者虧得少</a:t>
            </a:r>
            <a:r>
              <a:rPr dirty="0"/>
              <a:t> ⇒ </a:t>
            </a:r>
            <a:r>
              <a:rPr dirty="0" err="1"/>
              <a:t>前者為</a:t>
            </a:r>
            <a:r>
              <a:rPr dirty="0"/>
              <a:t> CTD。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5018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平時靠</a:t>
            </a:r>
            <a:r>
              <a:rPr lang="en-US" altLang="zh-TW" dirty="0"/>
              <a:t>Carry</a:t>
            </a:r>
            <a:r>
              <a:rPr lang="zh-TW" altLang="en-US" dirty="0"/>
              <a:t>賺取基本盤報酬</a:t>
            </a:r>
            <a:r>
              <a:rPr lang="en-US" altLang="zh-TW" dirty="0"/>
              <a:t>(</a:t>
            </a:r>
            <a:r>
              <a:rPr lang="zh-TW" altLang="en-US" dirty="0"/>
              <a:t>通常略遜於市場短率</a:t>
            </a:r>
            <a:r>
              <a:rPr lang="en-US" altLang="zh-TW" dirty="0"/>
              <a:t>,</a:t>
            </a:r>
            <a:r>
              <a:rPr lang="zh-TW" altLang="en-US" dirty="0"/>
              <a:t>這是選擇權的隱含成本</a:t>
            </a:r>
            <a:r>
              <a:rPr lang="en-US" altLang="zh-TW" dirty="0"/>
              <a:t>) ↓ </a:t>
            </a:r>
          </a:p>
          <a:p>
            <a:r>
              <a:rPr lang="zh-TW" altLang="en-US" dirty="0"/>
              <a:t>押注</a:t>
            </a:r>
            <a:r>
              <a:rPr lang="en-US" altLang="zh-TW" dirty="0"/>
              <a:t>:</a:t>
            </a:r>
            <a:r>
              <a:rPr lang="zh-TW" altLang="en-US" dirty="0"/>
              <a:t>如果殖利率大幅波動</a:t>
            </a:r>
            <a:r>
              <a:rPr lang="en-US" altLang="zh-TW" dirty="0"/>
              <a:t>,</a:t>
            </a:r>
            <a:r>
              <a:rPr lang="zh-TW" altLang="en-US" dirty="0"/>
              <a:t>讓這檔券「跌出</a:t>
            </a:r>
            <a:r>
              <a:rPr lang="en-US" altLang="zh-TW" dirty="0"/>
              <a:t>CTD</a:t>
            </a:r>
            <a:r>
              <a:rPr lang="zh-TW" altLang="en-US" dirty="0"/>
              <a:t>地位」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09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產生現金流，</a:t>
            </a:r>
            <a:endParaRPr lang="en-US" altLang="zh-TW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18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做多基差總損益有兩種等價寫法(B 為乾淨價):
【持倉法】(B1−B0) + c(F0−F1) + (coupon−repo),按現貨腿、期貨腿、持有現金流三項相加。
【基差法】carry + (NB1−NB0),carry 是持有損益(確定性),NB1−NB0 是淨基差變動=選擇權損益。
兩者相等:因總基差=carry+淨基差,持倉法的『價格變動』(B1−B0)+c(F0−F1) 就是總基差變動,其中 carry 以票息現金流實現、淨基差即選擇權損益。carry 只算一次;B 為乾淨價才需加回,若用全價票息已內含則不可再加,否則重複。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【CF 加權】</a:t>
            </a:r>
          </a:p>
          <a:p>
            <a:r>
              <a:t>口數 ＝ (現券面額 ÷ $100,000) × c</a:t>
            </a:r>
          </a:p>
          <a:p>
            <a:r>
              <a:t>　例：$10,000,000 ÷ $100,000 × 0.8072 ＝ 80.72 ⇒ 81 口</a:t>
            </a:r>
          </a:p>
          <a:p>
            <a:endParaRPr/>
          </a:p>
          <a:p>
            <a:r>
              <a:t>【BPV／DV01 加權】</a:t>
            </a:r>
          </a:p>
          <a:p>
            <a:r>
              <a:t>期貨 BPV ≈ BPV(CTD) ÷ c(CTD)</a:t>
            </a:r>
          </a:p>
          <a:p>
            <a:r>
              <a:t>避險口數 HR ＝ BPV(避險標的) ÷ [ BPV(CTD) ÷ c(CTD) ]</a:t>
            </a:r>
          </a:p>
          <a:p>
            <a:r>
              <a:t>　　　　　　 ＝ c(CTD) × BPV(避險標的) ÷ BPV(CTD)</a:t>
            </a:r>
          </a:p>
          <a:p>
            <a:endParaRPr/>
          </a:p>
          <a:p>
            <a:r>
              <a:t>例：避險 $10mm 的 2-3/8% 5/27（BPV ＝ $8,558）</a:t>
            </a:r>
          </a:p>
          <a:p>
            <a:r>
              <a:t>　CTD 為 2-3/8% 8/24（BPV ＝ $63.78／$100,000 面額，c ＝ 0.8072）</a:t>
            </a:r>
          </a:p>
          <a:p>
            <a:r>
              <a:t>　HR ＝ 0.8072 × ($8,558 ÷ $63.78) ＝ 108.31 ⇒ 108 口</a:t>
            </a:r>
          </a:p>
          <a:p>
            <a:endParaRPr/>
          </a:p>
          <a:p>
            <a:r>
              <a:t>交叉驗證：存續期間比 ≈ 口數比 → (6.437 ÷ 8.662) ≈ (75 ÷ 108)</a:t>
            </a:r>
          </a:p>
          <a:p>
            <a:r>
              <a:t>BPV 隨殖利率變動，殖利率移動 20~25bp 就應重算。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30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223760" y="-1828800"/>
            <a:ext cx="6766560" cy="6766560"/>
          </a:xfrm>
          <a:prstGeom prst="roundRect">
            <a:avLst>
              <a:gd name="adj" fmla="val 1351"/>
            </a:avLst>
          </a:prstGeom>
          <a:solidFill>
            <a:srgbClr val="2440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1200000">
            <a:off x="9326880" y="237744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C87F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READING GROUP · US RATES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6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</a:t>
            </a:r>
            <a:endParaRPr lang="en-US" sz="50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與基差交易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EB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從轉換因子、最便宜交割券到交割日的完整地圖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2926080" cy="18288"/>
          </a:xfrm>
          <a:prstGeom prst="rect">
            <a:avLst/>
          </a:prstGeom>
          <a:solidFill>
            <a:srgbClr val="36507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4937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1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資料整理：BofA Global Research 基差 Primer (2025.07)、BofA Repo &amp; Bond Futures (2021)、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1B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CME Understanding Treasury Futures (2017)、CME Delivery Options, Basis Spreads &amp; Delivery Tails (2016)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</a:t>
            </a:r>
            <a:r>
              <a:rPr lang="en-US" altLang="zh-TW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基差的定義</a:t>
            </a: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TW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73384" cy="114300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95528" y="1773936"/>
            <a:ext cx="10616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</a:t>
            </a:r>
            <a:r>
              <a:rPr lang="en-US" sz="2600" b="1" dirty="0" err="1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</a:t>
            </a:r>
            <a:r>
              <a:rPr lang="en-US" altLang="zh-TW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(Gross Basis)</a:t>
            </a:r>
            <a:r>
              <a:rPr 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＝ B － c × F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95528" y="2221992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現券乾淨價　c 轉換因子　F 期貨價格　｜　報價單位 1／32 點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5349240" cy="1737360"/>
          </a:xfrm>
          <a:prstGeom prst="roundRect">
            <a:avLst>
              <a:gd name="adj" fmla="val 263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86968" y="3246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 Long Basis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36758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買現券 ＋ 賣 c 加權期貨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40965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買下交割選擇權，等基差擴大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91072" y="3063240"/>
            <a:ext cx="5349240" cy="1737360"/>
          </a:xfrm>
          <a:prstGeom prst="roundRect">
            <a:avLst>
              <a:gd name="adj" fmla="val 2632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11112" y="3246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賣基差 Short Basis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11112" y="36758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賣現券 ＋ 買 c 加權期貨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11112" y="40965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賣出選擇權，賺 carry 與時間價值</a:t>
            </a:r>
            <a:endParaRPr lang="en-US" sz="14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77009013-DC33-41D7-B6A7-8F1A92691807}"/>
              </a:ext>
            </a:extLst>
          </p:cNvPr>
          <p:cNvSpPr/>
          <p:nvPr/>
        </p:nvSpPr>
        <p:spPr>
          <a:xfrm>
            <a:off x="553865" y="4968240"/>
            <a:ext cx="11073384" cy="114300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05D878A4-41BE-4A7E-9444-7FC59DFB982B}"/>
              </a:ext>
            </a:extLst>
          </p:cNvPr>
          <p:cNvSpPr/>
          <p:nvPr/>
        </p:nvSpPr>
        <p:spPr>
          <a:xfrm>
            <a:off x="782465" y="5281752"/>
            <a:ext cx="10616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</a:t>
            </a:r>
            <a:r>
              <a:rPr lang="en-US" sz="2600" b="1" dirty="0" err="1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</a:t>
            </a:r>
            <a:r>
              <a:rPr lang="en-US" altLang="zh-TW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(Net Basis)</a:t>
            </a:r>
            <a:r>
              <a:rPr 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＝ Gross Basis － Carry</a:t>
            </a:r>
            <a:endParaRPr lang="en-US" sz="26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D2C2270D-E9FE-4201-9963-CFE9963A3F04}"/>
              </a:ext>
            </a:extLst>
          </p:cNvPr>
          <p:cNvSpPr/>
          <p:nvPr/>
        </p:nvSpPr>
        <p:spPr>
          <a:xfrm>
            <a:off x="935431" y="5699760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殖利率波動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19674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</a:t>
            </a:r>
            <a:r>
              <a:rPr lang="en-US" altLang="zh-TW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轉換因子：拉到同一條起跑線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TW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73384" cy="1051560"/>
          </a:xfrm>
          <a:prstGeom prst="roundRect">
            <a:avLst>
              <a:gd name="adj" fmla="val 4348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95528" y="1773936"/>
            <a:ext cx="106161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＝ 該債券在殖利率 6% 下的每 1 元面額乾淨價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5528" y="2130552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交易所事前公布，合約存續期間固定不變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3081528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21792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30358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票息 6% ⇒ c =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30358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今天多數美債票息低於 6% ⇒ c ＜ 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3657600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" y="3858768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21792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3813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設計目的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3813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抹平票息差異，讓每一檔接近等值可交割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4434840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1792" y="4636008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1792" y="4636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07008" y="4590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高價債不吃虧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459028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買進貴，但交割時靠較高的 c 拿回更多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" y="5212080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21792" y="5413248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21792" y="5413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53675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但它不完美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536752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只在 6% 成立，一離開就有偏差 ⇒ CTD 由此而生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要配幾口期貨？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TW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7" y="1488294"/>
            <a:ext cx="9317301" cy="4323806"/>
          </a:xfrm>
          <a:prstGeom prst="roundRect">
            <a:avLst>
              <a:gd name="adj" fmla="val 192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78" y="1735727"/>
            <a:ext cx="5915297" cy="510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口數 ＝ 面額 ／ $100,000 × 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79" y="2377548"/>
            <a:ext cx="5915297" cy="153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$10mm、c＝0.8072 ⇒ 賣 81 口</a:t>
            </a:r>
            <a:endParaRPr lang="en-US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市場報價基差用的就是這個權重</a:t>
            </a:r>
            <a:endParaRPr lang="en-US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5DA100C9-8435-43CE-B8A4-AB2A7E13FF08}"/>
              </a:ext>
            </a:extLst>
          </p:cNvPr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</a:t>
            </a:r>
            <a:r>
              <a:rPr lang="en-US" altLang="zh-TW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0694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最便宜交割券：空方手上的選擇權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TW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交割時由空方挑券，多方只能接受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挑交割損失最小的那一檔 ＝ CTD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兩個判準：淨基差最低 ＝ IRR 最高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 會隨殖利率移動 ⇒ 選擇權價值來源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4D74774-157E-4251-8E63-DA6C178B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93" y="1465400"/>
            <a:ext cx="10417266" cy="4774835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5A432052-1E52-4825-B969-3EF0F70FFEC3}"/>
              </a:ext>
            </a:extLst>
          </p:cNvPr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基差的定義：所有計算的起點</a:t>
            </a:r>
            <a:endParaRPr lang="en-US" sz="3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32E7E3-449D-4F79-9678-BA0A8A2E72D7}"/>
              </a:ext>
            </a:extLst>
          </p:cNvPr>
          <p:cNvSpPr/>
          <p:nvPr/>
        </p:nvSpPr>
        <p:spPr>
          <a:xfrm>
            <a:off x="2795451" y="1752237"/>
            <a:ext cx="1210491" cy="3657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3">
            <a:extLst>
              <a:ext uri="{FF2B5EF4-FFF2-40B4-BE49-F238E27FC236}">
                <a16:creationId xmlns:a16="http://schemas.microsoft.com/office/drawing/2014/main" id="{33BAB857-216F-414D-BFFB-D897ADE2C4B4}"/>
              </a:ext>
            </a:extLst>
          </p:cNvPr>
          <p:cNvSpPr txBox="1"/>
          <p:nvPr/>
        </p:nvSpPr>
        <p:spPr>
          <a:xfrm>
            <a:off x="3934501" y="1818277"/>
            <a:ext cx="1081475" cy="28575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sz="1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期貨報價</a:t>
            </a:r>
            <a:r>
              <a:rPr lang="en-US" sz="1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(F)</a:t>
            </a:r>
            <a:endParaRPr 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E6CEC0-F6EE-4455-9770-D6E7025BCFFB}"/>
              </a:ext>
            </a:extLst>
          </p:cNvPr>
          <p:cNvSpPr/>
          <p:nvPr/>
        </p:nvSpPr>
        <p:spPr>
          <a:xfrm>
            <a:off x="887367" y="3565436"/>
            <a:ext cx="657497" cy="2830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3">
            <a:extLst>
              <a:ext uri="{FF2B5EF4-FFF2-40B4-BE49-F238E27FC236}">
                <a16:creationId xmlns:a16="http://schemas.microsoft.com/office/drawing/2014/main" id="{F73D09EE-6D5B-431A-80C6-394B4CC423D7}"/>
              </a:ext>
            </a:extLst>
          </p:cNvPr>
          <p:cNvSpPr txBox="1"/>
          <p:nvPr/>
        </p:nvSpPr>
        <p:spPr>
          <a:xfrm>
            <a:off x="887367" y="2927668"/>
            <a:ext cx="818515" cy="28575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票面利率</a:t>
            </a:r>
            <a:endParaRPr 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</a:endParaRPr>
          </a:p>
        </p:txBody>
      </p:sp>
      <p:sp>
        <p:nvSpPr>
          <p:cNvPr id="10" name="文字方塊 3">
            <a:extLst>
              <a:ext uri="{FF2B5EF4-FFF2-40B4-BE49-F238E27FC236}">
                <a16:creationId xmlns:a16="http://schemas.microsoft.com/office/drawing/2014/main" id="{EB0EB25B-9851-417D-BB97-5BCF5E0FE561}"/>
              </a:ext>
            </a:extLst>
          </p:cNvPr>
          <p:cNvSpPr txBox="1"/>
          <p:nvPr/>
        </p:nvSpPr>
        <p:spPr>
          <a:xfrm>
            <a:off x="3187427" y="2927668"/>
            <a:ext cx="818515" cy="28575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乾淨價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(B)</a:t>
            </a:r>
            <a:endParaRPr 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E34404-0CD4-4EC7-B07E-A4DD22BFD8AD}"/>
              </a:ext>
            </a:extLst>
          </p:cNvPr>
          <p:cNvSpPr/>
          <p:nvPr/>
        </p:nvSpPr>
        <p:spPr>
          <a:xfrm>
            <a:off x="3087956" y="3577954"/>
            <a:ext cx="1081475" cy="2830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182E8F-28EA-4371-BE41-518B06FC3877}"/>
              </a:ext>
            </a:extLst>
          </p:cNvPr>
          <p:cNvSpPr/>
          <p:nvPr/>
        </p:nvSpPr>
        <p:spPr>
          <a:xfrm>
            <a:off x="6683828" y="3533867"/>
            <a:ext cx="547732" cy="28738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文字方塊 3">
            <a:extLst>
              <a:ext uri="{FF2B5EF4-FFF2-40B4-BE49-F238E27FC236}">
                <a16:creationId xmlns:a16="http://schemas.microsoft.com/office/drawing/2014/main" id="{39D82943-D9DE-437B-88B7-863A15073AA8}"/>
              </a:ext>
            </a:extLst>
          </p:cNvPr>
          <p:cNvSpPr txBox="1"/>
          <p:nvPr/>
        </p:nvSpPr>
        <p:spPr>
          <a:xfrm>
            <a:off x="6148706" y="3245214"/>
            <a:ext cx="1175657" cy="28575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轉換因子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(C)</a:t>
            </a:r>
            <a:endParaRPr 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</a:endParaRPr>
          </a:p>
        </p:txBody>
      </p:sp>
      <p:sp>
        <p:nvSpPr>
          <p:cNvPr id="14" name="文字方塊 3">
            <a:extLst>
              <a:ext uri="{FF2B5EF4-FFF2-40B4-BE49-F238E27FC236}">
                <a16:creationId xmlns:a16="http://schemas.microsoft.com/office/drawing/2014/main" id="{90C8DB97-8F1E-4C2B-BF96-BFCDE50989D3}"/>
              </a:ext>
            </a:extLst>
          </p:cNvPr>
          <p:cNvSpPr txBox="1"/>
          <p:nvPr/>
        </p:nvSpPr>
        <p:spPr>
          <a:xfrm>
            <a:off x="10511246" y="3292564"/>
            <a:ext cx="793388" cy="25908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淨基差</a:t>
            </a:r>
            <a:endParaRPr 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22D878-35C6-458E-B0B7-26CCC1CDC620}"/>
              </a:ext>
            </a:extLst>
          </p:cNvPr>
          <p:cNvSpPr/>
          <p:nvPr/>
        </p:nvSpPr>
        <p:spPr>
          <a:xfrm>
            <a:off x="10770324" y="3565436"/>
            <a:ext cx="657497" cy="28738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0E8880C-C9D3-406E-9099-55AFEA851FA8}"/>
              </a:ext>
            </a:extLst>
          </p:cNvPr>
          <p:cNvSpPr txBox="1"/>
          <p:nvPr/>
        </p:nvSpPr>
        <p:spPr>
          <a:xfrm>
            <a:off x="6683828" y="4335684"/>
            <a:ext cx="299473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CTD=</a:t>
            </a: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最高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IRR=</a:t>
            </a:r>
            <a:r>
              <a:rPr lang="zh-TW" altLang="en-US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最低淨基差</a:t>
            </a:r>
          </a:p>
        </p:txBody>
      </p:sp>
      <p:sp>
        <p:nvSpPr>
          <p:cNvPr id="17" name="文字方塊 3">
            <a:extLst>
              <a:ext uri="{FF2B5EF4-FFF2-40B4-BE49-F238E27FC236}">
                <a16:creationId xmlns:a16="http://schemas.microsoft.com/office/drawing/2014/main" id="{22A2A4A2-330F-41CD-9079-B8CEACF1637D}"/>
              </a:ext>
            </a:extLst>
          </p:cNvPr>
          <p:cNvSpPr txBox="1"/>
          <p:nvPr/>
        </p:nvSpPr>
        <p:spPr>
          <a:xfrm>
            <a:off x="8102420" y="3222625"/>
            <a:ext cx="1598294" cy="28575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隱含附買回利率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rPr>
              <a:t>(IRR)</a:t>
            </a:r>
            <a:endParaRPr 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6E3249-5B5B-44F9-BEA5-823E5CFADCAF}"/>
              </a:ext>
            </a:extLst>
          </p:cNvPr>
          <p:cNvSpPr/>
          <p:nvPr/>
        </p:nvSpPr>
        <p:spPr>
          <a:xfrm>
            <a:off x="8643938" y="3519716"/>
            <a:ext cx="547732" cy="28738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B26CADC9-64FB-4449-AAD3-93CFCA7DCC48}"/>
              </a:ext>
            </a:extLst>
          </p:cNvPr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03</a:t>
            </a:r>
            <a:endParaRPr lang="en-US" sz="13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E328CED7-2201-4A6F-AB0C-61FA95150426}"/>
              </a:ext>
            </a:extLst>
          </p:cNvPr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TW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4136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 ＝ 買選擇權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TW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5349240" cy="2194560"/>
          </a:xfrm>
          <a:prstGeom prst="roundRect">
            <a:avLst>
              <a:gd name="adj" fmla="val 161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86968" y="258032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買基差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6968" y="3143250"/>
            <a:ext cx="470916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最壞：基差收斂到</a:t>
            </a: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上檔：CTD 切換、基差擴大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有限風險 ＋ 無限上檔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1072" y="2377440"/>
            <a:ext cx="5349240" cy="2194560"/>
          </a:xfrm>
          <a:prstGeom prst="roundRect">
            <a:avLst>
              <a:gd name="adj" fmla="val 1613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11112" y="254889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賣基差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11112" y="3143250"/>
            <a:ext cx="4709160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最好：基差收斂到</a:t>
            </a: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</a:t>
            </a:r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波動放大時損失無上限</a:t>
            </a:r>
            <a:endParaRPr lang="en-US" sz="1600" dirty="0"/>
          </a:p>
          <a:p>
            <a:pPr marL="203200" indent="-2032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有限獲利 ＋ 無限風險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892040"/>
            <a:ext cx="11073384" cy="1097280"/>
          </a:xfrm>
          <a:prstGeom prst="roundRect">
            <a:avLst>
              <a:gd name="adj" fmla="val 4167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5528" y="5020056"/>
            <a:ext cx="10616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CTD 的 IRR 通常略低於同天期短期利率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5528" y="5422392"/>
            <a:ext cx="1061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6B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那一小段差額，就是長基差方付出的選擇權權利金</a:t>
            </a:r>
            <a:endParaRPr lang="en-US" sz="13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463B9703-340D-441A-8B8E-E7274E09E3D0}"/>
              </a:ext>
            </a:extLst>
          </p:cNvPr>
          <p:cNvSpPr/>
          <p:nvPr/>
        </p:nvSpPr>
        <p:spPr>
          <a:xfrm>
            <a:off x="548640" y="1399032"/>
            <a:ext cx="11073384" cy="822960"/>
          </a:xfrm>
          <a:prstGeom prst="roundRect">
            <a:avLst>
              <a:gd name="adj" fmla="val 4000"/>
            </a:avLst>
          </a:prstGeom>
          <a:solidFill>
            <a:srgbClr val="FBF2E3"/>
          </a:solidFill>
          <a:ln w="12700">
            <a:solidFill>
              <a:srgbClr val="FBF2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6701BED-6527-45AB-8C2A-2F2ECE9B5953}"/>
              </a:ext>
            </a:extLst>
          </p:cNvPr>
          <p:cNvSpPr/>
          <p:nvPr/>
        </p:nvSpPr>
        <p:spPr>
          <a:xfrm>
            <a:off x="777240" y="1600200"/>
            <a:ext cx="10616184" cy="44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</a:t>
            </a:r>
            <a:r>
              <a:rPr lang="en-US" sz="2600" b="1" dirty="0" err="1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</a:t>
            </a:r>
            <a:r>
              <a:rPr lang="en-US" altLang="zh-TW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(Net Basis)</a:t>
            </a:r>
            <a:r>
              <a:rPr 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＝ </a:t>
            </a:r>
            <a:r>
              <a:rPr lang="en-US" altLang="zh-TW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－ c × F </a:t>
            </a:r>
            <a:r>
              <a:rPr lang="en-US" sz="26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 Carry</a:t>
            </a:r>
            <a:endParaRPr lang="en-US" sz="26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A6A3F717-1C2B-463A-993A-80BCFFCD1FBF}"/>
              </a:ext>
            </a:extLst>
          </p:cNvPr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04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6840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</a:rPr>
              <a:t>基差交易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TW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" y="1685215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21792" y="16852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1639495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</a:rPr>
              <a:t>建倉</a:t>
            </a:r>
            <a:r>
              <a:rPr lang="en-US" altLang="zh-TW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</a:rPr>
              <a:t>—</a:t>
            </a:r>
            <a:r>
              <a:rPr lang="zh-TW" alt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</a:rPr>
              <a:t>買現券</a:t>
            </a:r>
            <a:r>
              <a:rPr lang="en-US" altLang="zh-TW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</a:rPr>
              <a:t>+</a:t>
            </a:r>
            <a:r>
              <a:rPr lang="zh-TW" alt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</a:rPr>
              <a:t>空期貨</a:t>
            </a:r>
            <a:endParaRPr lang="en-US" sz="1600" b="1" dirty="0">
              <a:solidFill>
                <a:srgbClr val="12234B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26280" y="1639495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挑選目前的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CTD</a:t>
            </a: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券去建立多頭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Basis</a:t>
            </a:r>
            <a:endParaRPr lang="en-US" sz="1600" dirty="0">
              <a:solidFill>
                <a:srgbClr val="1B2333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" y="2261287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" y="2462455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21792" y="24624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2416735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</a:rPr>
              <a:t>現券做</a:t>
            </a:r>
            <a:r>
              <a:rPr lang="en-US" altLang="zh-TW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</a:rPr>
              <a:t>repo</a:t>
            </a:r>
            <a:endParaRPr lang="en-US" sz="1600" b="1" dirty="0">
              <a:solidFill>
                <a:srgbClr val="12234B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26280" y="2416735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票息利息 − 融資成本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 </a:t>
            </a:r>
          </a:p>
        </p:txBody>
      </p:sp>
      <p:sp>
        <p:nvSpPr>
          <p:cNvPr id="18" name="Shape 16"/>
          <p:cNvSpPr/>
          <p:nvPr/>
        </p:nvSpPr>
        <p:spPr>
          <a:xfrm>
            <a:off x="566928" y="3038527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1792" y="3239695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1792" y="323969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07008" y="3193975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3193975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殖利率大幅波動，讓現券「跌出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CTD</a:t>
            </a: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地位</a:t>
            </a:r>
            <a:r>
              <a:rPr lang="zh-TW" altLang="en-US" sz="1600" dirty="0"/>
              <a:t>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" y="3815767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21792" y="4016935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21792" y="401693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3971215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CTD</a:t>
            </a:r>
            <a:r>
              <a:rPr lang="zh-TW" alt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</a:rPr>
              <a:t>切換，期貨改追蹤新</a:t>
            </a:r>
            <a:r>
              <a:rPr lang="en-US" altLang="zh-TW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</a:rPr>
              <a:t>CTD</a:t>
            </a:r>
            <a:endParaRPr lang="en-US" sz="1600" b="1" dirty="0">
              <a:solidFill>
                <a:srgbClr val="12234B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26280" y="3971215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現貨的漲幅 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&gt; </a:t>
            </a: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期貨漲幅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(</a:t>
            </a: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或跌幅 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&lt; </a:t>
            </a: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期貨跌幅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)→ Basis</a:t>
            </a: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走擴 </a:t>
            </a:r>
            <a:b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</a:b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→ 現貨腳賺得比期貨腳賠得多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(</a:t>
            </a: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或反之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)</a:t>
            </a:r>
            <a:endParaRPr lang="en-US" sz="1600" dirty="0">
              <a:solidFill>
                <a:srgbClr val="1B2333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8FE86430-DFF3-4D90-BF8D-AB34B11F0DDF}"/>
              </a:ext>
            </a:extLst>
          </p:cNvPr>
          <p:cNvSpPr/>
          <p:nvPr/>
        </p:nvSpPr>
        <p:spPr>
          <a:xfrm>
            <a:off x="566928" y="4649429"/>
            <a:ext cx="11073384" cy="7315"/>
          </a:xfrm>
          <a:prstGeom prst="rect">
            <a:avLst/>
          </a:prstGeom>
          <a:solidFill>
            <a:srgbClr val="D6DE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57FDC7C6-DEC9-411B-9652-F741EE9712F8}"/>
              </a:ext>
            </a:extLst>
          </p:cNvPr>
          <p:cNvSpPr/>
          <p:nvPr/>
        </p:nvSpPr>
        <p:spPr>
          <a:xfrm>
            <a:off x="621792" y="4850597"/>
            <a:ext cx="402336" cy="402336"/>
          </a:xfrm>
          <a:prstGeom prst="ellipse">
            <a:avLst/>
          </a:prstGeom>
          <a:solidFill>
            <a:srgbClr val="1223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B0586E8D-F941-4CBA-B72D-94B1ED8B05E6}"/>
              </a:ext>
            </a:extLst>
          </p:cNvPr>
          <p:cNvSpPr/>
          <p:nvPr/>
        </p:nvSpPr>
        <p:spPr>
          <a:xfrm>
            <a:off x="621792" y="485059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ABDBB643-3548-497E-B957-37B2BF6E7605}"/>
              </a:ext>
            </a:extLst>
          </p:cNvPr>
          <p:cNvSpPr/>
          <p:nvPr/>
        </p:nvSpPr>
        <p:spPr>
          <a:xfrm>
            <a:off x="1207008" y="4804877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6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平倉出場</a:t>
            </a:r>
            <a:endParaRPr lang="en-US" sz="1600" b="1" dirty="0">
              <a:solidFill>
                <a:srgbClr val="12234B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61A905FF-A929-4274-88C6-000DEC498792}"/>
              </a:ext>
            </a:extLst>
          </p:cNvPr>
          <p:cNvSpPr/>
          <p:nvPr/>
        </p:nvSpPr>
        <p:spPr>
          <a:xfrm>
            <a:off x="4526280" y="4804877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損益為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Basis</a:t>
            </a:r>
            <a:r>
              <a:rPr lang="zh-TW" altLang="en-US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走擴的價差，加上原本累積的</a:t>
            </a:r>
            <a:r>
              <a:rPr lang="en-US" altLang="zh-TW" sz="160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</a:rPr>
              <a:t>Carry</a:t>
            </a:r>
            <a:endParaRPr lang="en-US" sz="1600" dirty="0">
              <a:solidFill>
                <a:srgbClr val="1B2333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60F992A8-A2FE-4CFC-AD59-67CAC7A7B8C0}"/>
              </a:ext>
            </a:extLst>
          </p:cNvPr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04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698075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做多基差總損益:兩種等價算法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5361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多現貨 CTD + 放空 cf 加權期貨,持有到交割（B 為乾淨價）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5394960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101600" dist="25400" dir="5400000" algn="bl" rotWithShape="0">
              <a:srgbClr val="8A97AC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205740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24406E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持倉法 · 按每一腿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4882896" cy="914400"/>
          </a:xfrm>
          <a:prstGeom prst="roundRect">
            <a:avLst>
              <a:gd name="adj" fmla="val 5000"/>
            </a:avLst>
          </a:prstGeom>
          <a:solidFill>
            <a:srgbClr val="F1F4F9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3464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4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 B</a:t>
            </a:r>
            <a:r>
              <a:rPr lang="en-US" sz="1550" b="1" baseline="-40000" dirty="0">
                <a:solidFill>
                  <a:srgbClr val="244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r>
              <a:rPr lang="en-US" sz="1550" b="1" dirty="0">
                <a:solidFill>
                  <a:srgbClr val="244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−B</a:t>
            </a:r>
            <a:r>
              <a:rPr lang="en-US" sz="1550" b="1" baseline="-40000" dirty="0">
                <a:solidFill>
                  <a:srgbClr val="244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r>
              <a:rPr lang="en-US" sz="1550" b="1" dirty="0">
                <a:solidFill>
                  <a:srgbClr val="244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)</a:t>
            </a:r>
            <a:r>
              <a:rPr lang="en-US" sz="1550" b="1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</a:t>
            </a:r>
            <a:r>
              <a:rPr lang="en-US" sz="155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c( F</a:t>
            </a:r>
            <a:r>
              <a:rPr lang="en-US" sz="1550" b="1" baseline="-40000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r>
              <a:rPr lang="en-US" sz="155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−F</a:t>
            </a:r>
            <a:r>
              <a:rPr lang="en-US" sz="1550" b="1" baseline="-40000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r>
              <a:rPr lang="en-US" sz="155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)</a:t>
            </a:r>
            <a:r>
              <a:rPr lang="en-US" sz="1550" b="1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</a:t>
            </a:r>
            <a:r>
              <a:rPr lang="en-US" sz="1550" b="1" dirty="0">
                <a:solidFill>
                  <a:srgbClr val="2C6E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 coupon−repo 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44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 B₁−B₀ )  </a:t>
            </a:r>
            <a:r>
              <a:rPr lang="en-US" sz="135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現貨乾淨價變動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c( F₀−F₁ )  </a:t>
            </a:r>
            <a:r>
              <a:rPr lang="en-US" sz="135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放空期貨,F 跌你賺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C6E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coupon−repo  </a:t>
            </a:r>
            <a:r>
              <a:rPr lang="en-US" sz="135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carry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89320" y="32004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583680" y="2057400"/>
            <a:ext cx="5029200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blurRad="101600" dist="25400" dir="5400000" algn="bl" rotWithShape="0">
              <a:srgbClr val="8A97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057400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8A5510"/>
          </a:solidFill>
          <a:ln w="12700">
            <a:solidFill>
              <a:srgbClr val="8A55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205740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基差法 · carry + 選擇權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9712" y="2834640"/>
            <a:ext cx="4517136" cy="914400"/>
          </a:xfrm>
          <a:prstGeom prst="roundRect">
            <a:avLst>
              <a:gd name="adj" fmla="val 5000"/>
            </a:avLst>
          </a:prstGeom>
          <a:solidFill>
            <a:srgbClr val="FBF2E3"/>
          </a:solidFill>
          <a:ln w="12700">
            <a:solidFill>
              <a:srgbClr val="E4C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2834640"/>
            <a:ext cx="4517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C6E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carry</a:t>
            </a:r>
            <a:r>
              <a:rPr lang="en-US" sz="1900" b="1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</a:t>
            </a:r>
            <a:r>
              <a:rPr lang="en-US" sz="19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 NB</a:t>
            </a:r>
            <a:r>
              <a:rPr lang="en-US" sz="1900" b="1" baseline="-40000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r>
              <a:rPr lang="en-US" sz="19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−NB</a:t>
            </a:r>
            <a:r>
              <a:rPr lang="en-US" sz="1900" b="1" baseline="-40000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r>
              <a:rPr lang="en-US" sz="19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885432" y="388620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C6E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carry  </a:t>
            </a:r>
            <a:r>
              <a:rPr lang="en-US" sz="135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持有損益(確定性)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NB₁−NB₀  </a:t>
            </a:r>
            <a:r>
              <a:rPr lang="en-US" sz="1350" dirty="0">
                <a:solidFill>
                  <a:srgbClr val="1B2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淨基差變動 = 選擇權損益</a:t>
            </a:r>
            <a:endParaRPr lang="en-US" sz="1350" dirty="0"/>
          </a:p>
          <a:p>
            <a:pPr marL="0" indent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50" i="1" dirty="0">
                <a:solidFill>
                  <a:srgbClr val="5663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NB = 總基差 − carry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57784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12234B"/>
          </a:solidFill>
          <a:ln w="12700">
            <a:solidFill>
              <a:srgbClr val="1223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69280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3D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為何相等?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總基差 = carry + 淨基差。持倉法的「價格變動」= 總基差變動,其中 carry 那塊以票息現金流實現、淨基差那塊即選擇權損益。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4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carry 只算一次:B 為乾淨價已排除票息,故單獨加回;若 B 用全價則票息已內含,不可再加。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5836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05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2BF6A1CA-C6E4-4139-B527-A61CA7DE2FF3}"/>
              </a:ext>
            </a:extLst>
          </p:cNvPr>
          <p:cNvSpPr/>
          <p:nvPr/>
        </p:nvSpPr>
        <p:spPr>
          <a:xfrm>
            <a:off x="671431" y="57084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獲利與風險</a:t>
            </a:r>
            <a:r>
              <a:rPr lang="en-US" sz="1300" b="1" kern="0" spc="200" dirty="0">
                <a:solidFill>
                  <a:srgbClr val="C87F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3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5F4A9AD-ACE0-4AA2-8B08-8147BC618670}"/>
              </a:ext>
            </a:extLst>
          </p:cNvPr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zh-TW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Q&amp;A</a:t>
            </a:r>
            <a:r>
              <a:rPr lang="en-US" sz="3200" b="1" dirty="0">
                <a:solidFill>
                  <a:srgbClr val="1223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r>
              <a:rPr lang="en-US" altLang="zh-TW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美國公債期貨基差交易 · 讀書會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88294"/>
            <a:ext cx="9317301" cy="4323806"/>
          </a:xfrm>
          <a:prstGeom prst="roundRect">
            <a:avLst>
              <a:gd name="adj" fmla="val 192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78" y="2057133"/>
            <a:ext cx="8501745" cy="1129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1.</a:t>
            </a:r>
            <a:r>
              <a:rPr lang="zh-TW" alt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如何判斷基差足夠划算</a:t>
            </a:r>
            <a:r>
              <a:rPr lang="en-US" altLang="zh-TW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?</a:t>
            </a:r>
            <a:r>
              <a:rPr lang="zh-TW" alt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尤其以現在的市場利率皆低於</a:t>
            </a:r>
            <a:r>
              <a:rPr lang="en-US" altLang="zh-TW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6%</a:t>
            </a:r>
            <a:r>
              <a:rPr lang="zh-TW" alt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的情況下，</a:t>
            </a:r>
            <a:r>
              <a:rPr lang="en-US" altLang="zh-TW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CTD</a:t>
            </a:r>
            <a:r>
              <a:rPr lang="zh-TW" alt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難以有轉換的可能性</a:t>
            </a:r>
            <a:r>
              <a:rPr lang="en-US" altLang="zh-TW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79" y="2377548"/>
            <a:ext cx="5915297" cy="153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5C1EEF9-25C9-4165-98A6-5C4DC477A8E9}"/>
              </a:ext>
            </a:extLst>
          </p:cNvPr>
          <p:cNvSpPr/>
          <p:nvPr/>
        </p:nvSpPr>
        <p:spPr>
          <a:xfrm>
            <a:off x="868677" y="3351113"/>
            <a:ext cx="8501745" cy="1129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2.</a:t>
            </a:r>
            <a:r>
              <a:rPr lang="zh-TW" alt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既然基差交易的本質是利率選擇權</a:t>
            </a:r>
            <a:r>
              <a:rPr lang="en-US" altLang="zh-TW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?</a:t>
            </a:r>
            <a:r>
              <a:rPr lang="zh-TW" altLang="en-US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與直接交易利率選擇權的差異為何</a:t>
            </a:r>
            <a:r>
              <a:rPr lang="en-US" altLang="zh-TW" sz="2000" b="1" dirty="0">
                <a:solidFill>
                  <a:srgbClr val="8A5510"/>
                </a:solidFill>
                <a:latin typeface="Microsoft JhengHei" pitchFamily="34" charset="0"/>
                <a:ea typeface="Microsoft JhengHei" pitchFamily="34" charset="-122"/>
              </a:rPr>
              <a:t>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7583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1500</Words>
  <Application>Microsoft Office PowerPoint</Application>
  <PresentationFormat>寬螢幕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徐嘉蔚</cp:lastModifiedBy>
  <cp:revision>18</cp:revision>
  <dcterms:created xsi:type="dcterms:W3CDTF">2026-07-27T07:18:55Z</dcterms:created>
  <dcterms:modified xsi:type="dcterms:W3CDTF">2026-07-30T07:18:49Z</dcterms:modified>
</cp:coreProperties>
</file>