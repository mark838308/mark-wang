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60" r:id="rId2"/>
    <p:sldMasterId id="2147483672" r:id="rId3"/>
    <p:sldMasterId id="2147483684" r:id="rId4"/>
    <p:sldMasterId id="2147483696" r:id="rId5"/>
    <p:sldMasterId id="2147483708" r:id="rId6"/>
    <p:sldMasterId id="2147483709" r:id="rId7"/>
    <p:sldMasterId id="2147483722" r:id="rId8"/>
    <p:sldMasterId id="2147483723" r:id="rId9"/>
    <p:sldMasterId id="2147483724" r:id="rId10"/>
    <p:sldMasterId id="2147483725" r:id="rId11"/>
  </p:sldMasterIdLst>
  <p:notesMasterIdLst>
    <p:notesMasterId r:id="rId14"/>
  </p:notesMasterIdLst>
  <p:handoutMasterIdLst>
    <p:handoutMasterId r:id="rId15"/>
  </p:handoutMasterIdLst>
  <p:sldIdLst>
    <p:sldId id="3949" r:id="rId12"/>
    <p:sldId id="3951" r:id="rId13"/>
  </p:sldIdLst>
  <p:sldSz cx="9144000" cy="6858000" type="screen4x3"/>
  <p:notesSz cx="6797675" cy="9926638"/>
  <p:defaultTextStyle>
    <a:defPPr>
      <a:defRPr lang="zh-TW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42AA3BAE-0B5A-4CF3-9EE5-B8ACC2ADE216}">
          <p14:sldIdLst>
            <p14:sldId id="3949"/>
            <p14:sldId id="395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46">
          <p15:clr>
            <a:srgbClr val="A4A3A4"/>
          </p15:clr>
        </p15:guide>
        <p15:guide id="2" pos="2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5">
          <p15:clr>
            <a:srgbClr val="A4A3A4"/>
          </p15:clr>
        </p15:guide>
        <p15:guide id="2" pos="211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陳柏龍" initials="陳柏龍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showAnimation="0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111111"/>
    <a:srgbClr val="CC00CC"/>
    <a:srgbClr val="0000FF"/>
    <a:srgbClr val="FF3300"/>
    <a:srgbClr val="00FF00"/>
    <a:srgbClr val="3333FF"/>
    <a:srgbClr val="800000"/>
    <a:srgbClr val="4D4D4D"/>
    <a:srgbClr val="4747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52" autoAdjust="0"/>
    <p:restoredTop sz="96000" autoAdjust="0"/>
  </p:normalViewPr>
  <p:slideViewPr>
    <p:cSldViewPr>
      <p:cViewPr varScale="1">
        <p:scale>
          <a:sx n="109" d="100"/>
          <a:sy n="109" d="100"/>
        </p:scale>
        <p:origin x="1080" y="96"/>
      </p:cViewPr>
      <p:guideLst>
        <p:guide orient="horz" pos="2146"/>
        <p:guide pos="2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74" d="100"/>
          <a:sy n="74" d="100"/>
        </p:scale>
        <p:origin x="-67" y="-158"/>
      </p:cViewPr>
      <p:guideLst>
        <p:guide orient="horz" pos="3105"/>
        <p:guide pos="211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2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1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5" Type="http://schemas.openxmlformats.org/officeDocument/2006/relationships/slideMaster" Target="slideMasters/slideMaster5.xml"/><Relationship Id="rId15" Type="http://schemas.openxmlformats.org/officeDocument/2006/relationships/handoutMaster" Target="handoutMasters/handoutMaster1.xml"/><Relationship Id="rId10" Type="http://schemas.openxmlformats.org/officeDocument/2006/relationships/slideMaster" Target="slideMasters/slideMaster10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1080131\Desktop\&#20919;&#21048;&#34920;.xlsm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pPr>
            <a:r>
              <a:rPr lang="en-US" altLang="zh-TW" sz="12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A14106</a:t>
            </a:r>
            <a:r>
              <a:rPr lang="zh-TW" altLang="en-US" sz="12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(30Y</a:t>
            </a:r>
            <a:r>
              <a:rPr lang="zh-TW" altLang="en-US" sz="12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券</a:t>
            </a:r>
            <a:r>
              <a:rPr lang="en-US" altLang="zh-TW" sz="12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12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利率走勢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defRPr>
          </a:pPr>
          <a:endParaRPr lang="zh-TW"/>
        </a:p>
      </c:txPr>
    </c:title>
    <c:autoTitleDeleted val="0"/>
    <c:plotArea>
      <c:layout/>
      <c:scatterChart>
        <c:scatterStyle val="smoothMarker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dLbl>
              <c:idx val="37"/>
              <c:layout>
                <c:manualLayout>
                  <c:x val="-4.7935158096101667E-2"/>
                  <c:y val="-7.3888176187976939E-2"/>
                </c:manualLayout>
              </c:layout>
              <c:tx>
                <c:rich>
                  <a:bodyPr/>
                  <a:lstStyle/>
                  <a:p>
                    <a:fld id="{440AE612-EBD4-4F66-8722-F93971ECE52F}" type="YVALUE">
                      <a:rPr lang="en-US" altLang="zh-TW" smtClean="0"/>
                      <a:pPr/>
                      <a:t>[Y 值]</a:t>
                    </a:fld>
                    <a:endParaRPr lang="zh-TW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7057-4E6C-8B71-384B650EC25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FF0000"/>
                    </a:solidFill>
                    <a:latin typeface="+mn-lt"/>
                    <a:ea typeface="+mn-ea"/>
                    <a:cs typeface="+mn-cs"/>
                  </a:defRPr>
                </a:pPr>
                <a:endParaRPr lang="zh-TW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'冷券表 (2)'!$F$10:$F$47</c:f>
              <c:numCache>
                <c:formatCode>m/d;@</c:formatCode>
                <c:ptCount val="38"/>
                <c:pt idx="0">
                  <c:v>45790</c:v>
                </c:pt>
                <c:pt idx="1">
                  <c:v>45792</c:v>
                </c:pt>
                <c:pt idx="2">
                  <c:v>45793</c:v>
                </c:pt>
                <c:pt idx="3">
                  <c:v>45803</c:v>
                </c:pt>
                <c:pt idx="4">
                  <c:v>45806</c:v>
                </c:pt>
                <c:pt idx="5">
                  <c:v>45811</c:v>
                </c:pt>
                <c:pt idx="6">
                  <c:v>45812</c:v>
                </c:pt>
                <c:pt idx="7">
                  <c:v>45814</c:v>
                </c:pt>
                <c:pt idx="8">
                  <c:v>45820</c:v>
                </c:pt>
                <c:pt idx="9">
                  <c:v>45824</c:v>
                </c:pt>
                <c:pt idx="10">
                  <c:v>45825</c:v>
                </c:pt>
                <c:pt idx="11">
                  <c:v>45826</c:v>
                </c:pt>
                <c:pt idx="12">
                  <c:v>45827</c:v>
                </c:pt>
                <c:pt idx="13">
                  <c:v>45832</c:v>
                </c:pt>
                <c:pt idx="14">
                  <c:v>45835</c:v>
                </c:pt>
                <c:pt idx="15">
                  <c:v>45840</c:v>
                </c:pt>
                <c:pt idx="16">
                  <c:v>45862</c:v>
                </c:pt>
                <c:pt idx="17">
                  <c:v>45867</c:v>
                </c:pt>
                <c:pt idx="18">
                  <c:v>45868</c:v>
                </c:pt>
                <c:pt idx="19">
                  <c:v>45870</c:v>
                </c:pt>
                <c:pt idx="20">
                  <c:v>45874</c:v>
                </c:pt>
                <c:pt idx="21">
                  <c:v>45875</c:v>
                </c:pt>
                <c:pt idx="22">
                  <c:v>45881</c:v>
                </c:pt>
                <c:pt idx="23">
                  <c:v>45882</c:v>
                </c:pt>
                <c:pt idx="24">
                  <c:v>45883</c:v>
                </c:pt>
                <c:pt idx="25">
                  <c:v>45887</c:v>
                </c:pt>
                <c:pt idx="26">
                  <c:v>45888</c:v>
                </c:pt>
                <c:pt idx="27">
                  <c:v>45889</c:v>
                </c:pt>
                <c:pt idx="28">
                  <c:v>45890</c:v>
                </c:pt>
                <c:pt idx="29">
                  <c:v>45896</c:v>
                </c:pt>
                <c:pt idx="30">
                  <c:v>45909</c:v>
                </c:pt>
                <c:pt idx="31">
                  <c:v>45910</c:v>
                </c:pt>
                <c:pt idx="32">
                  <c:v>45925</c:v>
                </c:pt>
                <c:pt idx="33">
                  <c:v>45938</c:v>
                </c:pt>
                <c:pt idx="34">
                  <c:v>45945</c:v>
                </c:pt>
                <c:pt idx="35">
                  <c:v>45947</c:v>
                </c:pt>
                <c:pt idx="36">
                  <c:v>45950</c:v>
                </c:pt>
                <c:pt idx="37">
                  <c:v>45951</c:v>
                </c:pt>
              </c:numCache>
            </c:numRef>
          </c:xVal>
          <c:yVal>
            <c:numRef>
              <c:f>'冷券表 (2)'!$G$10:$G$47</c:f>
              <c:numCache>
                <c:formatCode>General</c:formatCode>
                <c:ptCount val="38"/>
                <c:pt idx="0">
                  <c:v>1.89</c:v>
                </c:pt>
                <c:pt idx="1">
                  <c:v>1.9005000000000001</c:v>
                </c:pt>
                <c:pt idx="2">
                  <c:v>1.8886000000000001</c:v>
                </c:pt>
                <c:pt idx="3">
                  <c:v>1.8825000000000001</c:v>
                </c:pt>
                <c:pt idx="4">
                  <c:v>1.87</c:v>
                </c:pt>
                <c:pt idx="5">
                  <c:v>1.8651</c:v>
                </c:pt>
                <c:pt idx="6">
                  <c:v>1.8556999999999999</c:v>
                </c:pt>
                <c:pt idx="7">
                  <c:v>1.8554999999999999</c:v>
                </c:pt>
                <c:pt idx="8">
                  <c:v>1.8460000000000001</c:v>
                </c:pt>
                <c:pt idx="9">
                  <c:v>1.8460000000000001</c:v>
                </c:pt>
                <c:pt idx="10">
                  <c:v>1.845</c:v>
                </c:pt>
                <c:pt idx="11">
                  <c:v>1.8404</c:v>
                </c:pt>
                <c:pt idx="12">
                  <c:v>1.83</c:v>
                </c:pt>
                <c:pt idx="13">
                  <c:v>1.7916000000000001</c:v>
                </c:pt>
                <c:pt idx="14">
                  <c:v>1.74</c:v>
                </c:pt>
                <c:pt idx="15">
                  <c:v>1.6850000000000001</c:v>
                </c:pt>
                <c:pt idx="16">
                  <c:v>1.68</c:v>
                </c:pt>
                <c:pt idx="17">
                  <c:v>1.6457999999999999</c:v>
                </c:pt>
                <c:pt idx="18">
                  <c:v>1.6359999999999999</c:v>
                </c:pt>
                <c:pt idx="19">
                  <c:v>1.6245000000000001</c:v>
                </c:pt>
                <c:pt idx="20">
                  <c:v>1.627</c:v>
                </c:pt>
                <c:pt idx="21">
                  <c:v>1.635</c:v>
                </c:pt>
                <c:pt idx="22">
                  <c:v>1.6305000000000001</c:v>
                </c:pt>
                <c:pt idx="23">
                  <c:v>1.62</c:v>
                </c:pt>
                <c:pt idx="24">
                  <c:v>1.6165</c:v>
                </c:pt>
                <c:pt idx="25">
                  <c:v>1.6259999999999999</c:v>
                </c:pt>
                <c:pt idx="26">
                  <c:v>1.637</c:v>
                </c:pt>
                <c:pt idx="27">
                  <c:v>1.65</c:v>
                </c:pt>
                <c:pt idx="28">
                  <c:v>1.6559999999999999</c:v>
                </c:pt>
                <c:pt idx="29">
                  <c:v>1.6405000000000001</c:v>
                </c:pt>
                <c:pt idx="30">
                  <c:v>1.591</c:v>
                </c:pt>
                <c:pt idx="31">
                  <c:v>1.591</c:v>
                </c:pt>
                <c:pt idx="32">
                  <c:v>1.5586</c:v>
                </c:pt>
                <c:pt idx="33">
                  <c:v>1.5449999999999999</c:v>
                </c:pt>
                <c:pt idx="34">
                  <c:v>1.4950000000000001</c:v>
                </c:pt>
                <c:pt idx="35">
                  <c:v>1.47</c:v>
                </c:pt>
                <c:pt idx="36">
                  <c:v>1.45</c:v>
                </c:pt>
                <c:pt idx="37">
                  <c:v>1.47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7057-4E6C-8B71-384B650EC2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02708496"/>
        <c:axId val="802705168"/>
      </c:scatterChart>
      <c:valAx>
        <c:axId val="802708496"/>
        <c:scaling>
          <c:orientation val="minMax"/>
          <c:max val="45952"/>
          <c:min val="45790"/>
        </c:scaling>
        <c:delete val="0"/>
        <c:axPos val="b"/>
        <c:numFmt formatCode="m/d;@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pPr>
            <a:endParaRPr lang="zh-TW"/>
          </a:p>
        </c:txPr>
        <c:crossAx val="802705168"/>
        <c:crosses val="autoZero"/>
        <c:crossBetween val="midCat"/>
        <c:majorUnit val="30"/>
        <c:minorUnit val="20"/>
      </c:valAx>
      <c:valAx>
        <c:axId val="802705168"/>
        <c:scaling>
          <c:orientation val="minMax"/>
          <c:max val="1.9"/>
          <c:min val="1.4"/>
        </c:scaling>
        <c:delete val="0"/>
        <c:axPos val="l"/>
        <c:numFmt formatCode="General" sourceLinked="1"/>
        <c:majorTickMark val="none"/>
        <c:minorTickMark val="none"/>
        <c:tickLblPos val="high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pPr>
            <a:endParaRPr lang="zh-TW"/>
          </a:p>
        </c:txPr>
        <c:crossAx val="802708496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700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31640"/>
            <a:ext cx="2945976" cy="49499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700" y="9431640"/>
            <a:ext cx="2945976" cy="49499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EA90D26C-E35A-450B-90C7-84C2B9602168}" type="slidenum">
              <a:rPr lang="en-US" altLang="zh-TW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0645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31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9163" y="746125"/>
            <a:ext cx="4959350" cy="37211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0084" y="4714708"/>
            <a:ext cx="5437507" cy="44661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/>
          <a:p>
            <a:pPr lvl="0"/>
            <a:r>
              <a:rPr lang="zh-TW" altLang="en-US" noProof="0"/>
              <a:t>按一下以編輯母片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7200"/>
            <a:ext cx="2945976" cy="49722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0645" y="9427200"/>
            <a:ext cx="2945976" cy="49722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360372AD-F29F-4D0F-B513-7219CBDC5F6C}" type="slidenum">
              <a:rPr lang="en-US" altLang="zh-TW"/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A91DC3-1E7A-4B25-8F56-B5B9998B32DD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824797-BBCB-46D5-B74F-32D725404A6B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3CE306-2D5A-4AB4-AC5D-5D21E1944430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9D7BD4-4153-4232-9FDF-0A95D9B5C8DE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BE1F83-3BEF-49AC-ABC8-8C6E80176E9C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852E88-0254-4B19-81B3-E8664451FBCF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1697D7-8013-4975-95E3-48F7F3F7499B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EA8A6C-E419-4A2D-A59F-0183255F70EA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8F0E97-51B7-4FFA-9BFC-ED098C10D8ED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C0AC26-B1DC-4AE7-A939-642DE9D4B085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38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38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BDB87F-1281-41B6-A636-95C78B523A08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795C5F3-99EF-4E92-8313-B7FF534E2851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79C1600-8D42-4597-8CA4-003D095EE285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8B98E4D-4090-4CC7-9045-046950355E56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85D5151-29A4-4CB4-A045-9F637401C9A8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6E6E22A7-EF76-4CC0-B8E4-4EB561235ED1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BADBB88C-6F0D-489F-9196-70DAAEBD32E3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A33A2C2-189D-4B97-A621-9D17102788CA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8DDDBE6-A36A-4B7F-BE7F-AF040721802B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EC80421-F154-4EB7-BAB9-B8AC9CBEFC83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3B3FE45-7674-409D-812E-F0930564FA98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38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38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1F0156B-8B8C-4EE1-A506-9984D200E04F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A91DC3-1E7A-4B25-8F56-B5B9998B32DD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824797-BBCB-46D5-B74F-32D725404A6B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3CE306-2D5A-4AB4-AC5D-5D21E1944430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9D7BD4-4153-4232-9FDF-0A95D9B5C8DE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BE1F83-3BEF-49AC-ABC8-8C6E80176E9C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852E88-0254-4B19-81B3-E8664451FBCF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1697D7-8013-4975-95E3-48F7F3F7499B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EA8A6C-E419-4A2D-A59F-0183255F70EA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8F0E97-51B7-4FFA-9BFC-ED098C10D8ED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C0AC26-B1DC-4AE7-A939-642DE9D4B085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38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38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BDB87F-1281-41B6-A636-95C78B523A08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43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9EB788-0AD9-4E98-A516-64653248E3DB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992E49-B35D-4BA4-A4A1-D07A03DA5610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18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F7D15B-E003-4EB9-A608-239C444D5E90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6BC68BE-B4B0-4564-B8AC-726B6F10D4A3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11560" y="274638"/>
            <a:ext cx="8075240" cy="63408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8717D7-C8B0-44C5-A62F-3567BF53D398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FA067D-AD37-4A18-A34B-F0E66789EA77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A0777A-41B7-4B1E-A08A-E8D847463375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1" y="273068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3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993CA9-BA81-47AA-823D-8B709A5D2C45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26ADD22-6B71-41C3-A3B2-EF9911ADB281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9F7AEA-34EA-4C76-9A47-D6871C043AB0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56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56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0654D6-15C0-494A-B753-0640DB25B203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611188" y="274656"/>
            <a:ext cx="8075612" cy="58515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3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502D48-BB1D-4132-8A0E-4D78DE52EF59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6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3.xml"/><Relationship Id="rId13" Type="http://schemas.openxmlformats.org/officeDocument/2006/relationships/theme" Target="../theme/theme7.xml"/><Relationship Id="rId3" Type="http://schemas.openxmlformats.org/officeDocument/2006/relationships/slideLayout" Target="../slideLayouts/slideLayout58.xml"/><Relationship Id="rId7" Type="http://schemas.openxmlformats.org/officeDocument/2006/relationships/slideLayout" Target="../slideLayouts/slideLayout62.xml"/><Relationship Id="rId12" Type="http://schemas.openxmlformats.org/officeDocument/2006/relationships/slideLayout" Target="../slideLayouts/slideLayout67.xml"/><Relationship Id="rId2" Type="http://schemas.openxmlformats.org/officeDocument/2006/relationships/slideLayout" Target="../slideLayouts/slideLayout57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1" Type="http://schemas.openxmlformats.org/officeDocument/2006/relationships/slideLayout" Target="../slideLayouts/slideLayout66.xml"/><Relationship Id="rId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65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Relationship Id="rId14" Type="http://schemas.openxmlformats.org/officeDocument/2006/relationships/image" Target="../media/image1.png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563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5688" y="6642100"/>
            <a:ext cx="468312" cy="2159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37" tIns="45718" rIns="91437" bIns="45718" numCol="1" anchor="t" anchorCtr="0" compatLnSpc="1"/>
          <a:lstStyle>
            <a:lvl1pPr algn="r">
              <a:defRPr sz="12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3F21431A-0C06-4923-9B61-C55D1AEC9577}" type="slidenum">
              <a:rPr lang="zh-TW" altLang="en-US"/>
              <a:t>‹#›</a:t>
            </a:fld>
            <a:endParaRPr lang="en-US" altLang="zh-TW"/>
          </a:p>
        </p:txBody>
      </p:sp>
      <p:sp>
        <p:nvSpPr>
          <p:cNvPr id="1090564" name="Text Box 4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 lIns="91437" tIns="45718" rIns="91437" bIns="45718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zh-TW" altLang="en-US" sz="1000">
                <a:solidFill>
                  <a:schemeClr val="bg2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</a:p>
        </p:txBody>
      </p:sp>
      <p:sp>
        <p:nvSpPr>
          <p:cNvPr id="1090565" name="Line 5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ea typeface="新細明體" panose="02020500000000000000" charset="-120"/>
            </a:endParaRPr>
          </a:p>
        </p:txBody>
      </p:sp>
      <p:sp>
        <p:nvSpPr>
          <p:cNvPr id="1090566" name="Line 6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ea typeface="新細明體" panose="02020500000000000000" charset="-120"/>
            </a:endParaRPr>
          </a:p>
        </p:txBody>
      </p:sp>
      <p:pic>
        <p:nvPicPr>
          <p:cNvPr id="1030" name="Picture 7" descr="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90568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9056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t" anchorCtr="0" compatLnSpc="1"/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0568" grpId="0"/>
      <p:bldP spid="1090569" grpId="0" build="p">
        <p:tmplLst>
          <p:tmpl lvl="1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563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5688" y="6642100"/>
            <a:ext cx="468312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7" tIns="45718" rIns="91437" bIns="45718" numCol="1" anchor="t" anchorCtr="0" compatLnSpc="1"/>
          <a:lstStyle>
            <a:lvl1pPr algn="r">
              <a:defRPr sz="1200"/>
            </a:lvl1pPr>
          </a:lstStyle>
          <a:p>
            <a:fld id="{32523EE1-814A-4436-A9F0-90FC08ED8A92}" type="slidenum">
              <a:rPr lang="zh-TW" altLang="en-US">
                <a:solidFill>
                  <a:srgbClr val="000000"/>
                </a:solidFill>
                <a:ea typeface="新細明體" panose="02020500000000000000" charset="-120"/>
              </a:rPr>
              <a:t>‹#›</a:t>
            </a:fld>
            <a:endParaRPr lang="en-US" altLang="zh-TW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sp>
        <p:nvSpPr>
          <p:cNvPr id="1090564" name="Text Box 4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37" tIns="45718" rIns="91437" bIns="45718">
            <a:spAutoFit/>
          </a:bodyPr>
          <a:lstStyle/>
          <a:p>
            <a:pPr>
              <a:spcBef>
                <a:spcPct val="50000"/>
              </a:spcBef>
            </a:pPr>
            <a:r>
              <a:rPr lang="zh-TW" altLang="en-US" sz="1000">
                <a:solidFill>
                  <a:srgbClr val="80808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</a:p>
        </p:txBody>
      </p:sp>
      <p:sp>
        <p:nvSpPr>
          <p:cNvPr id="1090565" name="Line 5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sp>
        <p:nvSpPr>
          <p:cNvPr id="1090566" name="Line 6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pic>
        <p:nvPicPr>
          <p:cNvPr id="1090567" name="Picture 7" descr="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0568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7" tIns="45718" rIns="91437" bIns="45718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9056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7" tIns="45718" rIns="91437" bIns="45718" numCol="1" anchor="t" anchorCtr="0" compatLnSpc="1"/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0568" grpId="0"/>
      <p:bldP spid="1090569" grpId="0" build="p">
        <p:tmplLst>
          <p:tmpl lvl="1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+mn-lt"/>
          <a:ea typeface="+mn-ea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+mn-lt"/>
          <a:ea typeface="+mn-ea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997FB-EFBE-4ED6-A43F-DDA1512FD57C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563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5688" y="6642100"/>
            <a:ext cx="468312" cy="2159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37" tIns="45718" rIns="91437" bIns="45718" numCol="1" anchor="t" anchorCtr="0" compatLnSpc="1"/>
          <a:lstStyle>
            <a:lvl1pPr algn="r">
              <a:defRPr sz="12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3F21431A-0C06-4923-9B61-C55D1AEC9577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sp>
        <p:nvSpPr>
          <p:cNvPr id="1090564" name="Text Box 4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 lIns="91437" tIns="45718" rIns="91437" bIns="45718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zh-TW" altLang="en-US" sz="1000">
                <a:solidFill>
                  <a:srgbClr val="80808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</a:p>
        </p:txBody>
      </p:sp>
      <p:sp>
        <p:nvSpPr>
          <p:cNvPr id="1090565" name="Line 5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sp>
        <p:nvSpPr>
          <p:cNvPr id="1090566" name="Line 6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pic>
        <p:nvPicPr>
          <p:cNvPr id="1030" name="Picture 7" descr="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90568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9056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t" anchorCtr="0" compatLnSpc="1"/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0568" grpId="0"/>
      <p:bldP spid="1090569" grpId="0" build="p">
        <p:tmplLst>
          <p:tmpl lvl="1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EFF09E-4EA0-4518-A9E8-449DE34F8B74}" type="datetimeFigureOut">
              <a:rPr lang="zh-TW" altLang="en-US" smtClean="0"/>
              <a:t>2025/12/18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spcBef>
                <a:spcPct val="0"/>
              </a:spcBef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0" y="6381750"/>
            <a:ext cx="468313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1" tIns="45710" rIns="91421" bIns="45710" numCol="1" anchor="t" anchorCtr="0" compatLnSpc="1"/>
          <a:lstStyle>
            <a:lvl1pPr algn="r">
              <a:spcBef>
                <a:spcPct val="0"/>
              </a:spcBef>
              <a:defRPr sz="1200">
                <a:latin typeface="Arial" panose="020B0604020202020204" pitchFamily="34" charset="0"/>
                <a:ea typeface="新細明體" panose="02020500000000000000" charset="-120"/>
              </a:defRPr>
            </a:lvl1pPr>
          </a:lstStyle>
          <a:p>
            <a:pPr>
              <a:defRPr/>
            </a:pPr>
            <a:fld id="{A9CD9766-93A3-4E76-9B20-A4D620225CC1}" type="slidenum">
              <a:rPr lang="en-US" altLang="zh-TW"/>
              <a:t>‹#›</a:t>
            </a:fld>
            <a:endParaRPr lang="en-US" altLang="zh-TW" dirty="0"/>
          </a:p>
        </p:txBody>
      </p:sp>
      <p:sp>
        <p:nvSpPr>
          <p:cNvPr id="1027" name="Text Box 21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21" tIns="45710" rIns="91421" bIns="45710">
            <a:spAutoFit/>
          </a:bodyPr>
          <a:lstStyle>
            <a:lvl1pPr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1pPr>
            <a:lvl2pPr marL="742950" indent="-28575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2pPr>
            <a:lvl3pPr marL="1143000" indent="-22860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3pPr>
            <a:lvl4pPr marL="1600200" indent="-22860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4pPr>
            <a:lvl5pPr marL="2057400" indent="-22860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5pPr>
            <a:lvl6pPr marL="25146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6pPr>
            <a:lvl7pPr marL="29718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7pPr>
            <a:lvl8pPr marL="34290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8pPr>
            <a:lvl9pPr marL="38862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9pPr>
          </a:lstStyle>
          <a:p>
            <a:pPr algn="l" eaLnBrk="1" hangingPunct="1">
              <a:defRPr/>
            </a:pPr>
            <a:r>
              <a:rPr lang="zh-TW" altLang="en-US" sz="1000">
                <a:solidFill>
                  <a:schemeClr val="bg2"/>
                </a:solidFill>
                <a:latin typeface="標楷體" panose="03000509000000000000" pitchFamily="65" charset="-120"/>
              </a:rPr>
              <a:t>誠信  承諾  創新  合作</a:t>
            </a: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/>
          </a:p>
        </p:txBody>
      </p:sp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1" tIns="45710" rIns="91421" bIns="45710" numCol="1" anchor="ctr" anchorCtr="0" compatLnSpc="1"/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1" tIns="45710" rIns="91421" bIns="4571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lang="zh-TW" altLang="en-US" sz="3000" b="1" smtClean="0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11188" y="188640"/>
            <a:ext cx="8075612" cy="719410"/>
          </a:xfrm>
        </p:spPr>
        <p:txBody>
          <a:bodyPr/>
          <a:lstStyle/>
          <a:p>
            <a:pPr marL="984250" indent="-984250"/>
            <a:r>
              <a:rPr lang="zh-TW" altLang="en-US" sz="2500" dirty="0"/>
              <a:t>交易策略：</a:t>
            </a:r>
            <a:r>
              <a:rPr lang="en-US" altLang="zh-TW" sz="2500" dirty="0"/>
              <a:t>USD SOFR IRS pay 6mth, rec 18mth</a:t>
            </a:r>
            <a:endParaRPr lang="zh-TW" altLang="en-US" sz="2500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34194" y="1412776"/>
            <a:ext cx="8075612" cy="3168352"/>
          </a:xfrm>
        </p:spPr>
        <p:txBody>
          <a:bodyPr/>
          <a:lstStyle/>
          <a:p>
            <a:endParaRPr lang="zh-TW" altLang="zh-TW" sz="2000" dirty="0">
              <a:effectLst/>
              <a:latin typeface="+mj-ea"/>
              <a:ea typeface="+mj-ea"/>
              <a:cs typeface="新細明體" panose="02020500000000000000" charset="-120"/>
            </a:endParaRPr>
          </a:p>
          <a:p>
            <a:pPr marL="0" indent="0">
              <a:buNone/>
            </a:pPr>
            <a:endParaRPr lang="en-US" altLang="zh-TW" sz="2000" dirty="0"/>
          </a:p>
          <a:p>
            <a:endParaRPr lang="zh-TW" altLang="en-US" sz="2000" dirty="0"/>
          </a:p>
        </p:txBody>
      </p:sp>
      <p:sp>
        <p:nvSpPr>
          <p:cNvPr id="49" name="文字方塊 48"/>
          <p:cNvSpPr txBox="1"/>
          <p:nvPr/>
        </p:nvSpPr>
        <p:spPr>
          <a:xfrm>
            <a:off x="226060" y="967135"/>
            <a:ext cx="8460740" cy="318801"/>
          </a:xfrm>
          <a:prstGeom prst="roundRect">
            <a:avLst/>
          </a:prstGeom>
          <a:solidFill>
            <a:srgbClr val="2E75B6"/>
          </a:solidFill>
        </p:spPr>
        <p:txBody>
          <a:bodyPr wrap="square" tIns="36000" bIns="3600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TW" alt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央行貨幣政策轉偏寬鬆</a:t>
            </a:r>
            <a:r>
              <a:rPr kumimoji="0" lang="en-US" altLang="zh-TW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  <a:r>
              <a:rPr kumimoji="0" lang="zh-TW" alt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台債籌碼面優勢，</a:t>
            </a: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預估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2025Q4-2026Q1</a:t>
            </a: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錢多券少</a:t>
            </a:r>
          </a:p>
        </p:txBody>
      </p:sp>
      <p:sp>
        <p:nvSpPr>
          <p:cNvPr id="12" name="內容版面配置區 2"/>
          <p:cNvSpPr>
            <a:spLocks noGrp="1"/>
          </p:cNvSpPr>
          <p:nvPr/>
        </p:nvSpPr>
        <p:spPr>
          <a:xfrm>
            <a:off x="166147" y="908050"/>
            <a:ext cx="8811706" cy="31686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21" tIns="45710" rIns="91421" bIns="45710" numCol="1" anchor="t" anchorCtr="0" compatLnSpc="1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4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0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9pPr>
          </a:lstStyle>
          <a:p>
            <a:endParaRPr lang="en-US" altLang="zh-TW" sz="2000" dirty="0">
              <a:latin typeface="+mj-ea"/>
              <a:ea typeface="+mj-ea"/>
            </a:endParaRPr>
          </a:p>
          <a:p>
            <a:r>
              <a:rPr lang="zh-TW" altLang="en-US" sz="2000" dirty="0">
                <a:latin typeface="+mj-ea"/>
                <a:ea typeface="+mj-ea"/>
              </a:rPr>
              <a:t>錢多</a:t>
            </a:r>
            <a:endParaRPr lang="en-US" altLang="zh-TW" sz="2000" dirty="0">
              <a:latin typeface="+mj-ea"/>
              <a:ea typeface="+mj-ea"/>
            </a:endParaRP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Q3</a:t>
            </a:r>
            <a:r>
              <a:rPr lang="zh-TW" altLang="en-US" sz="1600" dirty="0">
                <a:latin typeface="+mj-ea"/>
                <a:ea typeface="+mj-ea"/>
              </a:rPr>
              <a:t>央行理監事會議：貨幣政策基調是“適度的讓資金充裕”</a:t>
            </a:r>
            <a:endParaRPr lang="en-US" altLang="zh-TW" sz="1600" dirty="0">
              <a:latin typeface="+mj-ea"/>
              <a:ea typeface="+mj-ea"/>
            </a:endParaRPr>
          </a:p>
          <a:p>
            <a:pPr marL="457200" lvl="1" indent="0">
              <a:buNone/>
            </a:pPr>
            <a:r>
              <a:rPr lang="zh-TW" altLang="en-US" sz="1600" dirty="0">
                <a:latin typeface="+mj-ea"/>
                <a:ea typeface="+mj-ea"/>
              </a:rPr>
              <a:t>      透過公開市場操作，減發定存單釋出資金</a:t>
            </a:r>
            <a:endParaRPr lang="en-US" altLang="zh-TW" sz="1600" dirty="0">
              <a:latin typeface="+mj-ea"/>
              <a:ea typeface="+mj-ea"/>
            </a:endParaRPr>
          </a:p>
          <a:p>
            <a:r>
              <a:rPr lang="zh-TW" altLang="en-US" sz="2000" dirty="0">
                <a:latin typeface="+mj-ea"/>
                <a:ea typeface="+mj-ea"/>
              </a:rPr>
              <a:t>券少</a:t>
            </a:r>
            <a:endParaRPr lang="en-US" altLang="zh-TW" sz="2000" dirty="0">
              <a:latin typeface="+mj-ea"/>
              <a:ea typeface="+mj-ea"/>
            </a:endParaRP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6mth</a:t>
            </a:r>
            <a:r>
              <a:rPr lang="zh-TW" altLang="en-US" sz="1600" dirty="0">
                <a:latin typeface="+mj-ea"/>
                <a:ea typeface="+mj-ea"/>
              </a:rPr>
              <a:t>：</a:t>
            </a:r>
            <a:r>
              <a:rPr lang="en-US" altLang="zh-TW" sz="1600" dirty="0">
                <a:latin typeface="+mj-ea"/>
                <a:ea typeface="+mj-ea"/>
              </a:rPr>
              <a:t>3.61%</a:t>
            </a: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1.5yr</a:t>
            </a:r>
            <a:r>
              <a:rPr lang="zh-TW" altLang="en-US" sz="1600" dirty="0">
                <a:latin typeface="+mj-ea"/>
                <a:ea typeface="+mj-ea"/>
              </a:rPr>
              <a:t>：</a:t>
            </a:r>
            <a:r>
              <a:rPr lang="en-US" altLang="zh-TW" sz="1600" dirty="0">
                <a:latin typeface="+mj-ea"/>
                <a:ea typeface="+mj-ea"/>
              </a:rPr>
              <a:t>3.35%</a:t>
            </a: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zh-TW" sz="1600" dirty="0">
              <a:latin typeface="+mj-ea"/>
              <a:ea typeface="+mj-ea"/>
            </a:endParaRPr>
          </a:p>
          <a:p>
            <a:endParaRPr lang="en-US" altLang="zh-TW" sz="2000" dirty="0"/>
          </a:p>
          <a:p>
            <a:endParaRPr lang="zh-TW" altLang="en-US" sz="200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E3523A-8EE1-4A15-BA01-07D41F3C2D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89039"/>
            <a:ext cx="9144000" cy="3068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034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11188" y="188640"/>
            <a:ext cx="8075612" cy="719410"/>
          </a:xfrm>
        </p:spPr>
        <p:txBody>
          <a:bodyPr/>
          <a:lstStyle/>
          <a:p>
            <a:pPr marL="984250" indent="-984250"/>
            <a:r>
              <a:rPr lang="zh-TW" altLang="en-US" sz="2500" dirty="0"/>
              <a:t>預計未來半年錢多券少，台債操作上增持</a:t>
            </a:r>
            <a:r>
              <a:rPr lang="en-US" altLang="zh-TW" sz="2500" dirty="0"/>
              <a:t>20~30Y</a:t>
            </a:r>
            <a:r>
              <a:rPr lang="zh-TW" altLang="en-US" sz="2500" dirty="0"/>
              <a:t>長券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34194" y="1412776"/>
            <a:ext cx="8075612" cy="3168352"/>
          </a:xfrm>
        </p:spPr>
        <p:txBody>
          <a:bodyPr/>
          <a:lstStyle/>
          <a:p>
            <a:endParaRPr lang="zh-TW" altLang="zh-TW" sz="2000" dirty="0">
              <a:effectLst/>
              <a:latin typeface="+mj-ea"/>
              <a:ea typeface="+mj-ea"/>
              <a:cs typeface="新細明體" panose="02020500000000000000" charset="-120"/>
            </a:endParaRPr>
          </a:p>
          <a:p>
            <a:pPr marL="0" indent="0">
              <a:buNone/>
            </a:pPr>
            <a:endParaRPr lang="en-US" altLang="zh-TW" sz="2000" dirty="0"/>
          </a:p>
          <a:p>
            <a:endParaRPr lang="zh-TW" altLang="en-US" sz="2000" dirty="0"/>
          </a:p>
        </p:txBody>
      </p:sp>
      <p:sp>
        <p:nvSpPr>
          <p:cNvPr id="12" name="內容版面配置區 2"/>
          <p:cNvSpPr>
            <a:spLocks noGrp="1"/>
          </p:cNvSpPr>
          <p:nvPr/>
        </p:nvSpPr>
        <p:spPr>
          <a:xfrm>
            <a:off x="166147" y="1197422"/>
            <a:ext cx="8811706" cy="122346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21" tIns="45710" rIns="91421" bIns="45710" numCol="1" anchor="t" anchorCtr="0" compatLnSpc="1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4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0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9pPr>
          </a:lstStyle>
          <a:p>
            <a:r>
              <a:rPr lang="zh-TW" altLang="en-US" sz="2000" dirty="0">
                <a:latin typeface="+mj-ea"/>
                <a:ea typeface="+mj-ea"/>
              </a:rPr>
              <a:t>根據內外部環境，預估台灣央行無升息風險</a:t>
            </a:r>
            <a:endParaRPr lang="en-US" altLang="zh-TW" sz="2000" dirty="0">
              <a:latin typeface="+mj-ea"/>
              <a:ea typeface="+mj-ea"/>
            </a:endParaRPr>
          </a:p>
          <a:p>
            <a:pPr lvl="1"/>
            <a:r>
              <a:rPr lang="zh-TW" altLang="en-US" sz="1600" dirty="0">
                <a:latin typeface="+mj-ea"/>
                <a:ea typeface="+mj-ea"/>
              </a:rPr>
              <a:t>美國開啟新一輪降息：市場預期至</a:t>
            </a:r>
            <a:r>
              <a:rPr lang="en-US" altLang="zh-TW" sz="1600" dirty="0">
                <a:latin typeface="+mj-ea"/>
                <a:ea typeface="+mj-ea"/>
              </a:rPr>
              <a:t>2026</a:t>
            </a:r>
            <a:r>
              <a:rPr lang="zh-TW" altLang="en-US" sz="1600" dirty="0">
                <a:latin typeface="+mj-ea"/>
                <a:ea typeface="+mj-ea"/>
              </a:rPr>
              <a:t>年底再降</a:t>
            </a:r>
            <a:r>
              <a:rPr lang="en-US" altLang="zh-TW" sz="1600" dirty="0">
                <a:latin typeface="+mj-ea"/>
                <a:ea typeface="+mj-ea"/>
              </a:rPr>
              <a:t>4~5</a:t>
            </a:r>
            <a:r>
              <a:rPr lang="zh-TW" altLang="en-US" sz="1600" dirty="0">
                <a:latin typeface="+mj-ea"/>
                <a:ea typeface="+mj-ea"/>
              </a:rPr>
              <a:t>碼</a:t>
            </a:r>
            <a:endParaRPr lang="en-US" altLang="zh-TW" sz="2000" dirty="0">
              <a:latin typeface="+mj-ea"/>
              <a:ea typeface="+mj-ea"/>
            </a:endParaRPr>
          </a:p>
          <a:p>
            <a:pPr lvl="1"/>
            <a:r>
              <a:rPr lang="zh-TW" altLang="en-US" sz="1600" dirty="0">
                <a:latin typeface="+mj-ea"/>
                <a:ea typeface="+mj-ea"/>
              </a:rPr>
              <a:t>台灣明年</a:t>
            </a:r>
            <a:r>
              <a:rPr lang="en-US" altLang="zh-TW" sz="1600" dirty="0">
                <a:latin typeface="+mj-ea"/>
                <a:ea typeface="+mj-ea"/>
              </a:rPr>
              <a:t>GDP</a:t>
            </a:r>
            <a:r>
              <a:rPr lang="zh-TW" altLang="en-US" sz="1600" dirty="0">
                <a:latin typeface="+mj-ea"/>
                <a:ea typeface="+mj-ea"/>
              </a:rPr>
              <a:t>預估：</a:t>
            </a:r>
            <a:r>
              <a:rPr lang="en-US" altLang="zh-TW" sz="1600" dirty="0">
                <a:latin typeface="+mj-ea"/>
                <a:ea typeface="+mj-ea"/>
              </a:rPr>
              <a:t>+2.68%</a:t>
            </a:r>
          </a:p>
          <a:p>
            <a:pPr lvl="1"/>
            <a:r>
              <a:rPr lang="zh-TW" altLang="en-US" sz="1600" dirty="0">
                <a:latin typeface="+mj-ea"/>
                <a:ea typeface="+mj-ea"/>
              </a:rPr>
              <a:t>台灣明年</a:t>
            </a:r>
            <a:r>
              <a:rPr lang="en-US" altLang="zh-TW" sz="1600" dirty="0">
                <a:latin typeface="+mj-ea"/>
                <a:ea typeface="+mj-ea"/>
              </a:rPr>
              <a:t>CPI</a:t>
            </a:r>
            <a:r>
              <a:rPr lang="zh-TW" altLang="en-US" sz="1600" dirty="0">
                <a:latin typeface="+mj-ea"/>
                <a:ea typeface="+mj-ea"/>
              </a:rPr>
              <a:t>預估：</a:t>
            </a:r>
            <a:r>
              <a:rPr lang="en-US" altLang="zh-TW" sz="1600" dirty="0">
                <a:latin typeface="+mj-ea"/>
                <a:ea typeface="+mj-ea"/>
              </a:rPr>
              <a:t>+1.66%</a:t>
            </a: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11/11</a:t>
            </a:r>
            <a:r>
              <a:rPr lang="zh-TW" altLang="en-US" sz="1600" dirty="0">
                <a:latin typeface="+mj-ea"/>
                <a:ea typeface="+mj-ea"/>
              </a:rPr>
              <a:t> </a:t>
            </a:r>
            <a:r>
              <a:rPr lang="en-US" altLang="zh-TW" sz="1600" dirty="0">
                <a:latin typeface="+mj-ea"/>
                <a:ea typeface="+mj-ea"/>
              </a:rPr>
              <a:t>30</a:t>
            </a:r>
            <a:r>
              <a:rPr lang="zh-TW" altLang="en-US" sz="1600" dirty="0">
                <a:latin typeface="+mj-ea"/>
                <a:ea typeface="+mj-ea"/>
              </a:rPr>
              <a:t>年券標售前後增持</a:t>
            </a:r>
            <a:r>
              <a:rPr lang="en-US" altLang="zh-TW" sz="1600" dirty="0">
                <a:latin typeface="+mj-ea"/>
                <a:ea typeface="+mj-ea"/>
              </a:rPr>
              <a:t>20~30Y</a:t>
            </a:r>
            <a:r>
              <a:rPr lang="zh-TW" altLang="en-US" sz="1600" dirty="0">
                <a:latin typeface="+mj-ea"/>
                <a:ea typeface="+mj-ea"/>
              </a:rPr>
              <a:t>長券</a:t>
            </a:r>
            <a:endParaRPr lang="en-US" altLang="zh-TW" sz="1600" dirty="0">
              <a:latin typeface="+mj-ea"/>
              <a:ea typeface="+mj-ea"/>
            </a:endParaRPr>
          </a:p>
          <a:p>
            <a:pPr lvl="1"/>
            <a:r>
              <a:rPr lang="zh-TW" altLang="en-US" sz="1600" dirty="0">
                <a:latin typeface="+mj-ea"/>
                <a:ea typeface="+mj-ea"/>
              </a:rPr>
              <a:t>台債各年期利率：</a:t>
            </a:r>
            <a:r>
              <a:rPr lang="en-US" altLang="zh-TW" sz="1600" dirty="0">
                <a:latin typeface="+mj-ea"/>
                <a:ea typeface="+mj-ea"/>
              </a:rPr>
              <a:t>10y 1.249%; 20y 1.355%;</a:t>
            </a:r>
            <a:r>
              <a:rPr lang="zh-TW" altLang="en-US" sz="1600" dirty="0">
                <a:latin typeface="+mj-ea"/>
                <a:ea typeface="+mj-ea"/>
              </a:rPr>
              <a:t> </a:t>
            </a:r>
            <a:r>
              <a:rPr lang="en-US" altLang="zh-TW" sz="1600" dirty="0">
                <a:latin typeface="+mj-ea"/>
                <a:ea typeface="+mj-ea"/>
              </a:rPr>
              <a:t>30y</a:t>
            </a:r>
            <a:r>
              <a:rPr lang="zh-TW" altLang="en-US" sz="1600" dirty="0">
                <a:latin typeface="+mj-ea"/>
                <a:ea typeface="+mj-ea"/>
              </a:rPr>
              <a:t> </a:t>
            </a:r>
            <a:r>
              <a:rPr lang="en-US" altLang="zh-TW" sz="1600" dirty="0">
                <a:latin typeface="+mj-ea"/>
                <a:ea typeface="+mj-ea"/>
              </a:rPr>
              <a:t>1.47%</a:t>
            </a:r>
          </a:p>
          <a:p>
            <a:pPr lvl="1"/>
            <a:r>
              <a:rPr lang="zh-TW" altLang="en-US" sz="1600" dirty="0">
                <a:latin typeface="+mj-ea"/>
                <a:ea typeface="+mj-ea"/>
              </a:rPr>
              <a:t>證券商</a:t>
            </a:r>
            <a:r>
              <a:rPr lang="en-US" altLang="zh-TW" sz="1600" dirty="0">
                <a:latin typeface="+mj-ea"/>
                <a:ea typeface="+mj-ea"/>
              </a:rPr>
              <a:t>RP</a:t>
            </a:r>
            <a:r>
              <a:rPr lang="zh-TW" altLang="en-US" sz="1600" dirty="0">
                <a:latin typeface="+mj-ea"/>
                <a:ea typeface="+mj-ea"/>
              </a:rPr>
              <a:t>利率：</a:t>
            </a:r>
            <a:r>
              <a:rPr lang="en-US" altLang="zh-TW" sz="1600" dirty="0">
                <a:latin typeface="+mj-ea"/>
                <a:ea typeface="+mj-ea"/>
              </a:rPr>
              <a:t>1.05%~1.20%</a:t>
            </a:r>
          </a:p>
          <a:p>
            <a:pPr marL="0" indent="0">
              <a:buNone/>
            </a:pPr>
            <a:endParaRPr lang="en-US" altLang="zh-TW" sz="1600" dirty="0">
              <a:latin typeface="+mj-ea"/>
              <a:ea typeface="+mj-ea"/>
            </a:endParaRPr>
          </a:p>
          <a:p>
            <a:endParaRPr lang="en-US" altLang="zh-TW" sz="2000" dirty="0"/>
          </a:p>
          <a:p>
            <a:endParaRPr lang="zh-TW" altLang="en-US" sz="2000" dirty="0"/>
          </a:p>
        </p:txBody>
      </p:sp>
      <p:graphicFrame>
        <p:nvGraphicFramePr>
          <p:cNvPr id="9" name="圖表 8">
            <a:extLst>
              <a:ext uri="{FF2B5EF4-FFF2-40B4-BE49-F238E27FC236}">
                <a16:creationId xmlns:a16="http://schemas.microsoft.com/office/drawing/2014/main" id="{09727376-029C-4B3F-997B-BC273A92D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3195418"/>
              </p:ext>
            </p:extLst>
          </p:nvPr>
        </p:nvGraphicFramePr>
        <p:xfrm>
          <a:off x="1187624" y="3717032"/>
          <a:ext cx="6408712" cy="252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24264CFB-E36F-405E-BB26-28DFD460B736}"/>
              </a:ext>
            </a:extLst>
          </p:cNvPr>
          <p:cNvSpPr>
            <a:spLocks noGrp="1"/>
          </p:cNvSpPr>
          <p:nvPr/>
        </p:nvSpPr>
        <p:spPr>
          <a:xfrm>
            <a:off x="243141" y="2564234"/>
            <a:ext cx="8811706" cy="122346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21" tIns="45710" rIns="91421" bIns="45710" numCol="1" anchor="t" anchorCtr="0" compatLnSpc="1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4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0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9pPr>
          </a:lstStyle>
          <a:p>
            <a:endParaRPr lang="en-US" altLang="zh-TW" sz="2000" dirty="0">
              <a:latin typeface="+mj-ea"/>
              <a:ea typeface="+mj-ea"/>
            </a:endParaRP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zh-TW" sz="1600" dirty="0">
              <a:latin typeface="+mj-ea"/>
              <a:ea typeface="+mj-ea"/>
            </a:endParaRPr>
          </a:p>
          <a:p>
            <a:endParaRPr lang="en-US" altLang="zh-TW" sz="2000" dirty="0"/>
          </a:p>
          <a:p>
            <a:endParaRPr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842179200"/>
      </p:ext>
    </p:extLst>
  </p:cSld>
  <p:clrMapOvr>
    <a:masterClrMapping/>
  </p:clrMapOvr>
</p:sld>
</file>

<file path=ppt/theme/theme1.xml><?xml version="1.0" encoding="utf-8"?>
<a:theme xmlns:a="http://schemas.openxmlformats.org/drawingml/2006/main" name="3_自訂設計">
  <a:themeElements>
    <a:clrScheme name="3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3_自訂設計">
      <a:majorFont>
        <a:latin typeface="標楷體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4_自訂設計">
  <a:themeElements>
    <a:clrScheme name="3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3_自訂設計">
      <a:majorFont>
        <a:latin typeface="標楷體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6_自訂設計">
  <a:themeElements>
    <a:clrScheme name="3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3_自訂設計">
      <a:majorFont>
        <a:latin typeface="標楷體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7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5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公正">
      <a:majorFont>
        <a:latin typeface="Franklin Gothic Book"/>
        <a:ea typeface=""/>
        <a:cs typeface=""/>
        <a:font script="Grek" typeface="Calibri"/>
        <a:font script="Cyrl" typeface="Calibri"/>
        <a:font script="Jpan" typeface="HGｺﾞｼｯｸM"/>
        <a:font script="Hang" typeface="바탕"/>
        <a:font script="Hans" typeface="幼圆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erpetua"/>
        <a:ea typeface=""/>
        <a:cs typeface=""/>
        <a:font script="Grek" typeface="Cambria"/>
        <a:font script="Cyrl" typeface="Cambria"/>
        <a:font script="Jpan" typeface="HG創英ﾌﾟﾚｾﾞﾝｽEB"/>
        <a:font script="Hang" typeface="맑은 고딕"/>
        <a:font script="Hans" typeface="宋体"/>
        <a:font script="Hant" typeface="新細明體"/>
        <a:font script="Arab" typeface="Times New Roman"/>
        <a:font script="Hebr" typeface="Aharoni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non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defRPr kumimoji="1" lang="zh-TW" alt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標楷體" panose="03000509000000000000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non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defRPr kumimoji="1" lang="zh-TW" alt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標楷體" panose="03000509000000000000" pitchFamily="65" charset="-120"/>
          </a:defRPr>
        </a:defPPr>
      </a:lstStyle>
    </a:lnDef>
    <a:txDef>
      <a:spPr bwMode="auto">
        <a:noFill/>
        <a:ln>
          <a:noFill/>
        </a:ln>
      </a:spPr>
      <a:bodyPr>
        <a:spAutoFit/>
      </a:bodyPr>
      <a:lstStyle>
        <a:defPPr algn="l" eaLnBrk="1" hangingPunct="1">
          <a:defRPr sz="1600" dirty="0"/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8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9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10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11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1694</TotalTime>
  <Words>178</Words>
  <Application>Microsoft Office PowerPoint</Application>
  <PresentationFormat>如螢幕大小 (4:3)</PresentationFormat>
  <Paragraphs>30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11</vt:i4>
      </vt:variant>
      <vt:variant>
        <vt:lpstr>投影片標題</vt:lpstr>
      </vt:variant>
      <vt:variant>
        <vt:i4>2</vt:i4>
      </vt:variant>
    </vt:vector>
  </HeadingPairs>
  <TitlesOfParts>
    <vt:vector size="18" baseType="lpstr">
      <vt:lpstr>微軟正黑體</vt:lpstr>
      <vt:lpstr>標楷體</vt:lpstr>
      <vt:lpstr>Arial</vt:lpstr>
      <vt:lpstr>Calibri</vt:lpstr>
      <vt:lpstr>Wingdings</vt:lpstr>
      <vt:lpstr>3_自訂設計</vt:lpstr>
      <vt:lpstr>4_自訂設計</vt:lpstr>
      <vt:lpstr>自訂設計</vt:lpstr>
      <vt:lpstr>6_自訂設計</vt:lpstr>
      <vt:lpstr>1_自訂設計</vt:lpstr>
      <vt:lpstr>7_自訂設計</vt:lpstr>
      <vt:lpstr>5_自訂設計</vt:lpstr>
      <vt:lpstr>8_自訂設計</vt:lpstr>
      <vt:lpstr>9_自訂設計</vt:lpstr>
      <vt:lpstr>10_自訂設計</vt:lpstr>
      <vt:lpstr>11_自訂設計</vt:lpstr>
      <vt:lpstr>交易策略：USD SOFR IRS pay 6mth, rec 18mth</vt:lpstr>
      <vt:lpstr>預計未來半年錢多券少，台債操作上增持20~30Y長券</vt:lpstr>
    </vt:vector>
  </TitlesOfParts>
  <Company>tsb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870705</dc:creator>
  <cp:lastModifiedBy>王信閎</cp:lastModifiedBy>
  <cp:revision>6100</cp:revision>
  <cp:lastPrinted>2025-07-21T05:27:00Z</cp:lastPrinted>
  <dcterms:created xsi:type="dcterms:W3CDTF">2004-04-09T03:27:00Z</dcterms:created>
  <dcterms:modified xsi:type="dcterms:W3CDTF">2025-12-18T09:22:52Z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1028-10.8.0.6003</vt:lpwstr>
  </property>
</Properties>
</file>