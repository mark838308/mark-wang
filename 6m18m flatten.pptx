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  <p:sldMasterId id="2147483672" r:id="rId4"/>
    <p:sldMasterId id="2147483684" r:id="rId5"/>
    <p:sldMasterId id="2147483696" r:id="rId6"/>
    <p:sldMasterId id="2147483708" r:id="rId7"/>
    <p:sldMasterId id="2147483709" r:id="rId8"/>
    <p:sldMasterId id="2147483722" r:id="rId9"/>
    <p:sldMasterId id="2147483723" r:id="rId10"/>
    <p:sldMasterId id="2147483724" r:id="rId11"/>
    <p:sldMasterId id="2147483725" r:id="rId12"/>
  </p:sldMasterIdLst>
  <p:notesMasterIdLst>
    <p:notesMasterId r:id="rId14"/>
  </p:notesMasterIdLst>
  <p:handoutMasterIdLst>
    <p:handoutMasterId r:id="rId15"/>
  </p:handoutMasterIdLst>
  <p:sldIdLst>
    <p:sldId id="3949" r:id="rId13"/>
  </p:sldIdLst>
  <p:sldSz cx="9144000" cy="6858000" type="screen4x3"/>
  <p:notesSz cx="6797675" cy="9926320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42AA3BAE-0B5A-4CF3-9EE5-B8ACC2ADE216}">
          <p14:sldIdLst>
            <p14:sldId id="3949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陳柏龍" initials="陳柏龍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11111"/>
    <a:srgbClr val="CC00CC"/>
    <a:srgbClr val="0000FF"/>
    <a:srgbClr val="FF3300"/>
    <a:srgbClr val="00FF00"/>
    <a:srgbClr val="3333FF"/>
    <a:srgbClr val="800000"/>
    <a:srgbClr val="4D4D4D"/>
    <a:srgbClr val="4747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52" autoAdjust="0"/>
    <p:restoredTop sz="96000" autoAdjust="0"/>
  </p:normalViewPr>
  <p:slideViewPr>
    <p:cSldViewPr>
      <p:cViewPr varScale="1">
        <p:scale>
          <a:sx n="109" d="100"/>
          <a:sy n="109" d="100"/>
        </p:scale>
        <p:origin x="1080" y="96"/>
      </p:cViewPr>
      <p:guideLst>
        <p:guide orient="horz" pos="214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-67" y="-158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commentAuthors" Target="commentAuthors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70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70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EA90D26C-E35A-450B-90C7-84C2B9602168}" type="slidenum">
              <a:rPr lang="en-US" altLang="zh-TW"/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645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084" y="4714708"/>
            <a:ext cx="5437507" cy="44661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/>
          <a:p>
            <a:pPr lvl="0"/>
            <a:r>
              <a:rPr lang="zh-TW" altLang="en-US" noProof="0"/>
              <a:t>按一下以編輯母片</a:t>
            </a:r>
            <a:endParaRPr lang="zh-TW" altLang="en-US" noProof="0"/>
          </a:p>
          <a:p>
            <a:pPr lvl="1"/>
            <a:r>
              <a:rPr lang="zh-TW" altLang="en-US" noProof="0"/>
              <a:t>第二層</a:t>
            </a:r>
            <a:endParaRPr lang="zh-TW" altLang="en-US" noProof="0"/>
          </a:p>
          <a:p>
            <a:pPr lvl="2"/>
            <a:r>
              <a:rPr lang="zh-TW" altLang="en-US" noProof="0"/>
              <a:t>第三層</a:t>
            </a:r>
            <a:endParaRPr lang="zh-TW" altLang="en-US" noProof="0"/>
          </a:p>
          <a:p>
            <a:pPr lvl="3"/>
            <a:r>
              <a:rPr lang="zh-TW" altLang="en-US" noProof="0"/>
              <a:t>第四層</a:t>
            </a:r>
            <a:endParaRPr lang="zh-TW" altLang="en-US" noProof="0"/>
          </a:p>
          <a:p>
            <a:pPr lvl="4"/>
            <a:r>
              <a:rPr lang="zh-TW" altLang="en-US" noProof="0"/>
              <a:t>第五層</a:t>
            </a:r>
            <a:endParaRPr lang="zh-TW" altLang="en-US" noProof="0"/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645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60372AD-F29F-4D0F-B513-7219CBDC5F6C}" type="slidenum">
              <a:rPr lang="en-US" altLang="zh-TW"/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795C5F3-99EF-4E92-8313-B7FF534E2851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79C1600-8D42-4597-8CA4-003D095EE285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8B98E4D-4090-4CC7-9045-046950355E56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zh-TW" altLang="en-US" dirty="0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5D5151-29A4-4CB4-A045-9F637401C9A8}" type="slidenum">
              <a:rPr lang="zh-TW" altLang="en-US">
                <a:solidFill>
                  <a:srgbClr val="000000"/>
                </a:solidFill>
              </a:rPr>
            </a:fld>
            <a:endParaRPr lang="en-US" altLang="zh-TW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E6E22A7-EF76-4CC0-B8E4-4EB561235ED1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ADBB88C-6F0D-489F-9196-70DAAEBD32E3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A33A2C2-189D-4B97-A621-9D17102788CA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DDDBE6-A36A-4B7F-BE7F-AF040721802B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EC80421-F154-4EB7-BAB9-B8AC9CBEFC83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3B3FE45-7674-409D-812E-F0930564FA98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1F0156B-8B8C-4EE1-A506-9984D200E04F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43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9EB788-0AD9-4E98-A516-64653248E3DB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zh-TW" altLang="en-US" dirty="0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92E49-B35D-4BA4-A4A1-D07A03DA5610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18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F7D15B-E003-4EB9-A608-239C444D5E90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BC68BE-B4B0-4564-B8AC-726B6F10D4A3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274638"/>
            <a:ext cx="8075240" cy="6340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8717D7-C8B0-44C5-A62F-3567BF53D398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A067D-AD37-4A18-A34B-F0E66789EA77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A0777A-41B7-4B1E-A08A-E8D847463375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1" y="273068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993CA9-BA81-47AA-823D-8B709A5D2C45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6ADD22-6B71-41C3-A3B2-EF9911ADB281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9F7AEA-34EA-4C76-9A47-D6871C043AB0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56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56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0654D6-15C0-494A-B753-0640DB25B203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11188" y="274656"/>
            <a:ext cx="8075612" cy="5851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502D48-BB1D-4132-8A0E-4D78DE52EF59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0.xml"/><Relationship Id="rId6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3" Type="http://schemas.openxmlformats.org/officeDocument/2006/relationships/theme" Target="../theme/theme4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34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6.xml"/><Relationship Id="rId12" Type="http://schemas.openxmlformats.org/officeDocument/2006/relationships/theme" Target="../theme/theme5.xml"/><Relationship Id="rId11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4.xml"/><Relationship Id="rId8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1.xml"/><Relationship Id="rId5" Type="http://schemas.openxmlformats.org/officeDocument/2006/relationships/slideLayout" Target="../slideLayouts/slideLayout60.xml"/><Relationship Id="rId4" Type="http://schemas.openxmlformats.org/officeDocument/2006/relationships/slideLayout" Target="../slideLayouts/slideLayout59.xml"/><Relationship Id="rId3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7.xml"/><Relationship Id="rId14" Type="http://schemas.openxmlformats.org/officeDocument/2006/relationships/theme" Target="../theme/theme7.xml"/><Relationship Id="rId13" Type="http://schemas.openxmlformats.org/officeDocument/2006/relationships/image" Target="../media/image1.png"/><Relationship Id="rId12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65.xml"/><Relationship Id="rId1" Type="http://schemas.openxmlformats.org/officeDocument/2006/relationships/slideLayout" Target="../slideLayouts/slideLayout56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/>
            </a:fld>
            <a:endParaRPr lang="en-US" altLang="zh-TW"/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  <a:endParaRPr lang="zh-TW" altLang="en-US" sz="1000">
              <a:solidFill>
                <a:schemeClr val="bg2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2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/>
            </a:lvl1pPr>
          </a:lstStyle>
          <a:p>
            <a:fld id="{32523EE1-814A-4436-A9F0-90FC08ED8A92}" type="slidenum">
              <a:rPr lang="zh-TW" altLang="en-US">
                <a:solidFill>
                  <a:srgbClr val="000000"/>
                </a:solidFill>
                <a:ea typeface="新細明體" panose="02020500000000000000" charset="-120"/>
              </a:rPr>
            </a:fld>
            <a:endParaRPr lang="en-US" altLang="zh-TW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  <a:endParaRPr lang="zh-TW" altLang="en-US" sz="1000">
              <a:solidFill>
                <a:srgbClr val="80808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90567" name="Picture 7" descr="3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  <a:endParaRPr lang="zh-TW" altLang="en-US" sz="1000">
              <a:solidFill>
                <a:srgbClr val="80808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2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spcBef>
                <a:spcPct val="0"/>
              </a:spcBef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81750"/>
            <a:ext cx="468313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>
            <a:lvl1pPr algn="r">
              <a:spcBef>
                <a:spcPct val="0"/>
              </a:spcBef>
              <a:defRPr sz="1200">
                <a:latin typeface="Arial" panose="020B0604020202020204" pitchFamily="3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A9CD9766-93A3-4E76-9B20-A4D620225CC1}" type="slidenum">
              <a:rPr lang="en-US" altLang="zh-TW"/>
            </a:fld>
            <a:endParaRPr lang="en-US" altLang="zh-TW" dirty="0"/>
          </a:p>
        </p:txBody>
      </p:sp>
      <p:sp>
        <p:nvSpPr>
          <p:cNvPr id="1027" name="Text Box 21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1" tIns="45710" rIns="91421" bIns="45710">
            <a:spAutoFit/>
          </a:bodyPr>
          <a:lstStyle>
            <a:lvl1pPr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1pPr>
            <a:lvl2pPr marL="742950" indent="-28575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2pPr>
            <a:lvl3pPr marL="11430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3pPr>
            <a:lvl4pPr marL="16002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4pPr>
            <a:lvl5pPr marL="20574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5pPr>
            <a:lvl6pPr marL="25146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6pPr>
            <a:lvl7pPr marL="29718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7pPr>
            <a:lvl8pPr marL="34290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8pPr>
            <a:lvl9pPr marL="38862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9pPr>
          </a:lstStyle>
          <a:p>
            <a:pPr algn="l" eaLnBrk="1" hangingPunct="1"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</a:rPr>
              <a:t>誠信  承諾  創新  合作</a:t>
            </a:r>
            <a:endParaRPr lang="zh-TW" altLang="en-US" sz="1000">
              <a:solidFill>
                <a:schemeClr val="bg2"/>
              </a:solidFill>
              <a:latin typeface="標楷體" panose="03000509000000000000" pitchFamily="65" charset="-120"/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ctr" anchorCtr="0" compatLnSpc="1"/>
          <a:lstStyle/>
          <a:p>
            <a:pPr lvl="0"/>
            <a:r>
              <a:rPr lang="zh-TW" altLang="en-US" dirty="0"/>
              <a:t>按一下以編輯母片標題樣式</a:t>
            </a:r>
            <a:endParaRPr lang="zh-TW" altLang="en-US" dirty="0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lang="zh-TW" altLang="en-US" sz="3000" b="1" smtClean="0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7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交易策略：</a:t>
            </a:r>
            <a:r>
              <a:rPr lang="en-US" altLang="zh-TW" sz="2500" dirty="0"/>
              <a:t>USD SOFR IRS 6M/18M Flatten</a:t>
            </a:r>
            <a:endParaRPr lang="zh-TW" altLang="en-US" sz="25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194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9" name="文字方塊 48"/>
          <p:cNvSpPr txBox="1"/>
          <p:nvPr/>
        </p:nvSpPr>
        <p:spPr>
          <a:xfrm>
            <a:off x="226060" y="967135"/>
            <a:ext cx="8460740" cy="332851"/>
          </a:xfrm>
          <a:prstGeom prst="roundRect">
            <a:avLst/>
          </a:prstGeom>
          <a:solidFill>
            <a:srgbClr val="2E75B6"/>
          </a:solidFill>
        </p:spPr>
        <p:txBody>
          <a:bodyPr wrap="square" tIns="36000" bIns="3600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Powell 時代 (2026/01-05) </a:t>
            </a:r>
            <a:r>
              <a:rPr kumimoji="0"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新主席時代 (2026/06-)</a:t>
            </a:r>
            <a:endParaRPr kumimoji="0" lang="en-US" sz="14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147" y="908050"/>
            <a:ext cx="8811706" cy="316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endParaRPr lang="en-US" altLang="zh-TW" sz="2000" dirty="0">
              <a:latin typeface="+mj-ea"/>
              <a:ea typeface="+mj-ea"/>
            </a:endParaRPr>
          </a:p>
          <a:p>
            <a:r>
              <a:rPr lang="en-US" altLang="zh-TW" sz="2000" dirty="0">
                <a:latin typeface="+mj-ea"/>
                <a:ea typeface="+mj-ea"/>
              </a:rPr>
              <a:t>pay 6mth IRS</a:t>
            </a:r>
            <a:r>
              <a:rPr lang="zh-TW" altLang="en-US" sz="2000" dirty="0">
                <a:latin typeface="+mj-ea"/>
                <a:ea typeface="+mj-ea"/>
              </a:rPr>
              <a:t>：近期</a:t>
            </a:r>
            <a:r>
              <a:rPr lang="en-US" altLang="zh-TW" sz="2000" dirty="0">
                <a:latin typeface="+mj-ea"/>
                <a:ea typeface="+mj-ea"/>
              </a:rPr>
              <a:t>Fed</a:t>
            </a:r>
            <a:r>
              <a:rPr lang="zh-TW" altLang="en-US" sz="2000" dirty="0">
                <a:latin typeface="+mj-ea"/>
                <a:ea typeface="+mj-ea"/>
              </a:rPr>
              <a:t>分歧加大、態度</a:t>
            </a:r>
            <a:r>
              <a:rPr lang="zh-TW" altLang="en-US" sz="2000" dirty="0">
                <a:latin typeface="+mj-ea"/>
                <a:ea typeface="+mj-ea"/>
              </a:rPr>
              <a:t>謹慎</a:t>
            </a:r>
            <a:endParaRPr lang="zh-TW" altLang="en-US" sz="2000" dirty="0">
              <a:latin typeface="+mj-ea"/>
              <a:ea typeface="+mj-ea"/>
            </a:endParaRPr>
          </a:p>
          <a:p>
            <a:r>
              <a:rPr lang="en-US" altLang="zh-TW" sz="2000" dirty="0">
                <a:latin typeface="+mj-ea"/>
                <a:ea typeface="+mj-ea"/>
              </a:rPr>
              <a:t>rec 18mth IRS</a:t>
            </a:r>
            <a:r>
              <a:rPr lang="zh-TW" altLang="en-US" sz="2000" dirty="0">
                <a:latin typeface="+mj-ea"/>
                <a:ea typeface="+mj-ea"/>
              </a:rPr>
              <a:t>：</a:t>
            </a:r>
            <a:r>
              <a:rPr lang="en-US" altLang="zh-TW" sz="2000" dirty="0">
                <a:latin typeface="+mj-ea"/>
                <a:ea typeface="+mj-ea"/>
              </a:rPr>
              <a:t>2026/06</a:t>
            </a:r>
            <a:r>
              <a:rPr lang="zh-TW" altLang="en-US" sz="2000" dirty="0">
                <a:latin typeface="+mj-ea"/>
                <a:ea typeface="+mj-ea"/>
              </a:rPr>
              <a:t>後中性</a:t>
            </a:r>
            <a:r>
              <a:rPr lang="zh-TW" altLang="en-US" sz="2000" dirty="0">
                <a:latin typeface="+mj-ea"/>
                <a:ea typeface="+mj-ea"/>
              </a:rPr>
              <a:t>偏鴿</a:t>
            </a:r>
            <a:endParaRPr lang="zh-TW" altLang="en-US" sz="2000" dirty="0">
              <a:latin typeface="+mj-ea"/>
              <a:ea typeface="+mj-ea"/>
            </a:endParaRPr>
          </a:p>
          <a:p>
            <a:r>
              <a:rPr lang="en-US" altLang="zh-TW" sz="2000" dirty="0">
                <a:latin typeface="+mj-ea"/>
                <a:ea typeface="+mj-ea"/>
              </a:rPr>
              <a:t>USD SOFR IRS Curve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6mth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3.58%</a:t>
            </a:r>
            <a:endParaRPr lang="en-US" altLang="zh-TW" sz="16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18mth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3.32%</a:t>
            </a:r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080" y="3213100"/>
            <a:ext cx="5337810" cy="3644900"/>
          </a:xfrm>
          <a:prstGeom prst="rect">
            <a:avLst/>
          </a:prstGeom>
        </p:spPr>
      </p:pic>
      <p:grpSp>
        <p:nvGrpSpPr>
          <p:cNvPr id="13" name="群組 12"/>
          <p:cNvGrpSpPr/>
          <p:nvPr/>
        </p:nvGrpSpPr>
        <p:grpSpPr>
          <a:xfrm>
            <a:off x="13335" y="3213100"/>
            <a:ext cx="3750310" cy="3644900"/>
            <a:chOff x="818059" y="2420888"/>
            <a:chExt cx="6991350" cy="3657947"/>
          </a:xfrm>
        </p:grpSpPr>
        <p:pic>
          <p:nvPicPr>
            <p:cNvPr id="5" name="圖片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584" y="2420888"/>
              <a:ext cx="6981825" cy="3095625"/>
            </a:xfrm>
            <a:prstGeom prst="rect">
              <a:avLst/>
            </a:prstGeom>
          </p:spPr>
        </p:pic>
        <p:pic>
          <p:nvPicPr>
            <p:cNvPr id="7" name="圖片 6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8059" y="5507335"/>
              <a:ext cx="6991350" cy="571500"/>
            </a:xfrm>
            <a:prstGeom prst="rect">
              <a:avLst/>
            </a:prstGeom>
          </p:spPr>
        </p:pic>
      </p:grpSp>
      <p:cxnSp>
        <p:nvCxnSpPr>
          <p:cNvPr id="21" name="直線接點 20"/>
          <p:cNvCxnSpPr/>
          <p:nvPr/>
        </p:nvCxnSpPr>
        <p:spPr bwMode="auto">
          <a:xfrm>
            <a:off x="18415" y="4306570"/>
            <a:ext cx="373697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3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4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7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公正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lnDef>
    <a:txDef>
      <a:spPr bwMode="auto">
        <a:noFill/>
        <a:ln>
          <a:noFill/>
        </a:ln>
      </a:spPr>
      <a:bodyPr>
        <a:spAutoFit/>
      </a:bodyPr>
      <a:lstStyle>
        <a:defPPr algn="l" eaLnBrk="1" hangingPunct="1">
          <a:defRPr sz="1600" dirty="0"/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8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10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</Words>
  <Application>WPS Presentation</Application>
  <PresentationFormat>如螢幕大小 (4:3)</PresentationFormat>
  <Paragraphs>18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11</vt:i4>
      </vt:variant>
      <vt:variant>
        <vt:lpstr>幻灯片标题</vt:lpstr>
      </vt:variant>
      <vt:variant>
        <vt:i4>1</vt:i4>
      </vt:variant>
    </vt:vector>
  </HeadingPairs>
  <TitlesOfParts>
    <vt:vector size="23" baseType="lpstr">
      <vt:lpstr>Arial</vt:lpstr>
      <vt:lpstr>新細明體</vt:lpstr>
      <vt:lpstr>Wingdings</vt:lpstr>
      <vt:lpstr>新細明體</vt:lpstr>
      <vt:lpstr>標楷體</vt:lpstr>
      <vt:lpstr>微軟正黑體</vt:lpstr>
      <vt:lpstr>Microsoft YaHei</vt:lpstr>
      <vt:lpstr>SimSun</vt:lpstr>
      <vt:lpstr>Arial Unicode MS</vt:lpstr>
      <vt:lpstr>Calibri</vt:lpstr>
      <vt:lpstr>Perpetua</vt:lpstr>
      <vt:lpstr>3_自訂設計</vt:lpstr>
      <vt:lpstr>4_自訂設計</vt:lpstr>
      <vt:lpstr>自訂設計</vt:lpstr>
      <vt:lpstr>6_自訂設計</vt:lpstr>
      <vt:lpstr>1_自訂設計</vt:lpstr>
      <vt:lpstr>7_自訂設計</vt:lpstr>
      <vt:lpstr>5_自訂設計</vt:lpstr>
      <vt:lpstr>8_自訂設計</vt:lpstr>
      <vt:lpstr>9_自訂設計</vt:lpstr>
      <vt:lpstr>10_自訂設計</vt:lpstr>
      <vt:lpstr>11_自訂設計</vt:lpstr>
      <vt:lpstr>交易策略：USD IRS pay 6mth, rec 18mth</vt:lpstr>
    </vt:vector>
  </TitlesOfParts>
  <Company>tsb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870705</dc:creator>
  <cp:lastModifiedBy>user</cp:lastModifiedBy>
  <cp:revision>6119</cp:revision>
  <cp:lastPrinted>2025-07-21T05:27:00Z</cp:lastPrinted>
  <dcterms:created xsi:type="dcterms:W3CDTF">2004-04-09T03:27:00Z</dcterms:created>
  <dcterms:modified xsi:type="dcterms:W3CDTF">2025-12-21T18:31:10Z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1028-10.8.0.6003</vt:lpwstr>
  </property>
</Properties>
</file>